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93" r:id="rId4"/>
    <p:sldId id="258" r:id="rId5"/>
    <p:sldId id="259" r:id="rId6"/>
    <p:sldId id="261" r:id="rId7"/>
    <p:sldId id="262" r:id="rId8"/>
    <p:sldId id="263" r:id="rId9"/>
    <p:sldId id="265" r:id="rId10"/>
    <p:sldId id="297" r:id="rId45"/>
    <p:sldId id="296" r:id="rId44"/>
    <p:sldId id="295" r:id="rId43"/>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4"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___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___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面積F</c:v>
                </c:pt>
              </c:strCache>
            </c:strRef>
          </c:tx>
          <c:spPr>
            <a:solidFill>
              <a:srgbClr val="5B7B8C"/>
            </a:solidFill>
          </c:spPr>
          <c:invertIfNegative val="1"/>
          <c:dLbls>
            <c:numFmt formatCode="0.000" sourceLinked="0"/>
            <c:spPr>
              <a:noFill/>
              <a:ln>
                <a:noFill/>
              </a:ln>
              <a:effectLst/>
            </c:spPr>
            <c:txPr>
              <a:bodyPr/>
              <a:lstStyle/>
              <a:p>
                <a:pPr>
                  <a:defRPr sz="900" b="1">
                    <a:latin typeface="Meiryo"/>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Early
融合</c:v>
                </c:pt>
                <c:pt idx="1">
                  <c:v>Middle
融合</c:v>
                </c:pt>
                <c:pt idx="2">
                  <c:v>Final
融合</c:v>
                </c:pt>
                <c:pt idx="3">
                  <c:v>Attention</c:v>
                </c:pt>
                <c:pt idx="4">
                  <c:v>TransUNet</c:v>
                </c:pt>
                <c:pt idx="5">
                  <c:v>拡張あり
Final</c:v>
                </c:pt>
              </c:strCache>
            </c:strRef>
          </c:cat>
          <c:val>
            <c:numRef>
              <c:f>Sheet1!$B$2:$B$7</c:f>
              <c:numCache>
                <c:formatCode>General</c:formatCode>
                <c:ptCount val="6"/>
                <c:pt idx="0">
                  <c:v>0.63629999999999998</c:v>
                </c:pt>
                <c:pt idx="1">
                  <c:v>0.67210000000000003</c:v>
                </c:pt>
                <c:pt idx="2">
                  <c:v>0.67269999999999996</c:v>
                </c:pt>
                <c:pt idx="3">
                  <c:v>0.67630000000000001</c:v>
                </c:pt>
                <c:pt idx="4">
                  <c:v>0.67279999999999995</c:v>
                </c:pt>
                <c:pt idx="5">
                  <c:v>0.69740000000000002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1BE-4F42-8F84-D67D7C0292D1}"/>
            </c:ext>
          </c:extLst>
        </c:ser>
        <c:ser>
          <c:idx val="1"/>
          <c:order val="1"/>
          <c:tx>
            <c:strRef>
              <c:f>Sheet1!$C$1</c:f>
              <c:strCache>
                <c:ptCount val="1"/>
                <c:pt idx="0">
                  <c:v>箇所F</c:v>
                </c:pt>
              </c:strCache>
            </c:strRef>
          </c:tx>
          <c:spPr>
            <a:solidFill>
              <a:srgbClr val="3D6B4A"/>
            </a:solidFill>
          </c:spPr>
          <c:invertIfNegative val="1"/>
          <c:dLbls>
            <c:numFmt formatCode="0.000" sourceLinked="0"/>
            <c:spPr>
              <a:noFill/>
              <a:ln>
                <a:noFill/>
              </a:ln>
              <a:effectLst/>
            </c:spPr>
            <c:txPr>
              <a:bodyPr/>
              <a:lstStyle/>
              <a:p>
                <a:pPr>
                  <a:defRPr sz="900" b="1">
                    <a:latin typeface="Meiryo"/>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Early
融合</c:v>
                </c:pt>
                <c:pt idx="1">
                  <c:v>Middle
融合</c:v>
                </c:pt>
                <c:pt idx="2">
                  <c:v>Final
融合</c:v>
                </c:pt>
                <c:pt idx="3">
                  <c:v>Attention</c:v>
                </c:pt>
                <c:pt idx="4">
                  <c:v>TransUNet</c:v>
                </c:pt>
                <c:pt idx="5">
                  <c:v>拡張あり
Final</c:v>
                </c:pt>
              </c:strCache>
            </c:strRef>
          </c:cat>
          <c:val>
            <c:numRef>
              <c:f>Sheet1!$C$2:$C$7</c:f>
              <c:numCache>
                <c:formatCode>General</c:formatCode>
                <c:ptCount val="6"/>
                <c:pt idx="0">
                  <c:v>0.60229999999999995</c:v>
                </c:pt>
                <c:pt idx="1">
                  <c:v>0.65469999999999995</c:v>
                </c:pt>
                <c:pt idx="2">
                  <c:v>0.65059999999999996</c:v>
                </c:pt>
                <c:pt idx="3">
                  <c:v>0.65449999999999997</c:v>
                </c:pt>
                <c:pt idx="4">
                  <c:v>0.64590000000000003</c:v>
                </c:pt>
                <c:pt idx="5">
                  <c:v>0.66420000000000001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1BE-4F42-8F84-D67D7C0292D1}"/>
            </c:ext>
          </c:extLst>
        </c:ser>
        <c:dLbls>
          <c:dLblPos val="outEnd"/>
          <c:showLegendKey val="0"/>
          <c:showVal val="1"/>
          <c:showCatName val="0"/>
          <c:showSerName val="0"/>
          <c:showPercent val="0"/>
          <c:showBubbleSize val="0"/>
        </c:dLbls>
        <c:gapWidth val="60"/>
        <c:overlap val="-10"/>
        <c:axId val="-2068027336"/>
        <c:axId val="-2113994440"/>
      </c:barChart>
      <c:catAx>
        <c:axId val="-2068027336"/>
        <c:scaling>
          <c:orientation val="minMax"/>
        </c:scaling>
        <c:delete val="0"/>
        <c:axPos val="b"/>
        <c:numFmt formatCode="General" sourceLinked="0"/>
        <c:majorTickMark val="none"/>
        <c:minorTickMark val="none"/>
        <c:tickLblPos val="nextTo"/>
        <c:txPr>
          <a:bodyPr/>
          <a:lstStyle/>
          <a:p>
            <a:pPr>
              <a:defRPr sz="900">
                <a:latin typeface="Meiryo"/>
              </a:defRPr>
            </a:pPr>
            <a:endParaRPr lang="ja-JP"/>
          </a:p>
        </c:txPr>
        <c:crossAx val="-2113994440"/>
        <c:crosses val="autoZero"/>
        <c:auto val="1"/>
        <c:lblAlgn val="ctr"/>
        <c:lblOffset val="100"/>
        <c:noMultiLvlLbl val="0"/>
      </c:catAx>
      <c:valAx>
        <c:axId val="-2113994440"/>
        <c:scaling>
          <c:orientation val="minMax"/>
          <c:max val="0.73"/>
          <c:min val="0.57999999999999996"/>
        </c:scaling>
        <c:delete val="0"/>
        <c:axPos val="l"/>
        <c:majorGridlines>
          <c:spPr>
            <a:ln w="6350">
              <a:solidFill>
                <a:srgbClr val="DCDCD6"/>
              </a:solidFill>
            </a:ln>
          </c:spPr>
        </c:majorGridlines>
        <c:numFmt formatCode="0.000" sourceLinked="0"/>
        <c:majorTickMark val="none"/>
        <c:minorTickMark val="none"/>
        <c:tickLblPos val="nextTo"/>
        <c:txPr>
          <a:bodyPr/>
          <a:lstStyle/>
          <a:p>
            <a:pPr>
              <a:defRPr sz="900">
                <a:latin typeface="Meiryo"/>
              </a:defRPr>
            </a:pPr>
            <a:endParaRPr lang="ja-JP"/>
          </a:p>
        </c:txPr>
        <c:crossAx val="-2068027336"/>
        <c:crosses val="autoZero"/>
        <c:crossBetween val="between"/>
      </c:valAx>
    </c:plotArea>
    <c:legend>
      <c:legendPos val="t"/>
      <c:overlay val="0"/>
      <c:txPr>
        <a:bodyPr/>
        <a:lstStyle/>
        <a:p>
          <a:pPr>
            <a:defRPr sz="1000">
              <a:latin typeface="Meiryo"/>
            </a:defRPr>
          </a:pPr>
          <a:endParaRPr lang="ja-JP"/>
        </a:p>
      </c:txPr>
    </c:legend>
    <c:plotVisOnly val="1"/>
    <c:dispBlanksAs val="gap"/>
    <c:showDLblsOverMax val="1"/>
  </c:chart>
  <c:txPr>
    <a:bodyPr/>
    <a:lstStyle/>
    <a:p>
      <a:pPr>
        <a:defRPr sz="900">
          <a:latin typeface="Meiry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箇所F</c:v>
                </c:pt>
              </c:strCache>
            </c:strRef>
          </c:tx>
          <c:spPr>
            <a:solidFill>
              <a:srgbClr val="3D6B4A"/>
            </a:solidFill>
          </c:spPr>
          <c:invertIfNegative val="1"/>
          <c:dLbls>
            <c:numFmt formatCode="0.000" sourceLinked="0"/>
            <c:spPr>
              <a:noFill/>
              <a:ln>
                <a:noFill/>
              </a:ln>
              <a:effectLst/>
            </c:spPr>
            <c:txPr>
              <a:bodyPr/>
              <a:lstStyle/>
              <a:p>
                <a:pPr>
                  <a:defRPr sz="900" b="1">
                    <a:latin typeface="Meiryo"/>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正規化なし</c:v>
                </c:pt>
                <c:pt idx="1">
                  <c:v>p = 0.5</c:v>
                </c:pt>
                <c:pt idx="2">
                  <c:v>p = 1.0</c:v>
                </c:pt>
              </c:strCache>
            </c:strRef>
          </c:cat>
          <c:val>
            <c:numRef>
              <c:f>Sheet1!$B$2:$B$4</c:f>
              <c:numCache>
                <c:formatCode>General</c:formatCode>
                <c:ptCount val="3"/>
                <c:pt idx="0">
                  <c:v>0.65059999999999996</c:v>
                </c:pt>
                <c:pt idx="1">
                  <c:v>0.65959999999999996</c:v>
                </c:pt>
                <c:pt idx="2">
                  <c:v>0.63780000000000003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F77-9E4E-A9CD-0B0533B8AD83}"/>
            </c:ext>
          </c:extLst>
        </c:ser>
        <c:ser>
          <c:idx val="1"/>
          <c:order val="1"/>
          <c:tx>
            <c:strRef>
              <c:f>Sheet1!$C$1</c:f>
              <c:strCache>
                <c:ptCount val="1"/>
                <c:pt idx="0">
                  <c:v>箇所Recall</c:v>
                </c:pt>
              </c:strCache>
            </c:strRef>
          </c:tx>
          <c:spPr>
            <a:solidFill>
              <a:srgbClr val="5B7B8C"/>
            </a:solidFill>
          </c:spPr>
          <c:invertIfNegative val="1"/>
          <c:dLbls>
            <c:numFmt formatCode="0.000" sourceLinked="0"/>
            <c:spPr>
              <a:noFill/>
              <a:ln>
                <a:noFill/>
              </a:ln>
              <a:effectLst/>
            </c:spPr>
            <c:txPr>
              <a:bodyPr/>
              <a:lstStyle/>
              <a:p>
                <a:pPr>
                  <a:defRPr sz="900" b="1">
                    <a:latin typeface="Meiryo"/>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正規化なし</c:v>
                </c:pt>
                <c:pt idx="1">
                  <c:v>p = 0.5</c:v>
                </c:pt>
                <c:pt idx="2">
                  <c:v>p = 1.0</c:v>
                </c:pt>
              </c:strCache>
            </c:strRef>
          </c:cat>
          <c:val>
            <c:numRef>
              <c:f>Sheet1!$C$2:$C$4</c:f>
              <c:numCache>
                <c:formatCode>General</c:formatCode>
                <c:ptCount val="3"/>
                <c:pt idx="0">
                  <c:v>0.61880000000000002</c:v>
                </c:pt>
                <c:pt idx="1">
                  <c:v>0.64629999999999999</c:v>
                </c:pt>
                <c:pt idx="2">
                  <c:v>0.59530000000000005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2F77-9E4E-A9CD-0B0533B8AD83}"/>
            </c:ext>
          </c:extLst>
        </c:ser>
        <c:dLbls>
          <c:dLblPos val="outEnd"/>
          <c:showLegendKey val="0"/>
          <c:showVal val="1"/>
          <c:showCatName val="0"/>
          <c:showSerName val="0"/>
          <c:showPercent val="0"/>
          <c:showBubbleSize val="0"/>
        </c:dLbls>
        <c:gapWidth val="50"/>
        <c:overlap val="-10"/>
        <c:axId val="-2068027336"/>
        <c:axId val="-2113994440"/>
      </c:barChart>
      <c:catAx>
        <c:axId val="-2068027336"/>
        <c:scaling>
          <c:orientation val="minMax"/>
        </c:scaling>
        <c:delete val="0"/>
        <c:axPos val="b"/>
        <c:numFmt formatCode="General" sourceLinked="0"/>
        <c:majorTickMark val="none"/>
        <c:minorTickMark val="none"/>
        <c:tickLblPos val="nextTo"/>
        <c:txPr>
          <a:bodyPr/>
          <a:lstStyle/>
          <a:p>
            <a:pPr>
              <a:defRPr sz="900">
                <a:latin typeface="Meiryo"/>
              </a:defRPr>
            </a:pPr>
            <a:endParaRPr lang="ja-JP"/>
          </a:p>
        </c:txPr>
        <c:crossAx val="-2113994440"/>
        <c:crosses val="autoZero"/>
        <c:auto val="1"/>
        <c:lblAlgn val="ctr"/>
        <c:lblOffset val="100"/>
        <c:noMultiLvlLbl val="0"/>
      </c:catAx>
      <c:valAx>
        <c:axId val="-2113994440"/>
        <c:scaling>
          <c:orientation val="minMax"/>
          <c:max val="0.68"/>
          <c:min val="0.56000000000000005"/>
        </c:scaling>
        <c:delete val="0"/>
        <c:axPos val="l"/>
        <c:majorGridlines>
          <c:spPr>
            <a:ln w="6350">
              <a:solidFill>
                <a:srgbClr val="DCDCD6"/>
              </a:solidFill>
            </a:ln>
          </c:spPr>
        </c:majorGridlines>
        <c:numFmt formatCode="0.000" sourceLinked="0"/>
        <c:majorTickMark val="none"/>
        <c:minorTickMark val="none"/>
        <c:tickLblPos val="nextTo"/>
        <c:txPr>
          <a:bodyPr/>
          <a:lstStyle/>
          <a:p>
            <a:pPr>
              <a:defRPr sz="900">
                <a:latin typeface="Meiryo"/>
              </a:defRPr>
            </a:pPr>
            <a:endParaRPr lang="ja-JP"/>
          </a:p>
        </c:txPr>
        <c:crossAx val="-2068027336"/>
        <c:crosses val="autoZero"/>
        <c:crossBetween val="between"/>
      </c:valAx>
    </c:plotArea>
    <c:legend>
      <c:legendPos val="t"/>
      <c:overlay val="0"/>
      <c:txPr>
        <a:bodyPr/>
        <a:lstStyle/>
        <a:p>
          <a:pPr>
            <a:defRPr sz="1000">
              <a:latin typeface="Meiryo"/>
            </a:defRPr>
          </a:pPr>
          <a:endParaRPr lang="ja-JP"/>
        </a:p>
      </c:txPr>
    </c:legend>
    <c:plotVisOnly val="1"/>
    <c:dispBlanksAs val="gap"/>
    <c:showDLblsOverMax val="1"/>
  </c:chart>
  <c:txPr>
    <a:bodyPr/>
    <a:lstStyle/>
    <a:p>
      <a:pPr>
        <a:defRPr sz="900">
          <a:latin typeface="Meiryo"/>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TP=0 タイル / 検出できたタイル の比</c:v>
                </c:pt>
              </c:strCache>
            </c:strRef>
          </c:tx>
          <c:spPr>
            <a:solidFill>
              <a:srgbClr val="5B7B8C"/>
            </a:solidFill>
          </c:spPr>
          <c:invertIfNegative val="1"/>
          <c:dLbls>
            <c:numFmt formatCode="0.00" sourceLinked="0"/>
            <c:spPr>
              <a:noFill/>
              <a:ln>
                <a:noFill/>
              </a:ln>
              <a:effectLst/>
            </c:spPr>
            <c:txPr>
              <a:bodyPr/>
              <a:lstStyle/>
              <a:p>
                <a:pPr>
                  <a:defRPr sz="900" b="1">
                    <a:latin typeface="Meiryo"/>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enc1</c:v>
                </c:pt>
                <c:pt idx="1">
                  <c:v>enc2</c:v>
                </c:pt>
                <c:pt idx="2">
                  <c:v>enc3</c:v>
                </c:pt>
                <c:pt idx="3">
                  <c:v>enc4</c:v>
                </c:pt>
              </c:strCache>
            </c:strRef>
          </c:cat>
          <c:val>
            <c:numRef>
              <c:f>Sheet1!$B$2:$B$5</c:f>
              <c:numCache>
                <c:formatCode>General</c:formatCode>
                <c:ptCount val="4"/>
                <c:pt idx="0">
                  <c:v>0.99</c:v>
                </c:pt>
                <c:pt idx="1">
                  <c:v>1.04</c:v>
                </c:pt>
                <c:pt idx="2">
                  <c:v>1.37</c:v>
                </c:pt>
                <c:pt idx="3">
                  <c:v>1.1200000000000001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067-3345-BD9E-0C13486312DA}"/>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none"/>
        <c:minorTickMark val="none"/>
        <c:tickLblPos val="nextTo"/>
        <c:txPr>
          <a:bodyPr/>
          <a:lstStyle/>
          <a:p>
            <a:pPr>
              <a:defRPr sz="900">
                <a:latin typeface="Meiryo"/>
              </a:defRPr>
            </a:pPr>
            <a:endParaRPr lang="ja-JP"/>
          </a:p>
        </c:txPr>
        <c:crossAx val="-2113994440"/>
        <c:crosses val="autoZero"/>
        <c:auto val="1"/>
        <c:lblAlgn val="ctr"/>
        <c:lblOffset val="100"/>
        <c:noMultiLvlLbl val="0"/>
      </c:catAx>
      <c:valAx>
        <c:axId val="-2113994440"/>
        <c:scaling>
          <c:orientation val="minMax"/>
          <c:max val="1.5"/>
          <c:min val="0.8"/>
        </c:scaling>
        <c:delete val="0"/>
        <c:axPos val="l"/>
        <c:majorGridlines>
          <c:spPr>
            <a:ln w="6350">
              <a:solidFill>
                <a:srgbClr val="DCDCD6"/>
              </a:solidFill>
            </a:ln>
          </c:spPr>
        </c:majorGridlines>
        <c:numFmt formatCode="0.00" sourceLinked="0"/>
        <c:majorTickMark val="none"/>
        <c:minorTickMark val="none"/>
        <c:tickLblPos val="nextTo"/>
        <c:txPr>
          <a:bodyPr/>
          <a:lstStyle/>
          <a:p>
            <a:pPr>
              <a:defRPr sz="900">
                <a:latin typeface="Meiryo"/>
              </a:defRPr>
            </a:pPr>
            <a:endParaRPr lang="ja-JP"/>
          </a:p>
        </c:txPr>
        <c:crossAx val="-2068027336"/>
        <c:crosses val="autoZero"/>
        <c:crossBetween val="between"/>
      </c:valAx>
    </c:plotArea>
    <c:plotVisOnly val="1"/>
    <c:dispBlanksAs val="gap"/>
    <c:showDLblsOverMax val="1"/>
  </c:chart>
  <c:txPr>
    <a:bodyPr/>
    <a:lstStyle/>
    <a:p>
      <a:pPr>
        <a:defRPr sz="900">
          <a:latin typeface="Meiryo"/>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箇所F</c:v>
                </c:pt>
              </c:strCache>
            </c:strRef>
          </c:tx>
          <c:spPr>
            <a:solidFill>
              <a:srgbClr val="5B7B8C"/>
            </a:solidFill>
          </c:spPr>
          <c:invertIfNegative val="1"/>
          <c:dLbls>
            <c:numFmt formatCode="0.000" sourceLinked="0"/>
            <c:spPr>
              <a:noFill/>
              <a:ln>
                <a:noFill/>
              </a:ln>
              <a:effectLst/>
            </c:spPr>
            <c:txPr>
              <a:bodyPr/>
              <a:lstStyle/>
              <a:p>
                <a:pPr>
                  <a:defRPr sz="900" b="1">
                    <a:latin typeface="Meiryo"/>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単純平均</c:v>
                </c:pt>
                <c:pt idx="1">
                  <c:v>最大</c:v>
                </c:pt>
                <c:pt idx="2">
                  <c:v>中心重みつき平均
（cos 窓）</c:v>
                </c:pt>
              </c:strCache>
            </c:strRef>
          </c:cat>
          <c:val>
            <c:numRef>
              <c:f>Sheet1!$B$2:$B$4</c:f>
              <c:numCache>
                <c:formatCode>General</c:formatCode>
                <c:ptCount val="3"/>
                <c:pt idx="0">
                  <c:v>0.71020000000000005</c:v>
                </c:pt>
                <c:pt idx="1">
                  <c:v>0.69740000000000002</c:v>
                </c:pt>
                <c:pt idx="2">
                  <c:v>0.74460000000000004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171-8048-8CE1-15B19796237B}"/>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none"/>
        <c:minorTickMark val="none"/>
        <c:tickLblPos val="nextTo"/>
        <c:txPr>
          <a:bodyPr/>
          <a:lstStyle/>
          <a:p>
            <a:pPr>
              <a:defRPr sz="900">
                <a:latin typeface="Meiryo"/>
              </a:defRPr>
            </a:pPr>
            <a:endParaRPr lang="ja-JP"/>
          </a:p>
        </c:txPr>
        <c:crossAx val="-2113994440"/>
        <c:crosses val="autoZero"/>
        <c:auto val="1"/>
        <c:lblAlgn val="ctr"/>
        <c:lblOffset val="100"/>
        <c:noMultiLvlLbl val="0"/>
      </c:catAx>
      <c:valAx>
        <c:axId val="-2113994440"/>
        <c:scaling>
          <c:orientation val="minMax"/>
          <c:max val="0.78"/>
          <c:min val="0.65"/>
        </c:scaling>
        <c:delete val="0"/>
        <c:axPos val="l"/>
        <c:majorGridlines>
          <c:spPr>
            <a:ln w="6350">
              <a:solidFill>
                <a:srgbClr val="DCDCD6"/>
              </a:solidFill>
            </a:ln>
          </c:spPr>
        </c:majorGridlines>
        <c:numFmt formatCode="0.000" sourceLinked="0"/>
        <c:majorTickMark val="none"/>
        <c:minorTickMark val="none"/>
        <c:tickLblPos val="nextTo"/>
        <c:txPr>
          <a:bodyPr/>
          <a:lstStyle/>
          <a:p>
            <a:pPr>
              <a:defRPr sz="900">
                <a:latin typeface="Meiryo"/>
              </a:defRPr>
            </a:pPr>
            <a:endParaRPr lang="ja-JP"/>
          </a:p>
        </c:txPr>
        <c:crossAx val="-2068027336"/>
        <c:crosses val="autoZero"/>
        <c:crossBetween val="between"/>
      </c:valAx>
    </c:plotArea>
    <c:plotVisOnly val="1"/>
    <c:dispBlanksAs val="gap"/>
    <c:showDLblsOverMax val="1"/>
  </c:chart>
  <c:txPr>
    <a:bodyPr/>
    <a:lstStyle/>
    <a:p>
      <a:pPr>
        <a:defRPr sz="900">
          <a:latin typeface="Meiry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2026年夏期の進捗報告です。テーマは急傾斜地崩壊危険区域の自動抽出で、</a:t>
            </a:r>
          </a:p>
          <a:p>
            <a:r>
              <a:t>副題のとおり「U-Net の内部をどこまで触れば精度が上がるのか」を、29条件の実験で確かめました。</a:t>
            </a:r>
          </a:p>
          <a:p>
            <a:r>
              <a:t>結論を先に言うと、内部をどう触ってもほとんど動きませんでした。</a:t>
            </a:r>
          </a:p>
          <a:p>
            <a:r>
              <a:t>効いたのはモデルではなく、画像をタイルに切って与えるという問題の立て方のほうでした。</a:t>
            </a:r>
          </a:p>
          <a:p>
            <a:r>
              <a:t>広島県で学習し、一度も学習に使っていない島根県で汎化を見ています。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夏にやったことは3つです。</a:t>
            </a:r>
          </a:p>
          <a:p>
            <a:r>
              <a:t>1つめ、評価のしかたを作りました。これまでは画素の面積で測っていましたが、</a:t>
            </a:r>
          </a:p>
          <a:p>
            <a:r>
              <a:t>行政が扱う単位は「箇所」なので、箇所数で数える評価を設計・実装しました。</a:t>
            </a:r>
          </a:p>
          <a:p>
            <a:r>
              <a:t>2つめ、29条件を学習・評価しました。既存6構造の比較に加えて、</a:t>
            </a:r>
          </a:p>
          <a:p>
            <a:r>
              <a:t>U-Net の内部を触る構造を8種類、自分で設計して試しています。</a:t>
            </a:r>
          </a:p>
          <a:p>
            <a:r>
              <a:t>3つめ、なぜ効かないのかを診断しました。ここが今期いちばんの収穫です。</a:t>
            </a:r>
          </a:p>
          <a:p>
            <a:r>
              <a:t>下に結論を書いています。学習側の改良は8本試して1本も出発点を超えず、</a:t>
            </a:r>
          </a:p>
          <a:p>
            <a:r>
              <a:t>効いたのは推論のやり方を変えることだけでした。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同じ内容をもう一度整理したものです。</a:t>
            </a:r>
          </a:p>
          <a:p>
            <a:r>
              <a:t>評価を作り、改良モデルを回し、効かない理由を診断した。この3段構えで進めました。</a:t>
            </a:r>
          </a:p>
          <a:p>
            <a:r>
              <a:t>以降はこの順番どおりにお話しします。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使ったデータです。広島県を 128×128 画素のタイルに切ると 38,148枚になります。</a:t>
            </a:r>
          </a:p>
          <a:p>
            <a:r>
              <a:t>そのうち警戒区域を含むのが 14,816枚、残り 23,332枚は背景だけです。</a:t>
            </a:r>
          </a:p>
          <a:p>
            <a:r>
              <a:t>背景が6割を占めている点を覚えておいてください。後半で効いてきます。</a:t>
            </a:r>
          </a:p>
          <a:p>
            <a:r>
              <a:t>1画素が 4.48 メートルなので、1タイルは 573 メートル四方です。</a:t>
            </a:r>
          </a:p>
          <a:p>
            <a:r>
              <a:t>テストは 2,964枚で、そこに正解の箇所が 8,977個。1タイルあたり平均3個あります。</a:t>
            </a:r>
          </a:p>
          <a:p>
            <a:r>
              <a:t>島根県は 24,569枚すべてを汎化の検証に使います。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入力は3種類です。SAM は傾斜量で、標高から計算した傾斜角です。</a:t>
            </a:r>
          </a:p>
          <a:p>
            <a:r>
              <a:t>DEM は生の標高で、傾斜は AI に自分で学ばせます。</a:t>
            </a:r>
          </a:p>
          <a:p>
            <a:r>
              <a:t>APM は航空写真で、RGB の3チャネルです。</a:t>
            </a:r>
          </a:p>
          <a:p>
            <a:r>
              <a:t>下の表を見てください。航空写真を足すと、広島で 0.08 から 0.10、</a:t>
            </a:r>
          </a:p>
          <a:p>
            <a:r>
              <a:t>島根では 0.18 から 0.20 も上がります。</a:t>
            </a:r>
          </a:p>
          <a:p>
            <a:r>
              <a:t>この「入力を増やす」効き方が、このあと出てくるどの工夫よりも桁違いに大きい。</a:t>
            </a:r>
          </a:p>
          <a:p>
            <a:r>
              <a:t>最後の展望でここに戻ってきます。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まず、面積評価だけでは足りない、という話です。</a:t>
            </a:r>
          </a:p>
          <a:p>
            <a:r>
              <a:t>箇所で数えるには、予測と正解を対応づける必要があります。</a:t>
            </a:r>
          </a:p>
          <a:p>
            <a:r>
              <a:t>物体検出でよく使う IoU という尺度を使うと、2つの落とし穴がありました。</a:t>
            </a:r>
          </a:p>
          <a:p>
            <a:r>
              <a:t>1つめが飲み込みです。近くに正解が3つ並んでいるのを AI が大きく1つに塗ると、</a:t>
            </a:r>
          </a:p>
          <a:p>
            <a:r>
              <a:t>1対1の対応づけでは1個しか当たりにならず、残りは見逃し扱いになります。</a:t>
            </a:r>
          </a:p>
          <a:p>
            <a:r>
              <a:t>実際、正解の 20.1% にあたる 1,803個がこれで不当に見逃しにされていました。</a:t>
            </a:r>
          </a:p>
          <a:p>
            <a:r>
              <a:t>2つめ、正解が小さいと IoU が構造的に上がりません。</a:t>
            </a:r>
          </a:p>
          <a:p>
            <a:r>
              <a:t>100画素未満が 22% あって、そこでの最良 IoU は平均 0.159 しかない。</a:t>
            </a:r>
          </a:p>
          <a:p>
            <a:r>
              <a:t>しきい値 0.3 を最初から超えられません。</a:t>
            </a:r>
          </a:p>
          <a:p>
            <a:r>
              <a:t>決め手は一番下です。飲み込まれた正解は実際にはほぼ覆われているのに、</a:t>
            </a:r>
          </a:p>
          <a:p>
            <a:r>
              <a:t>被覆で測れば 89.9% が通るところ、IoU だと 37.7% しか通らない。</a:t>
            </a:r>
          </a:p>
          <a:p>
            <a:r>
              <a:t>同じ現象を見ているのに測り方で9割と4割に割れる。測り方のほうが間違っています。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そこで IoU をやめて、被覆方式を採用しました。</a:t>
            </a:r>
          </a:p>
          <a:p>
            <a:r>
              <a:t>正解の 50% 以上が予測に覆われていれば「検出できた」、</a:t>
            </a:r>
          </a:p>
          <a:p>
            <a:r>
              <a:t>予測の 30% 以上が正解に当たっていれば「的中した」と数えます。</a:t>
            </a:r>
          </a:p>
          <a:p>
            <a:r>
              <a:t>1対1に縛らないので、1つの大きな予測が3箇所を覆っていれば3箇所とも検出になります。</a:t>
            </a:r>
          </a:p>
          <a:p>
            <a:r>
              <a:t>左下が固定したしきい値です。連結性は8近傍にしましたが、</a:t>
            </a:r>
          </a:p>
          <a:p>
            <a:r>
              <a:t>4近傍にしても 0.6504 対 0.6506 でほぼ動かないので、ここは気にしなくていい。</a:t>
            </a:r>
          </a:p>
          <a:p>
            <a:r>
              <a:t>問題は最小サイズのほうです。これは「10画素より小さいかたまりは数えない」というルールで、</a:t>
            </a:r>
          </a:p>
          <a:p>
            <a:r>
              <a:t>ノイズを1箇所と数えないための線引きです。</a:t>
            </a:r>
          </a:p>
          <a:p>
            <a:r>
              <a:t>ところがこれを 100画素にすると 0.6506 が 0.6996 まで上がってしまう。</a:t>
            </a:r>
          </a:p>
          <a:p>
            <a:r>
              <a:t>小さくて当てにくいものを除外すれば成績が良く見えるのは当たり前で、</a:t>
            </a:r>
          </a:p>
          <a:p>
            <a:r>
              <a:t>平均点を上げたいから10点未満の答案を集計しない、と言っているのと同じです。</a:t>
            </a:r>
          </a:p>
          <a:p>
            <a:r>
              <a:t>だから先に10画素と決めて、以後動かさないと宣言しています。</a:t>
            </a:r>
          </a:p>
          <a:p>
            <a:r>
              <a:t>右の表が本題で、まったく同じ予測なのに方式を変えると 0.53 から 0.67 まで動きます。</a:t>
            </a:r>
          </a:p>
          <a:p>
            <a:r>
              <a:t>どの方式で測った値かを書かずに精度を比べることはできません。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評価の軸を4つに整理しました。</a:t>
            </a:r>
          </a:p>
          <a:p>
            <a:r>
              <a:t>①面積評価と②箇所数評価は「何を数えるか」の軸です。</a:t>
            </a:r>
          </a:p>
          <a:p>
            <a:r>
              <a:t>③境界評価はタイル中央の 96×96 だけで測るもので、外周の切れ端の影響を外します。</a:t>
            </a:r>
          </a:p>
          <a:p>
            <a:r>
              <a:t>④オーバーラップ推論は、窓をずらして9回推論して統合するやり方です。</a:t>
            </a:r>
          </a:p>
          <a:p>
            <a:r>
              <a:t>③④は「どこを・どう推論するか」の軸で、④だけは性質が違います。</a:t>
            </a:r>
          </a:p>
          <a:p>
            <a:r>
              <a:t>学習をやり直さなくていい。すでにある重みに後から掛けられます。</a:t>
            </a:r>
          </a:p>
          <a:p>
            <a:r>
              <a:t>そしてこの④が、結果として唯一はっきり効いた施策になります。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ここから第2章、既存モデルの比較です。まず土台になる構造を説明します。</a:t>
            </a:r>
          </a:p>
          <a:p>
            <a:r>
              <a:t>傾斜量と航空写真を、それぞれ別のエンコーダで処理します。</a:t>
            </a:r>
          </a:p>
          <a:p>
            <a:r>
              <a:t>128×128 から 64、32、16、8 と半分ずつ縮めながら特徴を取っていき、</a:t>
            </a:r>
          </a:p>
          <a:p>
            <a:r>
              <a:t>いちばん奥のボトルネックで初めて連結する。だから Final 融合と呼んでいます。</a:t>
            </a:r>
          </a:p>
          <a:p>
            <a:r>
              <a:t>点線がスキップ接続で、縮める途中の各段を、戻すときの同じ大きさの段に横流しします。</a:t>
            </a:r>
          </a:p>
          <a:p>
            <a:r>
              <a:t>これが無いと、戻すときに位置が粗いままになります。</a:t>
            </a:r>
          </a:p>
          <a:p>
            <a:r>
              <a:t>赤い線が skip2、64×64 の段です。第3章の改良はすべてここを触ります。</a:t>
            </a:r>
          </a:p>
          <a:p>
            <a:r>
              <a:t>この構造が出発点で、パラメータ 43.58M、面積F 0.6727 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6つの構造の違いを整理します。違いは2点しかありません。</a:t>
            </a:r>
          </a:p>
          <a:p>
            <a:r>
              <a:t>2つの入力をどこで合流させるか、そこに何を足すか、です。</a:t>
            </a:r>
          </a:p>
          <a:p>
            <a:r>
              <a:t>合流位置が Early、Middle、Final の3通り。</a:t>
            </a:r>
          </a:p>
          <a:p>
            <a:r>
              <a:t>Early は入口でいきなり連結して1本の U-Net に通します。</a:t>
            </a:r>
          </a:p>
          <a:p>
            <a:r>
              <a:t>Final は最後のボトルネックまで別々に処理します。</a:t>
            </a:r>
          </a:p>
          <a:p>
            <a:r>
              <a:t>そして Final に機構を足したのが残りの2つで、</a:t>
            </a:r>
          </a:p>
          <a:p>
            <a:r>
              <a:t>Attention はスキップ接続にゲートを16個置いたもの、</a:t>
            </a:r>
          </a:p>
          <a:p>
            <a:r>
              <a:t>TransUNet はボトルネックに自己注意を4層入れたものです。</a:t>
            </a:r>
          </a:p>
          <a:p>
            <a:r>
              <a:t>右の表が結果です。単一入力の 0.5688 から航空写真を足して 0.63 以上に上がる。</a:t>
            </a:r>
          </a:p>
          <a:p>
            <a:r>
              <a:t>そのあと、Early だけが 0.6363 と落ち込み、Middle 以降は 0.672 から 0.676 に固まります。</a:t>
            </a:r>
          </a:p>
          <a:p>
            <a:r>
              <a:t>パラメータは 31M から 94M まで3倍の開きがあるのに、成績はほぼ同じです。</a:t>
            </a:r>
          </a:p>
          <a:p>
            <a:r>
              <a:t>Early が悪い理由は、傾斜角の数値と写真の RGB という性質の違うものを</a:t>
            </a:r>
          </a:p>
          <a:p>
            <a:r>
              <a:t>生のまま足し合わせて混ぜてしまうからだと考えています。</a:t>
            </a:r>
          </a:p>
          <a:p>
            <a:r>
              <a:t>次の2枚で Attention と TransUNet の中身を見ます。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U-Net のゲートの中身です。Oktay らの 2018年の提案です。</a:t>
            </a:r>
          </a:p>
          <a:p>
            <a:r>
              <a:t>入力は2つあります。デコーダ側から来る信号 g と、横流しされるスキップ x です。</a:t>
            </a:r>
          </a:p>
          <a:p>
            <a:r>
              <a:t>それぞれを 1×1 の畳み込みと BN で 256チャネルに落として足し合わせ、ReLU を通す。</a:t>
            </a:r>
          </a:p>
          <a:p>
            <a:r>
              <a:t>さらに 1×1 の畳み込みで1チャネルに潰して sigmoid にかけると、</a:t>
            </a:r>
          </a:p>
          <a:p>
            <a:r>
              <a:t>0 から 1 の係数 ψ が画素ごとに出てきます。</a:t>
            </a:r>
          </a:p>
          <a:p>
            <a:r>
              <a:t>最後に x に ψ を掛けてデコーダに渡す。</a:t>
            </a:r>
          </a:p>
          <a:p>
            <a:r>
              <a:t>つまり「横流しする情報のうち、どこを強く渡すか」を、</a:t>
            </a:r>
          </a:p>
          <a:p>
            <a:r>
              <a:t>受け取る側のデコーダの都合で決める仕組みです。</a:t>
            </a:r>
          </a:p>
          <a:p>
            <a:r>
              <a:t>これが4段×2枝で16個入っています。</a:t>
            </a:r>
          </a:p>
          <a:p>
            <a:r>
              <a:t>下の左を見てください。注意係数を実測すると、正解の中で 0.705、外で 0.453。</a:t>
            </a:r>
          </a:p>
          <a:p>
            <a:r>
              <a:t>ゲートはちゃんと絞り込めています。ところが右、F値は Final とほとんど変わらない。</a:t>
            </a:r>
          </a:p>
          <a:p>
            <a:r>
              <a:t>つまり「効いていない」のではなく「冗長」でした。</a:t>
            </a:r>
          </a:p>
          <a:p>
            <a:r>
              <a:t>ゲートは既にある特徴を重み付けし直すだけで、何を強調すべきかは教わっていない。</a:t>
            </a:r>
          </a:p>
          <a:p>
            <a:r>
              <a:t>そこで第3章では、このゲートの中身を損失で縛るという改良を試します。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TransUNet です。ボトルネックの 8×8 を 64個のトークンとみなします。</a:t>
            </a:r>
          </a:p>
          <a:p>
            <a:r>
              <a:t>平坦化して、それぞれ 1024次元のベクトルにする。</a:t>
            </a:r>
          </a:p>
          <a:p>
            <a:r>
              <a:t>そこに位置埋め込みを足して「何番目のマスか」を教え、</a:t>
            </a:r>
          </a:p>
          <a:p>
            <a:r>
              <a:t>8ヘッドの自己注意を4層通してから、また 8×8 に戻してデコーダに渡します。</a:t>
            </a:r>
          </a:p>
          <a:p>
            <a:r>
              <a:t>自己注意というのは、64個のマスの全組み合わせを総当たりで見比べる操作です。</a:t>
            </a:r>
          </a:p>
          <a:p>
            <a:r>
              <a:t>畳み込みは 3×3 ずつしか見ないので遠くの情報は何段も重ねないと届きませんが、</a:t>
            </a:r>
          </a:p>
          <a:p>
            <a:r>
              <a:t>自己注意なら一度に全体を見られる。これが大域文脈です。</a:t>
            </a:r>
          </a:p>
          <a:p>
            <a:r>
              <a:t>結果は右のとおりで、94M、Final の2.2倍のパラメータを使って 0.6728。</a:t>
            </a:r>
          </a:p>
          <a:p>
            <a:r>
              <a:t>Final の 0.6727 とまったく同じでした。</a:t>
            </a:r>
          </a:p>
          <a:p>
            <a:r>
              <a:t>効かなかった理由は下に書いたとおりです。</a:t>
            </a:r>
          </a:p>
          <a:p>
            <a:r>
              <a:t>8×8 の時点で1画素が 71.7 メートルあります。</a:t>
            </a:r>
          </a:p>
          <a:p>
            <a:r>
              <a:t>箇所の典型サイズが 81メートル四方なので、もう1画素ぶんしか残っていない。</a:t>
            </a:r>
          </a:p>
          <a:p>
            <a:r>
              <a:t>地図を縮小しすぎて家1軒が点になってから「全体を見比べよう」と言っている状態です。</a:t>
            </a:r>
          </a:p>
          <a:p>
            <a:r>
              <a:t>この読みが第3章④につながります。大域文脈そのものは必要で、</a:t>
            </a:r>
          </a:p>
          <a:p>
            <a:r>
              <a:t>ただし縮める前の 64×64 で、解像度を保ったまま取らないといけない。</a:t>
            </a:r>
          </a:p>
          <a:p>
            <a:r>
              <a:t>それが ASPP で、実際そちらでは補助ヘッドの F値が 0.119 も動きました。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6構造を同じ条件で学習した結果です。</a:t>
            </a:r>
          </a:p>
          <a:p>
            <a:r>
              <a:t>分かったことは2つ。左、融合位置だけが効きました。</a:t>
            </a:r>
          </a:p>
          <a:p>
            <a:r>
              <a:t>入口で足す Early は 0.036 下がりますが、Middle 以降は差がつきません。</a:t>
            </a:r>
          </a:p>
          <a:p>
            <a:r>
              <a:t>右、注意機構も Transformer もパラメータ量も効きません。</a:t>
            </a:r>
          </a:p>
          <a:p>
            <a:r>
              <a:t>そして一番下が、この章でいちばん大事な一文です。</a:t>
            </a:r>
          </a:p>
          <a:p>
            <a:r>
              <a:t>既存4構造は 0.672 から 0.681 の帯に収まる。</a:t>
            </a:r>
          </a:p>
          <a:p>
            <a:r>
              <a:t>この帯の幅が、以降「効いた」と言えるかどうかの基準になります。</a:t>
            </a:r>
          </a:p>
          <a:p>
            <a:r>
              <a:t>0.005 上がりましたと言っても、もともと 0.009 の幅でばらつくなら意味のある差ではない。</a:t>
            </a:r>
          </a:p>
          <a:p>
            <a:r>
              <a:t>基準線を先に引いておくことで、後の結果を正直に判定できるようにしています。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学習の中身を見ると、過学習がはっきり出ていました。</a:t>
            </a:r>
          </a:p>
          <a:p>
            <a:r>
              <a:t>拡張なしの15条件は、学習の最初の数パーセントで検証F1 がピークに達して、</a:t>
            </a:r>
          </a:p>
          <a:p>
            <a:r>
              <a:t>あとは訓練F1 だけが伸びていきます。訓練と検証の差が 0.33 から 0.39。ほぼ暗記です。</a:t>
            </a:r>
          </a:p>
          <a:p>
            <a:r>
              <a:t>データ拡張を入れた3条件では、ピークが後ろにずれて、差も 0.10 程度に収まります。</a:t>
            </a:r>
          </a:p>
          <a:p>
            <a:r>
              <a:t>ついでに分かったことですが、1000エポック回していたのに</a:t>
            </a:r>
          </a:p>
          <a:p>
            <a:r>
              <a:t>良かったのは最初の 30 から 70 エポックだけでした。あとで早期終了を入れます。</a:t>
            </a:r>
          </a:p>
          <a:p>
            <a:r>
              <a:t>ところが下を見てください。広島では 0.025 上がるのに、島根では 0.003 しか上がらない。</a:t>
            </a:r>
          </a:p>
          <a:p>
            <a:r>
              <a:t>過学習は解けたのに、汎化は改善しないという形です。</a:t>
            </a:r>
          </a:p>
          <a:p>
            <a:r>
              <a:t>つまり「広島を暗記していたから島根で落ちる」のではなかった。</a:t>
            </a:r>
          </a:p>
          <a:p>
            <a:r>
              <a:t>島根が落ちる理由は別にある。仮説を1つきれいに潰せた、という意味で価値のある結果です。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第3章です。既存構造では差がつかなかったので、</a:t>
            </a:r>
          </a:p>
          <a:p>
            <a:r>
              <a:t>どの層に何を足せば変わるのかを切り分けられる形で、自分で構造を作って試しました。</a:t>
            </a:r>
          </a:p>
          <a:p>
            <a:r>
              <a:t>8種類、触った場所はスキップ、ボトルネック、統合の3か所です。</a:t>
            </a:r>
          </a:p>
          <a:p>
            <a:r>
              <a:t>よさそうなものを全部盛りにするのではなく、1か所ずつ変えて切り分ける方針で進めました。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作った8つの一覧です。上の4つがスキップ接続を触ったもの、</a:t>
            </a:r>
          </a:p>
          <a:p>
            <a:r>
              <a:t>次の ASPP もスキップ、出力ストライドの2つがボトルネック、</a:t>
            </a:r>
          </a:p>
          <a:p>
            <a:r>
              <a:t>最後の全スケール結合が渡し方そのものを変えたものです。</a:t>
            </a:r>
          </a:p>
          <a:p>
            <a:r>
              <a:t>下に断りを入れていますが、最初の6つは学習・評価まで済んでいます。</a:t>
            </a:r>
          </a:p>
          <a:p>
            <a:r>
              <a:t>出力ストライド4と全スケール結合は、条件を作って実装と動作確認まで終えた段階です。</a:t>
            </a:r>
          </a:p>
          <a:p>
            <a:r>
              <a:t>前の6つが効かなかったので、優先度を下げました。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深層監督と監督Attention の仕組みです。</a:t>
            </a:r>
          </a:p>
          <a:p>
            <a:r>
              <a:t>skip2、64×64 の 256チャネルに、小さなヘッドを足します。</a:t>
            </a:r>
          </a:p>
          <a:p>
            <a:r>
              <a:t>中身は Conv3×3、BN、ReLU、Conv1×1 の4段で、巻末の付録で詳しく説明しています。</a:t>
            </a:r>
          </a:p>
          <a:p>
            <a:r>
              <a:t>BN はバッチ正規化で、ざっくり言えばテストの点を偏差値に直すのと同じ、</a:t>
            </a:r>
          </a:p>
          <a:p>
            <a:r>
              <a:t>数値のばらつきを揃える層です。</a:t>
            </a:r>
          </a:p>
          <a:p>
            <a:r>
              <a:t>これを通すと 64×64 で1チャネルの「存在マップ」が出てきます。</a:t>
            </a:r>
          </a:p>
          <a:p>
            <a:r>
              <a:t>この地図の使い道が2つに分かれます。ここが分岐ではなく、同じ1枚を2つに使う点が大事です。</a:t>
            </a:r>
          </a:p>
          <a:p>
            <a:r>
              <a:t>(a) 深層監督は教える側です。正解を最大プーリングで 64×64 に落としたものを教師にして、</a:t>
            </a:r>
          </a:p>
          <a:p>
            <a:r>
              <a:t>本体の損失にラムダ 0.5 で足す。つまり「この地図を正しく描けるようになれ」と縛ります。</a:t>
            </a:r>
          </a:p>
          <a:p>
            <a:r>
              <a:t>最大プーリングなのは、平均だと小さい箇所が薄まって消えるからです。</a:t>
            </a:r>
          </a:p>
          <a:p>
            <a:r>
              <a:t>(b) 監督Attention は使う側です。同じ地図を sigmoid に通して、</a:t>
            </a:r>
          </a:p>
          <a:p>
            <a:r>
              <a:t>skip2 かける 1足す存在マップ、という形でスキップを増幅してからデコーダに渡します。</a:t>
            </a:r>
          </a:p>
          <a:p>
            <a:r>
              <a:t>深層監督は (a) だけ、監督Attention は (a) と (b) の両方を使う条件です。</a:t>
            </a:r>
          </a:p>
          <a:p>
            <a:r>
              <a:t>(a) が要るのは、(b) だけだと地図が何を意味するか誰も教えていないからです。</a:t>
            </a:r>
          </a:p>
          <a:p>
            <a:r>
              <a:t>それがまさに Attention U-Net で、冗長に終わりました。</a:t>
            </a:r>
          </a:p>
          <a:p>
            <a:r>
              <a:t>最後の1行が次ページへの伏線です。変調が x かける 1足す sigmoid という残差型なので、</a:t>
            </a:r>
          </a:p>
          <a:p>
            <a:r>
              <a:t>sigmoid は必ず 0 から 1、掛ける相手は必ず 1 から 2 になる。</a:t>
            </a:r>
          </a:p>
          <a:p>
            <a:r>
              <a:t>つまり元の値より小さくなることが絶対にない。</a:t>
            </a:r>
          </a:p>
          <a:p>
            <a:r>
              <a:t>強めることはできても、弱めることができません。</a:t>
            </a:r>
          </a:p>
          <a:p>
            <a:r>
              <a:t>蛍光ペンは持っているけれど消しゴムが無い状態です。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結果です。比較はすべて bg10 を基準にしています。</a:t>
            </a:r>
          </a:p>
          <a:p>
            <a:r>
              <a:t>効いたのは箇所F のほうで、監督Attention で 0.020 上がりました。</a:t>
            </a:r>
          </a:p>
          <a:p>
            <a:r>
              <a:t>中身を見ると、100 から 3000画素の見逃しが合計71箇所減っています。</a:t>
            </a:r>
          </a:p>
          <a:p>
            <a:r>
              <a:t>監督を入れた段の解像度、64×64 で表現できるサイズに効くということです。</a:t>
            </a:r>
          </a:p>
          <a:p>
            <a:r>
              <a:t>50画素以下は 64×64 では 4×4 画素しかないので、そこまでは届きません。</a:t>
            </a:r>
          </a:p>
          <a:p>
            <a:r>
              <a:t>一方で悪化もしています。一番右、予測面積比が 1.512 から 1.706 に太りました。</a:t>
            </a:r>
          </a:p>
          <a:p>
            <a:r>
              <a:t>前ページの「増やす方向にしか働かない」がそのまま出ています。</a:t>
            </a:r>
          </a:p>
          <a:p>
            <a:r>
              <a:t>太れば正解を覆いやすいので箇所F は稼げますが、面積の Precision は落ちる。</a:t>
            </a:r>
          </a:p>
          <a:p>
            <a:r>
              <a:t>だから予測面積比を併記しています。箇所F が上がったとだけ言うのはフェアではありません。</a:t>
            </a:r>
          </a:p>
          <a:p>
            <a:r>
              <a:t>最後に、段を3つに増やしたら1段版の改善がむしろ失われました。</a:t>
            </a:r>
          </a:p>
          <a:p>
            <a:r>
              <a:t>ラムダ 0.5 を段数で割ったので、64×64 への配分が 0.5 から 0.167 に薄まったためです。</a:t>
            </a:r>
          </a:p>
          <a:p>
            <a:r>
              <a:t>段を増やすなら総圧力も増やす必要がありました。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次に ASPP です。補助ヘッドは Conv 3×3 だけなので、</a:t>
            </a:r>
          </a:p>
          <a:p>
            <a:r>
              <a:t>64×64 の段で3画素ぶん、26.9メートルしか見ていません。</a:t>
            </a:r>
          </a:p>
          <a:p>
            <a:r>
              <a:t>箇所の典型サイズは 81メートル四方なので、箇所の3分の1しか見えていない。</a:t>
            </a:r>
          </a:p>
          <a:p>
            <a:r>
              <a:t>そこで、飛び飛びに見る畳み込みを並べます。</a:t>
            </a:r>
          </a:p>
          <a:p>
            <a:r>
              <a:t>dilation というのは、畳み込みの9点を隣どうしではなく、何画素かおきに取るやり方です。</a:t>
            </a:r>
          </a:p>
          <a:p>
            <a:r>
              <a:t>見る点の数は9個のまま、間隔だけ広げるので、計算量もパラメータ数も変わりません。</a:t>
            </a:r>
          </a:p>
          <a:p>
            <a:r>
              <a:t>上の図が5本の枝です。1×1 が 9メートル、d=2 が 45、d=4 が 81、d=8 が 152、</a:t>
            </a:r>
          </a:p>
          <a:p>
            <a:r>
              <a:t>そして大域プーリングがタイル全体の 573メートル。</a:t>
            </a:r>
          </a:p>
          <a:p>
            <a:r>
              <a:t>d=4 の 81メートルを強調しているのは、これが箇所の典型サイズそのものだからです。</a:t>
            </a:r>
          </a:p>
          <a:p>
            <a:r>
              <a:t>5本それぞれ64チャネルを出して横に連結し、1×1 で 256チャネルに戻して、</a:t>
            </a:r>
          </a:p>
          <a:p>
            <a:r>
              <a:t>残差で skip2 に足し戻します。</a:t>
            </a:r>
          </a:p>
          <a:p>
            <a:r>
              <a:t>残差にしてあるので、役に立たなければ足す量をゼロにして元のスキップを使えます。</a:t>
            </a:r>
          </a:p>
          <a:p>
            <a:r>
              <a:t>右下の2つが、なぜこの形かという説明です。</a:t>
            </a:r>
          </a:p>
          <a:p>
            <a:r>
              <a:t>広く見たいだけならプーリングで縮めればいいのですが、縮めると位置が粗くなる。</a:t>
            </a:r>
          </a:p>
          <a:p>
            <a:r>
              <a:t>dilation なら 64×64 のまま広く見られます。</a:t>
            </a:r>
          </a:p>
          <a:p>
            <a:r>
              <a:t>TransUNet は 8×8 まで縮めたあとに大域文脈を足していたので、そこが決定的に違います。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ASPP の結果です。上の表は、本体の出力ではなく補助ヘッド単体の性能です。</a:t>
            </a:r>
          </a:p>
          <a:p>
            <a:r>
              <a:t>受容野が 26.9メートルから 573メートルまで広がって、F値が 0.5754 から 0.6944。</a:t>
            </a:r>
          </a:p>
          <a:p>
            <a:r>
              <a:t>0.119 の改善です。文脈不足という診断は完全に正しかった。</a:t>
            </a:r>
          </a:p>
          <a:p>
            <a:r>
              <a:t>ところが、です。本体の出力は 0.009 しか動きません。13倍の差です。</a:t>
            </a:r>
          </a:p>
          <a:p>
            <a:r>
              <a:t>結論は下に書いたとおりで、スキップ接続の質を上げても、デコーダはそれを使わない。</a:t>
            </a:r>
          </a:p>
          <a:p>
            <a:r>
              <a:t>文脈不足という診断は正しかったが、文脈を足す場所が間違っていた、ということになります。</a:t>
            </a:r>
          </a:p>
          <a:p>
            <a:r>
              <a:t>逆方向からも確かめました。補助ヘッドの予測を本体出力に OR で統合すると、</a:t>
            </a:r>
          </a:p>
          <a:p>
            <a:r>
              <a:t>箇所Precision が 0.750 から 0.300 に崩壊します。信号はあるけれど鋭くない。</a:t>
            </a:r>
          </a:p>
          <a:p>
            <a:r>
              <a:t>ここが研究として一番面白いところで、改善しなかったこと自体が情報になっています。</a:t>
            </a:r>
          </a:p>
          <a:p>
            <a:r>
              <a:t>デコーダがどの経路を信用しているかが分かりました。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ASPP の結果から、デコーダが信用しているのはボトルネック経路のほうだと読みました。</a:t>
            </a:r>
          </a:p>
          <a:p>
            <a:r>
              <a:t>ならばそちらの解像度を上げれば効くはずです。</a:t>
            </a:r>
          </a:p>
          <a:p>
            <a:r>
              <a:t>ボトルネックは 8×8 で、1画素が 71.7メートル。300画素以下の箇所はここで1画素未満になります。</a:t>
            </a:r>
          </a:p>
          <a:p>
            <a:r>
              <a:t>そこでプーリングを1段抜いて、16×16、1画素 35.8メートルで計算します。</a:t>
            </a:r>
          </a:p>
          <a:p>
            <a:r>
              <a:t>ただし縮めるのをやめた分だけ受容野が狭くなるので、</a:t>
            </a:r>
          </a:p>
          <a:p>
            <a:r>
              <a:t>ボトルネックの畳み込みに dilation=2 を入れて補いました。</a:t>
            </a:r>
          </a:p>
          <a:p>
            <a:r>
              <a:t>従来は 8×8 で5画素ぶん 358メートル、新しいほうは 16×16 で9画素ぶん 323メートル。</a:t>
            </a:r>
          </a:p>
          <a:p>
            <a:r>
              <a:t>ほぼ同じ範囲を保てます。</a:t>
            </a:r>
          </a:p>
          <a:p>
            <a:r>
              <a:t>代償はメモリで、約4倍になります。</a:t>
            </a:r>
          </a:p>
          <a:p>
            <a:r>
              <a:t>出力ストライド4、32×32 まで上げる版も実装しましたが、</a:t>
            </a:r>
          </a:p>
          <a:p>
            <a:r>
              <a:t>ストライド8 が出発点を超えなかったので学習は保留しています。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結果です。読みは支持されませんでした。</a:t>
            </a:r>
          </a:p>
          <a:p>
            <a:r>
              <a:t>解像度を2倍にしても、スキップ側に ASPP を入れただけの条件の 0.009 を、</a:t>
            </a:r>
          </a:p>
          <a:p>
            <a:r>
              <a:t>面積F で超えません。0.007 止まりです。</a:t>
            </a:r>
          </a:p>
          <a:p>
            <a:r>
              <a:t>前のページとあわせると、スキップ側もボトルネック側も律速ではないことになります。</a:t>
            </a:r>
          </a:p>
          <a:p>
            <a:r>
              <a:t>ここで「U-Net のどの層を触っても動かない」ことが見えてきました。</a:t>
            </a:r>
          </a:p>
          <a:p>
            <a:r>
              <a:t>触ったのはエンコーダ、スキップ、ボトルネック、デコーダへの入力、損失、入力データの6か所。</a:t>
            </a:r>
          </a:p>
          <a:p>
            <a:r>
              <a:t>全部ハズレです。</a:t>
            </a:r>
          </a:p>
          <a:p>
            <a:r>
              <a:t>では、どこで失敗しているのか。これが次の第4章になります。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最後にもう1つ、渡し方そのものを変える案です。</a:t>
            </a:r>
          </a:p>
          <a:p>
            <a:r>
              <a:t>ここまでは「スキップに何を足すか」でしたが、今度は「どう渡すか」を変えます。</a:t>
            </a:r>
          </a:p>
          <a:p>
            <a:r>
              <a:t>UNet3+ の考え方で、デコーダの各段が全解像度のスキップを受け取る形です。</a:t>
            </a:r>
          </a:p>
          <a:p>
            <a:r>
              <a:t>浅い段は縮小、深い段は拡大してから渡します。</a:t>
            </a:r>
          </a:p>
          <a:p>
            <a:r>
              <a:t>表のとおり実装と VRAM の見積もりまで終えていますが、学習はまだです。</a:t>
            </a:r>
          </a:p>
          <a:p>
            <a:r>
              <a:t>同系統が効かなかったので優先度を下げました。</a:t>
            </a:r>
          </a:p>
          <a:p>
            <a:r>
              <a:t>下に1行書いていますが、畳み込みの順番を誤ると1ステップ 24.6秒かかりました。</a:t>
            </a:r>
          </a:p>
          <a:p>
            <a:r>
              <a:t>先に縮めてから畳み込むか、畳み込んでから縮めるかで計算量が桁違いになります。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損失関数の話です。画素単位で平均を取ると、</a:t>
            </a:r>
          </a:p>
          <a:p>
            <a:r>
              <a:t>小さい箇所は大きい箇所に比べて 8.45倍も過小評価されます。</a:t>
            </a:r>
          </a:p>
          <a:p>
            <a:r>
              <a:t>1000画素の箇所は損失に1000画素ぶん効きますが、100画素の箇所は100画素ぶんしか効かない。</a:t>
            </a:r>
          </a:p>
          <a:p>
            <a:r>
              <a:t>AI にとっては大きい箇所を当てるほうが得になります。</a:t>
            </a:r>
          </a:p>
          <a:p>
            <a:r>
              <a:t>そこで、箇所ごとに重みの総和が揃うよう正規化した損失を作りました。</a:t>
            </a:r>
          </a:p>
          <a:p>
            <a:r>
              <a:t>強さを p で調整します。</a:t>
            </a:r>
          </a:p>
          <a:p>
            <a:r>
              <a:t>結果が非単調でした。p を 0.5 から 1.0 に強めたら、出発点より下がってしまった。</a:t>
            </a:r>
          </a:p>
          <a:p>
            <a:r>
              <a:t>p=1.0 は過小評価の 8.45倍をちょうど打ち消す設定として選んだのに、悪化しています。</a:t>
            </a:r>
          </a:p>
          <a:p>
            <a:r>
              <a:t>理由は右に書いたとおりです。</a:t>
            </a:r>
          </a:p>
          <a:p>
            <a:r>
              <a:t>被覆 0.5 を落ちた箇所の 69.4% は「1画素も出ていない」状態で、</a:t>
            </a:r>
          </a:p>
          <a:p>
            <a:r>
              <a:t>ロジットが負に張り付いて勾配が飽和しています。</a:t>
            </a:r>
          </a:p>
          <a:p>
            <a:r>
              <a:t>勾配がゼロというのは、どっちに動かせばいいか分からない状態なので、</a:t>
            </a:r>
          </a:p>
          <a:p>
            <a:r>
              <a:t>重みを8倍しても、ゼロかける8はゼロで何も起きません。</a:t>
            </a:r>
          </a:p>
          <a:p>
            <a:r>
              <a:t>重み付けが届くのは「あと少しで当たる画素」だけで、それは全体の 5.9% しかない。</a:t>
            </a:r>
          </a:p>
          <a:p>
            <a:r>
              <a:t>教訓としては、設計の意図どおりに動かないときは、</a:t>
            </a:r>
          </a:p>
          <a:p>
            <a:r>
              <a:t>機構より先に勾配が届いているかを見るべきでした。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背景タイルを学習に混ぜる実験です。</a:t>
            </a:r>
          </a:p>
          <a:p>
            <a:r>
              <a:t>従来は警戒区域を含むタイルだけで学習していましたが、</a:t>
            </a:r>
          </a:p>
          <a:p>
            <a:r>
              <a:t>実運用では背景が6割を占めるので、背景タイルを1割混ぜて</a:t>
            </a:r>
          </a:p>
          <a:p>
            <a:r>
              <a:t>「出さないこと」も学ばせました。</a:t>
            </a:r>
          </a:p>
          <a:p>
            <a:r>
              <a:t>狙いは達成しています。島根の背景での過検出画素が 21万画素減りました。</a:t>
            </a:r>
          </a:p>
          <a:p>
            <a:r>
              <a:t>ただし F値は下がります。棄却を学ぶことと警戒区域を当てることはトレードオフで、</a:t>
            </a:r>
          </a:p>
          <a:p>
            <a:r>
              <a:t>後者が下がりました。</a:t>
            </a:r>
          </a:p>
          <a:p>
            <a:r>
              <a:t>副作用もあります。誤検出の画素数は減ったのに、</a:t>
            </a:r>
          </a:p>
          <a:p>
            <a:r>
              <a:t>誤検出が出てしまうタイル数は島根で 3,848枚から 5,456枚に増えました。</a:t>
            </a:r>
          </a:p>
          <a:p>
            <a:r>
              <a:t>濃い誤検出が狭い範囲に出ていたものが、薄く広い範囲に変わったということです。</a:t>
            </a:r>
          </a:p>
          <a:p>
            <a:r>
              <a:t>最後の1行が重いのですが、この条件は後にテスト集合の汚染が見つかって、</a:t>
            </a:r>
          </a:p>
          <a:p>
            <a:r>
              <a:t>当初「プラス 0.056 で最大の改善」と報告していた値を全面的に訂正しました。</a:t>
            </a:r>
          </a:p>
          <a:p>
            <a:r>
              <a:t>第6章でお話しします。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第4章です。8本の構造改良がどれも動かないので、</a:t>
            </a:r>
          </a:p>
          <a:p>
            <a:r>
              <a:t>どこで失敗しているのかをタイル単位・層単位で測りました。</a:t>
            </a:r>
          </a:p>
          <a:p>
            <a:r>
              <a:t>ここが今期いちばんの収穫です。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正解に1画素も重ならないタイルが 282枚、テスト 2,964枚の 9.5% ありました。</a:t>
            </a:r>
          </a:p>
          <a:p>
            <a:r>
              <a:t>その性質を、検出できたタイルと比べたのが表です。</a:t>
            </a:r>
          </a:p>
          <a:p>
            <a:r>
              <a:t>1行目。61%は正解がタイルの外周16画素の帯にしかありません。</a:t>
            </a:r>
          </a:p>
          <a:p>
            <a:r>
              <a:t>検出できたタイルでは 10.7% なので、6倍の偏りです。</a:t>
            </a:r>
          </a:p>
          <a:p>
            <a:r>
              <a:t>箇所が隣のタイルにまたがって切れていて、AI には切れ端しか見えていない。</a:t>
            </a:r>
          </a:p>
          <a:p>
            <a:r>
              <a:t>これはタイルの切り方の問題で、モデルの問題ではありません。</a:t>
            </a:r>
          </a:p>
          <a:p>
            <a:r>
              <a:t>2行目。60%は正解領域のほうが周囲より緩斜面でした。中央値でマイナス1.41度です。</a:t>
            </a:r>
          </a:p>
          <a:p>
            <a:r>
              <a:t>地形量からは「ここが危険」と判断できない。</a:t>
            </a:r>
          </a:p>
          <a:p>
            <a:r>
              <a:t>急傾斜地の指定は斜面の傾きだけでなく、ふもとに守るべき建物があるかでも決まりますが、</a:t>
            </a:r>
          </a:p>
          <a:p>
            <a:r>
              <a:t>AI は建物の情報を持っていません。入力に答えが入っていないのだから、</a:t>
            </a:r>
          </a:p>
          <a:p>
            <a:r>
              <a:t>どんなモデルでも当たりません。</a:t>
            </a:r>
          </a:p>
          <a:p>
            <a:r>
              <a:t>いずれかに該当するのが 95%。</a:t>
            </a:r>
          </a:p>
          <a:p>
            <a:r>
              <a:t>失敗の大半は、モデルの表現力不足ではなく、問題の与え方と入力の不足で説明できます。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当初は、最初の CNN やボトルネックで小さい箇所の情報が消えていると考えていました。</a:t>
            </a:r>
          </a:p>
          <a:p>
            <a:r>
              <a:t>各段の活性について、正解領域と周囲のコントラストを測って確かめました。</a:t>
            </a:r>
          </a:p>
          <a:p>
            <a:r>
              <a:t>1.0 を超えていれば、失敗タイルのほうがコントラストが強いという意味です。</a:t>
            </a:r>
          </a:p>
          <a:p>
            <a:r>
              <a:t>予想は外れました。失敗タイルでも、enc2 で 1.04倍、enc3 で 1.37倍と、</a:t>
            </a:r>
          </a:p>
          <a:p>
            <a:r>
              <a:t>検出できたタイルと同等かむしろ高い。</a:t>
            </a:r>
          </a:p>
          <a:p>
            <a:r>
              <a:t>エンコーダは「そこに何かある」ことをちゃんと捉えています。</a:t>
            </a:r>
          </a:p>
          <a:p>
            <a:r>
              <a:t>情報が消えているのではなく、デコーダがそれを出力に変換できていない。</a:t>
            </a:r>
          </a:p>
          <a:p>
            <a:r>
              <a:t>この測定で当初の見立てが主因でないと分かったので、</a:t>
            </a:r>
          </a:p>
          <a:p>
            <a:r>
              <a:t>以降は受容野と統合のしかたに狙いを移しました。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クラス不均衡の話です。正解の画素が全体のごく一部しかないから当たらない、</a:t>
            </a:r>
          </a:p>
          <a:p>
            <a:r>
              <a:t>というのが普通の考え方です。</a:t>
            </a:r>
          </a:p>
          <a:p>
            <a:r>
              <a:t>学習に使った集合では正例が 9.33%、背景を1割混ぜると 5.22%、</a:t>
            </a:r>
          </a:p>
          <a:p>
            <a:r>
              <a:t>実運用の分布だと 1.05% しかありません。</a:t>
            </a:r>
          </a:p>
          <a:p>
            <a:r>
              <a:t>ところが、正例を重く扱う箇所正規化損失はプラスマイナス 0.004 でほぼ無効でした。</a:t>
            </a:r>
          </a:p>
          <a:p>
            <a:r>
              <a:t>正例が少ないことが問題なら、ここが効くはずです。</a:t>
            </a:r>
          </a:p>
          <a:p>
            <a:r>
              <a:t>実態は「正例が少ない」のではなく「負例の多様性が足りない」でした。</a:t>
            </a:r>
          </a:p>
          <a:p>
            <a:r>
              <a:t>根拠は2つ。1つめ、bg_ratio は正例の割合を 9.33% から 5.22% に下げた、</a:t>
            </a:r>
          </a:p>
          <a:p>
            <a:r>
              <a:t>つまり不均衡を悪化させたのに、背景での過検出は確実に減りました。</a:t>
            </a:r>
          </a:p>
          <a:p>
            <a:r>
              <a:t>負例を見せたことが効いています。</a:t>
            </a:r>
          </a:p>
          <a:p>
            <a:r>
              <a:t>2つめ、逆に正例を重くする損失は非単調で、強めると下がった。正例側に伸びしろがない。</a:t>
            </a:r>
          </a:p>
          <a:p>
            <a:r>
              <a:t>不均衡を悪化させたほうが良くなった、というのが決定的です。</a:t>
            </a:r>
          </a:p>
          <a:p>
            <a:r>
              <a:t>この診断の使いみちとして、疑似データで正例を増やす方向は優先度が低い。</a:t>
            </a:r>
          </a:p>
          <a:p>
            <a:r>
              <a:t>むしろ実運用の分布に近い負例をどう見せるかが課題になります。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第5章、唯一効いたものです。</a:t>
            </a:r>
          </a:p>
          <a:p>
            <a:r>
              <a:t>失敗の 61% が「正解がタイルの外周にある」なら、タイルの切り方を変えればいい。</a:t>
            </a:r>
          </a:p>
          <a:p>
            <a:r>
              <a:t>学習はやり直さず、推論のやり方だけを変えました。</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仕組みです。対象のタイルと、その周り8枚を貼り合わせて 384×384 にします。</a:t>
            </a:r>
          </a:p>
          <a:p>
            <a:r>
              <a:t>そこから 64画素ずつずらした9つの窓で推論する。</a:t>
            </a:r>
          </a:p>
          <a:p>
            <a:r>
              <a:t>窓をずらすと、外周にあった箇所がどれかの窓では中心に来ます。</a:t>
            </a:r>
          </a:p>
          <a:p>
            <a:r>
              <a:t>左の図の外周16画素の帯は、面積でいうと 43.75% を占めています。</a:t>
            </a:r>
          </a:p>
          <a:p>
            <a:r>
              <a:t>失敗タイルの 61% は正解がここにしかない。検出できたタイルでは 10.7% です。</a:t>
            </a:r>
          </a:p>
          <a:p>
            <a:r>
              <a:t>9つの窓の予測は、中心ほど重い cos 窓で平均して1枚にまとめます。</a:t>
            </a:r>
          </a:p>
          <a:p>
            <a:r>
              <a:t>条件としては、広島の全タイルが格子に重複なく載るので貼り合わせが成立します。</a:t>
            </a:r>
          </a:p>
          <a:p>
            <a:r>
              <a:t>8近傍が揃うタイルは 93.9%、欠けた分は中央タイルの鏡像で埋めています。</a:t>
            </a:r>
          </a:p>
          <a:p>
            <a:r>
              <a:t>代わりに推論コストは9倍になります。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結果です。3つの重みで試して、箇所F が 0.047 から 0.060 上がりました。</a:t>
            </a:r>
          </a:p>
          <a:p>
            <a:r>
              <a:t>どの重みでも効きます。</a:t>
            </a:r>
          </a:p>
          <a:p>
            <a:r>
              <a:t>境界で切れていた箇所 172個のうち 103個、59.9% を救済できました。</a:t>
            </a:r>
          </a:p>
          <a:p>
            <a:r>
              <a:t>学習側のどの改良もプラスマイナス 0.01 の範囲だったのに対して、</a:t>
            </a:r>
          </a:p>
          <a:p>
            <a:r>
              <a:t>これは一桁大きく、しかも再学習が要りません。</a:t>
            </a:r>
          </a:p>
          <a:p>
            <a:r>
              <a:t>モデルではなく、タイルの切り方が最大のボトルネックだったということです。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ただし、統合のしかたを誤ると効果が消えます。</a:t>
            </a:r>
          </a:p>
          <a:p>
            <a:r>
              <a:t>単純平均にすると、境界付近の予測が薄まって Recall が落ちます。</a:t>
            </a:r>
          </a:p>
          <a:p>
            <a:r>
              <a:t>最大を取ると、どれか1つの窓の誤検出を拾って Precision が落ちます。</a:t>
            </a:r>
          </a:p>
          <a:p>
            <a:r>
              <a:t>採用したのは cos 窓で、中心ほど重く平均して、窓の端の不確かな予測を弱めます。</a:t>
            </a:r>
          </a:p>
          <a:p>
            <a:r>
              <a:t>差は 0.047 あって、これは施策そのものの効果と同じ大きさです。</a:t>
            </a:r>
          </a:p>
          <a:p>
            <a:r>
              <a:t>やり方を変える施策では、ハイパーパラメータ1つが施策の有無と同じだけ効く。</a:t>
            </a:r>
          </a:p>
          <a:p>
            <a:r>
              <a:t>なお、この比較は当時のテスト集合で測ったので絶対値は高めに出ていますが、</a:t>
            </a:r>
          </a:p>
          <a:p>
            <a:r>
              <a:t>規則どうしの大小関係は変わりません。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第6章です。結果そのものと同じくらい大きかったのが、実験の管理のしかたでした。</a:t>
            </a:r>
          </a:p>
          <a:p>
            <a:r>
              <a:t>途中で、報告していた値が間違っていたことが分かりました。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テスト用のデータに、学習に使ったデータが混ざっていました。</a:t>
            </a:r>
          </a:p>
          <a:p>
            <a:r>
              <a:t>答えを見ながらテストを受けたのと同じで、点数が意味を持ちません。</a:t>
            </a:r>
          </a:p>
          <a:p>
            <a:r>
              <a:t>原因です。データを分けるのに train_test_split を使っているのですが、</a:t>
            </a:r>
          </a:p>
          <a:p>
            <a:r>
              <a:t>これは要素数に依存するので、同じ random_state=42 でも対象が違えば別の分割になります。</a:t>
            </a:r>
          </a:p>
          <a:p>
            <a:r>
              <a:t>学習ノートブックは背景込み 17,149件を分割していたのに対して、</a:t>
            </a:r>
          </a:p>
          <a:p>
            <a:r>
              <a:t>評価スクリプトは警戒ありのみ 14,816件を分割していました。</a:t>
            </a:r>
          </a:p>
          <a:p>
            <a:r>
              <a:t>分割ロジックが2か所にあって、食い違っていた。</a:t>
            </a:r>
          </a:p>
          <a:p>
            <a:r>
              <a:t>結果、評価に使った 2,964枚のうち 1,746枚、58.9% が学習に使ったタイルでした。</a:t>
            </a:r>
          </a:p>
          <a:p>
            <a:r>
              <a:t>影響は下の表のとおりで、F値が 0.065 から 0.070 も過大に出ていました。</a:t>
            </a:r>
          </a:p>
          <a:p>
            <a:r>
              <a:t>結論も2つひっくり返っています。</a:t>
            </a:r>
          </a:p>
          <a:p>
            <a:r>
              <a:t>bg_ratio が最大の改善というのは誤りで、実際は 0.009 の悪化でした。</a:t>
            </a:r>
          </a:p>
          <a:p>
            <a:r>
              <a:t>ストライド8 が唯一 bg10 を超えたというのも誤りです。</a:t>
            </a:r>
          </a:p>
          <a:p>
            <a:r>
              <a:t>汚染していた評価58件を削除して、分割ロジックを直して全条件を測り直し、</a:t>
            </a:r>
          </a:p>
          <a:p>
            <a:r>
              <a:t>まとめ資料も全面改訂しました。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再発を防ぐために直したことです。</a:t>
            </a:r>
          </a:p>
          <a:p>
            <a:r>
              <a:t>1つめ、テスト集合の定義が2か所にあったのが根本原因なので、</a:t>
            </a:r>
          </a:p>
          <a:p>
            <a:r>
              <a:t>共通ライブラリに1つ置いて両方から呼ぶ形にしました。</a:t>
            </a:r>
          </a:p>
          <a:p>
            <a:r>
              <a:t>2つめ、エポック数と bg_ratio がノートブックに直書きされていて、</a:t>
            </a:r>
          </a:p>
          <a:p>
            <a:r>
              <a:t>設定ファイルの値が無視されていました。設定から読むよう全ノートブックを直しました。</a:t>
            </a:r>
          </a:p>
          <a:p>
            <a:r>
              <a:t>3つめ、結果を1件1ファイルの JSON で残す形にしました。</a:t>
            </a:r>
          </a:p>
          <a:p>
            <a:r>
              <a:t>条件、機械、日時、テスト集合、評価方式を記録して、そこから表を組み立てます。いま614件です。</a:t>
            </a:r>
          </a:p>
          <a:p>
            <a:r>
              <a:t>4つめ、早期終了を入れました。最良エポックは 41 から 73 だったので、</a:t>
            </a:r>
          </a:p>
          <a:p>
            <a:r>
              <a:t>1000エポック回していた時間の8割以上が無駄でした。</a:t>
            </a:r>
          </a:p>
          <a:p>
            <a:r>
              <a:t>運用面でも、2台のPCでブランチを分けて並行に学習し、PR 経由で統合する形にしました。</a:t>
            </a:r>
          </a:p>
          <a:p>
            <a:r>
              <a:t>重みは容量が大きいので外部SSDに置いて、リポジトリには入れていません。</a:t>
            </a:r>
          </a:p>
          <a:p>
            <a:r>
              <a:t>教訓は「同じ情報が2か所にあると、いつか食い違う」ということです。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総括です。出発点は面積F 0.6727、箇所F 0.6506。</a:t>
            </a:r>
          </a:p>
          <a:p>
            <a:r>
              <a:t>判定の基準を明示しています。既存4構造が収まる帯が 0.672 から 0.681、</a:t>
            </a:r>
          </a:p>
          <a:p>
            <a:r>
              <a:t>検証F1 上位10エポックのゆらぎ幅が 0.003 から 0.005。</a:t>
            </a:r>
          </a:p>
          <a:p>
            <a:r>
              <a:t>この帯とゆらぎを超えたのは、データ拡張だけでした。</a:t>
            </a:r>
          </a:p>
          <a:p>
            <a:r>
              <a:t>8本の構造改良は、上から順に並べても全部この帯の中か、下です。</a:t>
            </a:r>
          </a:p>
          <a:p>
            <a:r>
              <a:t>一方、オーバーラップ推論は学習不要で箇所F が 0.047 から 0.060。</a:t>
            </a:r>
          </a:p>
          <a:p>
            <a:r>
              <a:t>学習側の最良であるデータ拡張の 0.025 の2倍以上です。</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分かったことを4つにまとめました。</a:t>
            </a:r>
          </a:p>
          <a:p>
            <a:r>
              <a:t>1つめ、U-Net の内部をどう触ってもプラスマイナス 0.01 しか動かない。</a:t>
            </a:r>
          </a:p>
          <a:p>
            <a:r>
              <a:t>6か所を触りましたが、どれも律速ではありませんでした。</a:t>
            </a:r>
          </a:p>
          <a:p>
            <a:r>
              <a:t>2つめ、スキップ接続の質はデコーダにとって律速ではない。</a:t>
            </a:r>
          </a:p>
          <a:p>
            <a:r>
              <a:t>補助ヘッド単体は 0.119 改善したのに、本体は 0.009 しか動きませんでした。</a:t>
            </a:r>
          </a:p>
          <a:p>
            <a:r>
              <a:t>3つめ、失敗の 61% はタイルの切り方で説明できる。</a:t>
            </a:r>
          </a:p>
          <a:p>
            <a:r>
              <a:t>4つめ、そのタイルの切り方を変えるだけで 0.05 動く。</a:t>
            </a:r>
          </a:p>
          <a:p>
            <a:r>
              <a:t>結論です。モデルが悪いのではなく、問題の与え方が悪い。</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今後の予定です。</a:t>
            </a:r>
          </a:p>
          <a:p>
            <a:r>
              <a:t>1番、オーバーラップ推論を島根でも測ります。</a:t>
            </a:r>
          </a:p>
          <a:p>
            <a:r>
              <a:t>広島では近傍タイルに学習データが含まれるので、その影響を外す必要があります。</a:t>
            </a:r>
          </a:p>
          <a:p>
            <a:r>
              <a:t>2番、窓数と統合の重みを詰めます。いまは9窓と cos 窓しか試していません。</a:t>
            </a:r>
          </a:p>
          <a:p>
            <a:r>
              <a:t>3番と4番が本命で、どちらも入力を増やす方向です。</a:t>
            </a:r>
          </a:p>
          <a:p>
            <a:r>
              <a:t>航空写真はいま9倍に縮めて情報を捨てているので、解像度を戻す。</a:t>
            </a:r>
          </a:p>
          <a:p>
            <a:r>
              <a:t>そして建物や土地利用を入力に足す。</a:t>
            </a:r>
          </a:p>
          <a:p>
            <a:r>
              <a:t>当てられないタイルの 60% は傾斜コントラストが負で、地形からは答えが出ないからです。</a:t>
            </a:r>
          </a:p>
          <a:p>
            <a:r>
              <a:t>5番、複数シードで再現性を確かめます。0.005 の差を議論する前提になります。</a:t>
            </a:r>
          </a:p>
          <a:p>
            <a:r>
              <a:t>学習側の工夫が一通り尽きた以上、入力に無い情報を足すしか残っていない、</a:t>
            </a:r>
          </a:p>
          <a:p>
            <a:r>
              <a:t>というのがここまでの結論です。</a:t>
            </a:r>
          </a:p>
          <a:p>
            <a:r>
              <a:t>これは最初にお見せした、航空写真を足すと 0.08 から 0.20 上がるという話に戻ってきます。</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付録です。第3章で使った補助ヘッドの中身を補足します。</a:t>
            </a:r>
          </a:p>
          <a:p>
            <a:r>
              <a:t>4段あって、Conv 3×3 が周り3画素を見て 256チャネルを 64チャネルに要約します。</a:t>
            </a:r>
          </a:p>
          <a:p>
            <a:r>
              <a:t>次が BN、バッチ正規化です。</a:t>
            </a:r>
          </a:p>
          <a:p>
            <a:r>
              <a:t>32枚ぶんの平均を引いて、ばらつきで割って、学習で決まる倍率とゲタを掛け足す。</a:t>
            </a:r>
          </a:p>
          <a:p>
            <a:r>
              <a:t>テストの点を偏差値に直すのと同じで、数値のばらつきを揃える層です。</a:t>
            </a:r>
          </a:p>
          <a:p>
            <a:r>
              <a:t>層を重ねると数値が暴れるので、各段で揃えると学習が速く安定します。</a:t>
            </a:r>
          </a:p>
          <a:p>
            <a:r>
              <a:t>ReLU はマイナスをゼロにする層で、これが無いと何段重ねても1段と同じになってしまいます。</a:t>
            </a:r>
          </a:p>
          <a:p>
            <a:r>
              <a:t>最後の Conv 1×1 で 64チャネルを1チャネルに潰して、1枚の地図にします。</a:t>
            </a:r>
          </a:p>
          <a:p>
            <a:r>
              <a:t>右のカードが受容野の話です。64×64 の段は1画素 8.96メートルなので、</a:t>
            </a:r>
          </a:p>
          <a:p>
            <a:r>
              <a:t>Conv 3×3 は3画素ぶん、26.9メートルしか見ていません。</a:t>
            </a:r>
          </a:p>
          <a:p>
            <a:r>
              <a:t>箇所の典型サイズ 81メートルには届かない。これが ASPP を入れた動機です。</a:t>
            </a:r>
          </a:p>
          <a:p>
            <a:r>
              <a:t>下に補足していますが、Conv 1×1 はチャネルをまとめ直すだけの層で、</a:t>
            </a:r>
          </a:p>
          <a:p>
            <a:r>
              <a:t>周りの画素は見ません。だから受容野を決めているのは Conv 3×3 のほうだけで、</a:t>
            </a:r>
          </a:p>
          <a:p>
            <a:r>
              <a:t>ここを広げないかぎり見える範囲は変わりません。</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2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3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313C"/>
        </a:solidFill>
        <a:effectLst/>
      </p:bgPr>
    </p:bg>
    <p:spTree>
      <p:nvGrpSpPr>
        <p:cNvPr id="1" name=""/>
        <p:cNvGrpSpPr/>
        <p:nvPr/>
      </p:nvGrpSpPr>
      <p:grpSpPr>
        <a:xfrm>
          <a:off x="0" y="0"/>
          <a:ext cx="0" cy="0"/>
          <a:chOff x="0" y="0"/>
          <a:chExt cx="0" cy="0"/>
        </a:xfrm>
      </p:grpSpPr>
      <p:sp>
        <p:nvSpPr>
          <p:cNvPr id="2" name="TextBox 1"/>
          <p:cNvSpPr txBox="1"/>
          <p:nvPr/>
        </p:nvSpPr>
        <p:spPr>
          <a:xfrm>
            <a:off x="566928" y="1783080"/>
            <a:ext cx="11057839" cy="274320"/>
          </a:xfrm>
          <a:prstGeom prst="rect">
            <a:avLst/>
          </a:prstGeom>
          <a:noFill/>
        </p:spPr>
        <p:txBody>
          <a:bodyPr wrap="square" lIns="0" tIns="0" rIns="0" bIns="0">
            <a:spAutoFit/>
          </a:bodyPr>
          <a:lstStyle/>
          <a:p>
            <a:pPr algn="l"/>
            <a:r>
              <a:rPr sz="1300" b="1">
                <a:solidFill>
                  <a:srgbClr val="A7BEAE"/>
                </a:solidFill>
                <a:latin typeface="Meiryo"/>
                <a:ea typeface="Meiryo"/>
                <a:cs typeface="Meiryo"/>
              </a:rPr>
              <a:t>2026年 夏期 進捗報告</a:t>
            </a:r>
          </a:p>
        </p:txBody>
      </p:sp>
      <p:sp>
        <p:nvSpPr>
          <p:cNvPr id="3" name="TextBox 2"/>
          <p:cNvSpPr txBox="1"/>
          <p:nvPr/>
        </p:nvSpPr>
        <p:spPr>
          <a:xfrm>
            <a:off x="566928" y="2148840"/>
            <a:ext cx="10326319" cy="1371600"/>
          </a:xfrm>
          <a:prstGeom prst="rect">
            <a:avLst/>
          </a:prstGeom>
          <a:noFill/>
        </p:spPr>
        <p:txBody>
          <a:bodyPr wrap="square" lIns="0" tIns="0" rIns="0" bIns="0">
            <a:spAutoFit/>
          </a:bodyPr>
          <a:lstStyle/>
          <a:p>
            <a:pPr algn="l"/>
            <a:r>
              <a:rPr sz="4200" b="1">
                <a:solidFill>
                  <a:srgbClr val="FFFFFF"/>
                </a:solidFill>
                <a:latin typeface="Meiryo"/>
                <a:ea typeface="Meiryo"/>
                <a:cs typeface="Meiryo"/>
              </a:rPr>
              <a:t>急傾斜地崩壊危険区域の自動抽出</a:t>
            </a:r>
          </a:p>
        </p:txBody>
      </p:sp>
      <p:sp>
        <p:nvSpPr>
          <p:cNvPr id="4" name="TextBox 3"/>
          <p:cNvSpPr txBox="1"/>
          <p:nvPr/>
        </p:nvSpPr>
        <p:spPr>
          <a:xfrm>
            <a:off x="566928" y="3547872"/>
            <a:ext cx="9960559" cy="822960"/>
          </a:xfrm>
          <a:prstGeom prst="rect">
            <a:avLst/>
          </a:prstGeom>
          <a:noFill/>
        </p:spPr>
        <p:txBody>
          <a:bodyPr wrap="square" lIns="0" tIns="0" rIns="0" bIns="0">
            <a:spAutoFit/>
          </a:bodyPr>
          <a:lstStyle/>
          <a:p>
            <a:pPr algn="l">
              <a:lnSpc>
                <a:spcPct val="140000"/>
              </a:lnSpc>
            </a:pPr>
            <a:r>
              <a:rPr sz="1800" b="1">
                <a:solidFill>
                  <a:srgbClr val="FFFFFF"/>
                </a:solidFill>
                <a:latin typeface="Meiryo"/>
                <a:ea typeface="Meiryo"/>
                <a:cs typeface="Meiryo"/>
              </a:rPr>
              <a:t>U-Net の内部をどこまで触れば精度が上がるのか</a:t>
            </a:r>
            <a:r>
              <a:rPr sz="1800" b="0">
                <a:solidFill>
                  <a:srgbClr val="A7BEAE"/>
                </a:solidFill>
                <a:latin typeface="Meiryo"/>
                <a:ea typeface="Meiryo"/>
                <a:cs typeface="Meiryo"/>
              </a:rPr>
              <a:t>　—— 29条件の実験で確かめた</a:t>
            </a:r>
          </a:p>
        </p:txBody>
      </p:sp>
      <p:sp>
        <p:nvSpPr>
          <p:cNvPr id="5" name="TextBox 4"/>
          <p:cNvSpPr txBox="1"/>
          <p:nvPr/>
        </p:nvSpPr>
        <p:spPr>
          <a:xfrm>
            <a:off x="566928" y="4617720"/>
            <a:ext cx="2651760" cy="502920"/>
          </a:xfrm>
          <a:prstGeom prst="rect">
            <a:avLst/>
          </a:prstGeom>
          <a:noFill/>
        </p:spPr>
        <p:txBody>
          <a:bodyPr wrap="square" lIns="0" tIns="0" rIns="0" bIns="0">
            <a:spAutoFit/>
          </a:bodyPr>
          <a:lstStyle/>
          <a:p>
            <a:pPr algn="l"/>
            <a:r>
              <a:rPr sz="3000" b="1">
                <a:solidFill>
                  <a:srgbClr val="FFFFFF"/>
                </a:solidFill>
                <a:latin typeface="Meiryo"/>
                <a:ea typeface="Meiryo"/>
                <a:cs typeface="Meiryo"/>
              </a:rPr>
              <a:t>29</a:t>
            </a:r>
          </a:p>
        </p:txBody>
      </p:sp>
      <p:sp>
        <p:nvSpPr>
          <p:cNvPr id="6" name="TextBox 5"/>
          <p:cNvSpPr txBox="1"/>
          <p:nvPr/>
        </p:nvSpPr>
        <p:spPr>
          <a:xfrm>
            <a:off x="566928" y="5138928"/>
            <a:ext cx="2651760" cy="274320"/>
          </a:xfrm>
          <a:prstGeom prst="rect">
            <a:avLst/>
          </a:prstGeom>
          <a:noFill/>
        </p:spPr>
        <p:txBody>
          <a:bodyPr wrap="square" lIns="0" tIns="0" rIns="0" bIns="0">
            <a:spAutoFit/>
          </a:bodyPr>
          <a:lstStyle/>
          <a:p>
            <a:pPr algn="l"/>
            <a:r>
              <a:rPr sz="1200" b="0">
                <a:solidFill>
                  <a:srgbClr val="A7BEAE"/>
                </a:solidFill>
                <a:latin typeface="Meiryo"/>
                <a:ea typeface="Meiryo"/>
                <a:cs typeface="Meiryo"/>
              </a:rPr>
              <a:t>学習した条件</a:t>
            </a:r>
          </a:p>
        </p:txBody>
      </p:sp>
      <p:sp>
        <p:nvSpPr>
          <p:cNvPr id="7" name="TextBox 6"/>
          <p:cNvSpPr txBox="1"/>
          <p:nvPr/>
        </p:nvSpPr>
        <p:spPr>
          <a:xfrm>
            <a:off x="3355848" y="4617720"/>
            <a:ext cx="2651760" cy="502920"/>
          </a:xfrm>
          <a:prstGeom prst="rect">
            <a:avLst/>
          </a:prstGeom>
          <a:noFill/>
        </p:spPr>
        <p:txBody>
          <a:bodyPr wrap="square" lIns="0" tIns="0" rIns="0" bIns="0">
            <a:spAutoFit/>
          </a:bodyPr>
          <a:lstStyle/>
          <a:p>
            <a:pPr algn="l"/>
            <a:r>
              <a:rPr sz="3000" b="1">
                <a:solidFill>
                  <a:srgbClr val="FFFFFF"/>
                </a:solidFill>
                <a:latin typeface="Meiryo"/>
                <a:ea typeface="Meiryo"/>
                <a:cs typeface="Meiryo"/>
              </a:rPr>
              <a:t>8</a:t>
            </a:r>
          </a:p>
        </p:txBody>
      </p:sp>
      <p:sp>
        <p:nvSpPr>
          <p:cNvPr id="8" name="TextBox 7"/>
          <p:cNvSpPr txBox="1"/>
          <p:nvPr/>
        </p:nvSpPr>
        <p:spPr>
          <a:xfrm>
            <a:off x="3355848" y="5138928"/>
            <a:ext cx="2651760" cy="274320"/>
          </a:xfrm>
          <a:prstGeom prst="rect">
            <a:avLst/>
          </a:prstGeom>
          <a:noFill/>
        </p:spPr>
        <p:txBody>
          <a:bodyPr wrap="square" lIns="0" tIns="0" rIns="0" bIns="0">
            <a:spAutoFit/>
          </a:bodyPr>
          <a:lstStyle/>
          <a:p>
            <a:pPr algn="l"/>
            <a:r>
              <a:rPr sz="1200" b="0">
                <a:solidFill>
                  <a:srgbClr val="A7BEAE"/>
                </a:solidFill>
                <a:latin typeface="Meiryo"/>
                <a:ea typeface="Meiryo"/>
                <a:cs typeface="Meiryo"/>
              </a:rPr>
              <a:t>自作した構造</a:t>
            </a:r>
          </a:p>
        </p:txBody>
      </p:sp>
      <p:sp>
        <p:nvSpPr>
          <p:cNvPr id="9" name="TextBox 8"/>
          <p:cNvSpPr txBox="1"/>
          <p:nvPr/>
        </p:nvSpPr>
        <p:spPr>
          <a:xfrm>
            <a:off x="6144768" y="4617720"/>
            <a:ext cx="2651760" cy="502920"/>
          </a:xfrm>
          <a:prstGeom prst="rect">
            <a:avLst/>
          </a:prstGeom>
          <a:noFill/>
        </p:spPr>
        <p:txBody>
          <a:bodyPr wrap="square" lIns="0" tIns="0" rIns="0" bIns="0">
            <a:spAutoFit/>
          </a:bodyPr>
          <a:lstStyle/>
          <a:p>
            <a:pPr algn="l"/>
            <a:r>
              <a:rPr sz="3000" b="1">
                <a:solidFill>
                  <a:srgbClr val="FFFFFF"/>
                </a:solidFill>
                <a:latin typeface="Meiryo"/>
                <a:ea typeface="Meiryo"/>
                <a:cs typeface="Meiryo"/>
              </a:rPr>
              <a:t>4</a:t>
            </a:r>
          </a:p>
        </p:txBody>
      </p:sp>
      <p:sp>
        <p:nvSpPr>
          <p:cNvPr id="10" name="TextBox 9"/>
          <p:cNvSpPr txBox="1"/>
          <p:nvPr/>
        </p:nvSpPr>
        <p:spPr>
          <a:xfrm>
            <a:off x="6144768" y="5138928"/>
            <a:ext cx="2651760" cy="274320"/>
          </a:xfrm>
          <a:prstGeom prst="rect">
            <a:avLst/>
          </a:prstGeom>
          <a:noFill/>
        </p:spPr>
        <p:txBody>
          <a:bodyPr wrap="square" lIns="0" tIns="0" rIns="0" bIns="0">
            <a:spAutoFit/>
          </a:bodyPr>
          <a:lstStyle/>
          <a:p>
            <a:pPr algn="l"/>
            <a:r>
              <a:rPr sz="1200" b="0">
                <a:solidFill>
                  <a:srgbClr val="A7BEAE"/>
                </a:solidFill>
                <a:latin typeface="Meiryo"/>
                <a:ea typeface="Meiryo"/>
                <a:cs typeface="Meiryo"/>
              </a:rPr>
              <a:t>評価の軸</a:t>
            </a:r>
          </a:p>
        </p:txBody>
      </p:sp>
      <p:sp>
        <p:nvSpPr>
          <p:cNvPr id="11" name="TextBox 10"/>
          <p:cNvSpPr txBox="1"/>
          <p:nvPr/>
        </p:nvSpPr>
        <p:spPr>
          <a:xfrm>
            <a:off x="8933688" y="4617720"/>
            <a:ext cx="2651760" cy="502920"/>
          </a:xfrm>
          <a:prstGeom prst="rect">
            <a:avLst/>
          </a:prstGeom>
          <a:noFill/>
        </p:spPr>
        <p:txBody>
          <a:bodyPr wrap="square" lIns="0" tIns="0" rIns="0" bIns="0">
            <a:spAutoFit/>
          </a:bodyPr>
          <a:lstStyle/>
          <a:p>
            <a:pPr algn="l"/>
            <a:r>
              <a:rPr sz="3000" b="1">
                <a:solidFill>
                  <a:srgbClr val="FFFFFF"/>
                </a:solidFill>
                <a:latin typeface="Meiryo"/>
                <a:ea typeface="Meiryo"/>
                <a:cs typeface="Meiryo"/>
              </a:rPr>
              <a:t>62,717</a:t>
            </a:r>
          </a:p>
        </p:txBody>
      </p:sp>
      <p:sp>
        <p:nvSpPr>
          <p:cNvPr id="12" name="TextBox 11"/>
          <p:cNvSpPr txBox="1"/>
          <p:nvPr/>
        </p:nvSpPr>
        <p:spPr>
          <a:xfrm>
            <a:off x="8933688" y="5138928"/>
            <a:ext cx="2651760" cy="274320"/>
          </a:xfrm>
          <a:prstGeom prst="rect">
            <a:avLst/>
          </a:prstGeom>
          <a:noFill/>
        </p:spPr>
        <p:txBody>
          <a:bodyPr wrap="square" lIns="0" tIns="0" rIns="0" bIns="0">
            <a:spAutoFit/>
          </a:bodyPr>
          <a:lstStyle/>
          <a:p>
            <a:pPr algn="l"/>
            <a:r>
              <a:rPr sz="1200" b="0">
                <a:solidFill>
                  <a:srgbClr val="A7BEAE"/>
                </a:solidFill>
                <a:latin typeface="Meiryo"/>
                <a:ea typeface="Meiryo"/>
                <a:cs typeface="Meiryo"/>
              </a:rPr>
              <a:t>評価したタイル</a:t>
            </a:r>
          </a:p>
        </p:txBody>
      </p:sp>
      <p:sp>
        <p:nvSpPr>
          <p:cNvPr id="13" name="TextBox 12"/>
          <p:cNvSpPr txBox="1"/>
          <p:nvPr/>
        </p:nvSpPr>
        <p:spPr>
          <a:xfrm>
            <a:off x="566928" y="5897880"/>
            <a:ext cx="11057839" cy="274320"/>
          </a:xfrm>
          <a:prstGeom prst="rect">
            <a:avLst/>
          </a:prstGeom>
          <a:noFill/>
        </p:spPr>
        <p:txBody>
          <a:bodyPr wrap="square" lIns="0" tIns="0" rIns="0" bIns="0">
            <a:spAutoFit/>
          </a:bodyPr>
          <a:lstStyle/>
          <a:p>
            <a:pPr algn="l"/>
            <a:r>
              <a:rPr sz="1250" b="0">
                <a:solidFill>
                  <a:srgbClr val="A7BEAE"/>
                </a:solidFill>
                <a:latin typeface="Meiryo"/>
                <a:ea typeface="Meiryo"/>
                <a:cs typeface="Meiryo"/>
              </a:rPr>
              <a:t>広島県で学習・島根県で汎化を検証</a:t>
            </a:r>
          </a:p>
        </p:txBody>
      </p:sp>
      <p:sp>
        <p:nvSpPr>
          <p:cNvPr id="14" name="TextBox 13"/>
          <p:cNvSpPr txBox="1"/>
          <p:nvPr/>
        </p:nvSpPr>
        <p:spPr>
          <a:xfrm>
            <a:off x="11277600" y="6455410"/>
            <a:ext cx="457200" cy="219710"/>
          </a:xfrm>
          <a:prstGeom prst="rect">
            <a:avLst/>
          </a:prstGeom>
          <a:noFill/>
        </p:spPr>
        <p:txBody>
          <a:bodyPr wrap="square" lIns="0" rIns="0" tIns="0" bIns="0">
            <a:spAutoFit/>
          </a:bodyPr>
          <a:lstStyle/>
          <a:p>
            <a:pPr algn="r"/>
            <a:r>
              <a:rPr sz="1000" b="0">
                <a:solidFill>
                  <a:srgbClr val="4A5A68"/>
                </a:solidFill>
                <a:latin typeface="Meiryo"/>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全体像</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夏期にやったこと — 3つの柱</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2</a:t>
            </a:r>
          </a:p>
        </p:txBody>
      </p:sp>
      <p:sp>
        <p:nvSpPr>
          <p:cNvPr id="5" name="Rounded Rectangle 4"/>
          <p:cNvSpPr/>
          <p:nvPr/>
        </p:nvSpPr>
        <p:spPr>
          <a:xfrm>
            <a:off x="566928" y="1426464"/>
            <a:ext cx="3547872" cy="2852928"/>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841247" y="1700784"/>
            <a:ext cx="457200" cy="457200"/>
          </a:xfrm>
          <a:prstGeom prst="ellipse">
            <a:avLst/>
          </a:prstGeom>
          <a:solidFill>
            <a:srgbClr val="3D6B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FFFFF"/>
                </a:solidFill>
                <a:latin typeface="Meiryo"/>
                <a:ea typeface="Meiryo"/>
                <a:cs typeface="Meiryo"/>
              </a:rPr>
              <a:t>1</a:t>
            </a:r>
          </a:p>
        </p:txBody>
      </p:sp>
      <p:sp>
        <p:nvSpPr>
          <p:cNvPr id="7" name="TextBox 6"/>
          <p:cNvSpPr txBox="1"/>
          <p:nvPr/>
        </p:nvSpPr>
        <p:spPr>
          <a:xfrm>
            <a:off x="841247" y="2359152"/>
            <a:ext cx="3017520" cy="457200"/>
          </a:xfrm>
          <a:prstGeom prst="rect">
            <a:avLst/>
          </a:prstGeom>
          <a:noFill/>
        </p:spPr>
        <p:txBody>
          <a:bodyPr wrap="square" lIns="0" tIns="0" rIns="0" bIns="0">
            <a:spAutoFit/>
          </a:bodyPr>
          <a:lstStyle/>
          <a:p>
            <a:pPr algn="l"/>
            <a:r>
              <a:rPr sz="1500" b="1">
                <a:solidFill>
                  <a:srgbClr val="23313C"/>
                </a:solidFill>
                <a:latin typeface="Meiryo"/>
                <a:ea typeface="Meiryo"/>
                <a:cs typeface="Meiryo"/>
              </a:rPr>
              <a:t>評価のしかたを作った</a:t>
            </a:r>
          </a:p>
        </p:txBody>
      </p:sp>
      <p:sp>
        <p:nvSpPr>
          <p:cNvPr id="8" name="TextBox 7"/>
          <p:cNvSpPr txBox="1"/>
          <p:nvPr/>
        </p:nvSpPr>
        <p:spPr>
          <a:xfrm>
            <a:off x="841247" y="2871216"/>
            <a:ext cx="2999232" cy="1280160"/>
          </a:xfrm>
          <a:prstGeom prst="rect">
            <a:avLst/>
          </a:prstGeom>
          <a:noFill/>
        </p:spPr>
        <p:txBody>
          <a:bodyPr wrap="square" lIns="0" tIns="0" rIns="0" bIns="0">
            <a:spAutoFit/>
          </a:bodyPr>
          <a:lstStyle/>
          <a:p>
            <a:pPr algn="l">
              <a:lnSpc>
                <a:spcPct val="150000"/>
              </a:lnSpc>
            </a:pPr>
            <a:r>
              <a:rPr sz="1200" b="0">
                <a:solidFill>
                  <a:srgbClr val="4A5A68"/>
                </a:solidFill>
                <a:latin typeface="Meiryo"/>
                <a:ea typeface="Meiryo"/>
                <a:cs typeface="Meiryo"/>
              </a:rPr>
              <a:t>面積（画素）だけでなく「箇所数」で数える評価を設計・実装した。飲み込み問題を定量化し、被覆方式を採用。</a:t>
            </a:r>
          </a:p>
        </p:txBody>
      </p:sp>
      <p:sp>
        <p:nvSpPr>
          <p:cNvPr id="9" name="Rounded Rectangle 8"/>
          <p:cNvSpPr/>
          <p:nvPr/>
        </p:nvSpPr>
        <p:spPr>
          <a:xfrm>
            <a:off x="4288536" y="1426464"/>
            <a:ext cx="3547872" cy="2852928"/>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4562856" y="1700784"/>
            <a:ext cx="457200" cy="457200"/>
          </a:xfrm>
          <a:prstGeom prst="ellipse">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FFFFF"/>
                </a:solidFill>
                <a:latin typeface="Meiryo"/>
                <a:ea typeface="Meiryo"/>
                <a:cs typeface="Meiryo"/>
              </a:rPr>
              <a:t>2</a:t>
            </a:r>
          </a:p>
        </p:txBody>
      </p:sp>
      <p:sp>
        <p:nvSpPr>
          <p:cNvPr id="11" name="TextBox 10"/>
          <p:cNvSpPr txBox="1"/>
          <p:nvPr/>
        </p:nvSpPr>
        <p:spPr>
          <a:xfrm>
            <a:off x="4562856" y="2359152"/>
            <a:ext cx="3017520" cy="457200"/>
          </a:xfrm>
          <a:prstGeom prst="rect">
            <a:avLst/>
          </a:prstGeom>
          <a:noFill/>
        </p:spPr>
        <p:txBody>
          <a:bodyPr wrap="square" lIns="0" tIns="0" rIns="0" bIns="0">
            <a:spAutoFit/>
          </a:bodyPr>
          <a:lstStyle/>
          <a:p>
            <a:pPr algn="l"/>
            <a:r>
              <a:rPr sz="1500" b="1" dirty="0">
                <a:solidFill>
                  <a:srgbClr val="23313C"/>
                </a:solidFill>
                <a:latin typeface="Meiryo"/>
                <a:ea typeface="Meiryo"/>
                <a:cs typeface="Meiryo"/>
              </a:rPr>
              <a:t>29条件を学習・評価した</a:t>
            </a:r>
          </a:p>
        </p:txBody>
      </p:sp>
      <p:sp>
        <p:nvSpPr>
          <p:cNvPr id="12" name="TextBox 11"/>
          <p:cNvSpPr txBox="1"/>
          <p:nvPr/>
        </p:nvSpPr>
        <p:spPr>
          <a:xfrm>
            <a:off x="4562856" y="2871216"/>
            <a:ext cx="2999232" cy="1280160"/>
          </a:xfrm>
          <a:prstGeom prst="rect">
            <a:avLst/>
          </a:prstGeom>
          <a:noFill/>
        </p:spPr>
        <p:txBody>
          <a:bodyPr wrap="square" lIns="0" tIns="0" rIns="0" bIns="0">
            <a:spAutoFit/>
          </a:bodyPr>
          <a:lstStyle/>
          <a:p>
            <a:pPr algn="l">
              <a:lnSpc>
                <a:spcPct val="150000"/>
              </a:lnSpc>
            </a:pPr>
            <a:r>
              <a:rPr sz="1200" b="0">
                <a:solidFill>
                  <a:srgbClr val="4A5A68"/>
                </a:solidFill>
                <a:latin typeface="Meiryo"/>
                <a:ea typeface="Meiryo"/>
                <a:cs typeface="Meiryo"/>
              </a:rPr>
              <a:t>既存6構造の比較に加え、U-Net の内部を触る構造改良を8種類自作して学習した。損失関数と入力の与え方も振った。</a:t>
            </a:r>
          </a:p>
        </p:txBody>
      </p:sp>
      <p:sp>
        <p:nvSpPr>
          <p:cNvPr id="13" name="Rounded Rectangle 12"/>
          <p:cNvSpPr/>
          <p:nvPr/>
        </p:nvSpPr>
        <p:spPr>
          <a:xfrm>
            <a:off x="8010144" y="1426464"/>
            <a:ext cx="3547872" cy="2852928"/>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8284464" y="1700784"/>
            <a:ext cx="457200" cy="45720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FFFFF"/>
                </a:solidFill>
                <a:latin typeface="Meiryo"/>
                <a:ea typeface="Meiryo"/>
                <a:cs typeface="Meiryo"/>
              </a:rPr>
              <a:t>3</a:t>
            </a:r>
          </a:p>
        </p:txBody>
      </p:sp>
      <p:sp>
        <p:nvSpPr>
          <p:cNvPr id="15" name="TextBox 14"/>
          <p:cNvSpPr txBox="1"/>
          <p:nvPr/>
        </p:nvSpPr>
        <p:spPr>
          <a:xfrm>
            <a:off x="8284464" y="2359152"/>
            <a:ext cx="3017520" cy="457200"/>
          </a:xfrm>
          <a:prstGeom prst="rect">
            <a:avLst/>
          </a:prstGeom>
          <a:noFill/>
        </p:spPr>
        <p:txBody>
          <a:bodyPr wrap="square" lIns="0" tIns="0" rIns="0" bIns="0">
            <a:spAutoFit/>
          </a:bodyPr>
          <a:lstStyle/>
          <a:p>
            <a:pPr algn="l"/>
            <a:r>
              <a:rPr sz="1500" b="1">
                <a:solidFill>
                  <a:srgbClr val="23313C"/>
                </a:solidFill>
                <a:latin typeface="Meiryo"/>
                <a:ea typeface="Meiryo"/>
                <a:cs typeface="Meiryo"/>
              </a:rPr>
              <a:t>なぜ効かないかを診断した</a:t>
            </a:r>
          </a:p>
        </p:txBody>
      </p:sp>
      <p:sp>
        <p:nvSpPr>
          <p:cNvPr id="16" name="TextBox 15"/>
          <p:cNvSpPr txBox="1"/>
          <p:nvPr/>
        </p:nvSpPr>
        <p:spPr>
          <a:xfrm>
            <a:off x="8284464" y="2871216"/>
            <a:ext cx="2999232" cy="1280160"/>
          </a:xfrm>
          <a:prstGeom prst="rect">
            <a:avLst/>
          </a:prstGeom>
          <a:noFill/>
        </p:spPr>
        <p:txBody>
          <a:bodyPr wrap="square" lIns="0" tIns="0" rIns="0" bIns="0">
            <a:spAutoFit/>
          </a:bodyPr>
          <a:lstStyle/>
          <a:p>
            <a:pPr algn="l">
              <a:lnSpc>
                <a:spcPct val="150000"/>
              </a:lnSpc>
            </a:pPr>
            <a:r>
              <a:rPr sz="1200" b="0">
                <a:solidFill>
                  <a:srgbClr val="4A5A68"/>
                </a:solidFill>
                <a:latin typeface="Meiryo"/>
                <a:ea typeface="Meiryo"/>
                <a:cs typeface="Meiryo"/>
              </a:rPr>
              <a:t>失敗タイルの性質、層ごとの活性、受容野を測り、律速がモデルの表現力ではないことを突き止めた。</a:t>
            </a:r>
          </a:p>
        </p:txBody>
      </p:sp>
      <p:sp>
        <p:nvSpPr>
          <p:cNvPr id="17" name="Rounded Rectangle 16"/>
          <p:cNvSpPr/>
          <p:nvPr/>
        </p:nvSpPr>
        <p:spPr>
          <a:xfrm>
            <a:off x="566928" y="4590288"/>
            <a:ext cx="11057839" cy="914400"/>
          </a:xfrm>
          <a:prstGeom prst="roundRect">
            <a:avLst>
              <a:gd name="adj" fmla="val 6000"/>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77824" y="4590288"/>
            <a:ext cx="10436047" cy="914400"/>
          </a:xfrm>
          <a:prstGeom prst="rect">
            <a:avLst/>
          </a:prstGeom>
          <a:noFill/>
        </p:spPr>
        <p:txBody>
          <a:bodyPr wrap="square" lIns="0" tIns="0" rIns="0" bIns="0" anchor="ctr">
            <a:spAutoFit/>
          </a:bodyPr>
          <a:lstStyle/>
          <a:p>
            <a:pPr algn="l">
              <a:lnSpc>
                <a:spcPct val="140000"/>
              </a:lnSpc>
            </a:pPr>
            <a:r>
              <a:rPr sz="1500" b="1">
                <a:solidFill>
                  <a:srgbClr val="A7BEAE"/>
                </a:solidFill>
                <a:latin typeface="Meiryo"/>
                <a:ea typeface="Meiryo"/>
                <a:cs typeface="Meiryo"/>
              </a:rPr>
              <a:t>結論 </a:t>
            </a:r>
            <a:r>
              <a:rPr sz="1500" b="0">
                <a:solidFill>
                  <a:srgbClr val="FFFFFF"/>
                </a:solidFill>
                <a:latin typeface="Meiryo"/>
                <a:ea typeface="Meiryo"/>
                <a:cs typeface="Meiryo"/>
              </a:rPr>
              <a:t>学習側の改良は8本試して1本も出発点を超えず、効いたのは</a:t>
            </a:r>
            <a:r>
              <a:rPr sz="1500" b="1">
                <a:solidFill>
                  <a:srgbClr val="FFFFFF"/>
                </a:solidFill>
                <a:latin typeface="Meiryo"/>
                <a:ea typeface="Meiryo"/>
                <a:cs typeface="Meiryo"/>
              </a:rPr>
              <a:t>推論のやり方を変えること</a:t>
            </a:r>
            <a:r>
              <a:rPr sz="1500" b="0">
                <a:solidFill>
                  <a:srgbClr val="FFFFFF"/>
                </a:solidFill>
                <a:latin typeface="Meiryo"/>
                <a:ea typeface="Meiryo"/>
                <a:cs typeface="Meiryo"/>
              </a:rPr>
              <a:t>だけだった。</a:t>
            </a:r>
          </a:p>
        </p:txBody>
      </p:sp>
      <p:sp>
        <p:nvSpPr>
          <p:cNvPr id="19" name="TextBox 18"/>
          <p:cNvSpPr txBox="1"/>
          <p:nvPr/>
        </p:nvSpPr>
        <p:spPr>
          <a:xfrm>
            <a:off x="566928" y="5760720"/>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問題はモデルの表現力ではなく、128×128 のタイルに切って与えるという「問題の立て方」の側にあった。</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40850-4CC5-661A-93B1-0C4B1C8251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315256A-EBBC-6A68-2ED5-A512B5FD48E9}"/>
              </a:ext>
            </a:extLst>
          </p:cNvPr>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全体像</a:t>
            </a:r>
          </a:p>
        </p:txBody>
      </p:sp>
      <p:sp>
        <p:nvSpPr>
          <p:cNvPr id="3" name="TextBox 2">
            <a:extLst>
              <a:ext uri="{FF2B5EF4-FFF2-40B4-BE49-F238E27FC236}">
                <a16:creationId xmlns:a16="http://schemas.microsoft.com/office/drawing/2014/main" id="{7456326E-E9BB-BFF3-AA9F-AD3865E864C2}"/>
              </a:ext>
            </a:extLst>
          </p:cNvPr>
          <p:cNvSpPr txBox="1"/>
          <p:nvPr/>
        </p:nvSpPr>
        <p:spPr>
          <a:xfrm>
            <a:off x="566928" y="603504"/>
            <a:ext cx="11057839" cy="430887"/>
          </a:xfrm>
          <a:prstGeom prst="rect">
            <a:avLst/>
          </a:prstGeom>
          <a:noFill/>
        </p:spPr>
        <p:txBody>
          <a:bodyPr wrap="square" lIns="0" tIns="0" rIns="0" bIns="0">
            <a:spAutoFit/>
          </a:bodyPr>
          <a:lstStyle/>
          <a:p>
            <a:pPr algn="l"/>
            <a:r>
              <a:rPr sz="2800" b="1" dirty="0" err="1">
                <a:solidFill>
                  <a:srgbClr val="23313C"/>
                </a:solidFill>
                <a:latin typeface="Meiryo"/>
                <a:ea typeface="Meiryo"/>
                <a:cs typeface="Meiryo"/>
              </a:rPr>
              <a:t>夏期にやったこと</a:t>
            </a:r>
            <a:r>
              <a:rPr sz="2800" b="1" dirty="0">
                <a:solidFill>
                  <a:srgbClr val="23313C"/>
                </a:solidFill>
                <a:latin typeface="Meiryo"/>
                <a:ea typeface="Meiryo"/>
                <a:cs typeface="Meiryo"/>
              </a:rPr>
              <a:t> </a:t>
            </a:r>
          </a:p>
        </p:txBody>
      </p:sp>
      <p:sp>
        <p:nvSpPr>
          <p:cNvPr id="4" name="TextBox 3">
            <a:extLst>
              <a:ext uri="{FF2B5EF4-FFF2-40B4-BE49-F238E27FC236}">
                <a16:creationId xmlns:a16="http://schemas.microsoft.com/office/drawing/2014/main" id="{D86F5957-6876-6C23-C274-4AF27E8D534A}"/>
              </a:ext>
            </a:extLst>
          </p:cNvPr>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3</a:t>
            </a:r>
          </a:p>
        </p:txBody>
      </p:sp>
      <p:sp>
        <p:nvSpPr>
          <p:cNvPr id="5" name="Rounded Rectangle 4">
            <a:extLst>
              <a:ext uri="{FF2B5EF4-FFF2-40B4-BE49-F238E27FC236}">
                <a16:creationId xmlns:a16="http://schemas.microsoft.com/office/drawing/2014/main" id="{9D3C9619-FA89-B9D4-34FC-20BDAB87766E}"/>
              </a:ext>
            </a:extLst>
          </p:cNvPr>
          <p:cNvSpPr/>
          <p:nvPr/>
        </p:nvSpPr>
        <p:spPr>
          <a:xfrm>
            <a:off x="566928" y="1426464"/>
            <a:ext cx="3547872" cy="2852928"/>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a:extLst>
              <a:ext uri="{FF2B5EF4-FFF2-40B4-BE49-F238E27FC236}">
                <a16:creationId xmlns:a16="http://schemas.microsoft.com/office/drawing/2014/main" id="{F3E0F625-DD2C-8357-1B51-208BA9098873}"/>
              </a:ext>
            </a:extLst>
          </p:cNvPr>
          <p:cNvSpPr/>
          <p:nvPr/>
        </p:nvSpPr>
        <p:spPr>
          <a:xfrm>
            <a:off x="841247" y="1700784"/>
            <a:ext cx="457200" cy="457200"/>
          </a:xfrm>
          <a:prstGeom prst="ellipse">
            <a:avLst/>
          </a:prstGeom>
          <a:solidFill>
            <a:srgbClr val="3D6B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FFFFF"/>
                </a:solidFill>
                <a:latin typeface="Meiryo"/>
                <a:ea typeface="Meiryo"/>
                <a:cs typeface="Meiryo"/>
              </a:rPr>
              <a:t>1</a:t>
            </a:r>
          </a:p>
        </p:txBody>
      </p:sp>
      <p:sp>
        <p:nvSpPr>
          <p:cNvPr id="7" name="TextBox 6">
            <a:extLst>
              <a:ext uri="{FF2B5EF4-FFF2-40B4-BE49-F238E27FC236}">
                <a16:creationId xmlns:a16="http://schemas.microsoft.com/office/drawing/2014/main" id="{FFC8B81D-5585-DB4E-7D95-0C0791C7D925}"/>
              </a:ext>
            </a:extLst>
          </p:cNvPr>
          <p:cNvSpPr txBox="1"/>
          <p:nvPr/>
        </p:nvSpPr>
        <p:spPr>
          <a:xfrm>
            <a:off x="841247" y="2359152"/>
            <a:ext cx="3017520" cy="457200"/>
          </a:xfrm>
          <a:prstGeom prst="rect">
            <a:avLst/>
          </a:prstGeom>
          <a:noFill/>
        </p:spPr>
        <p:txBody>
          <a:bodyPr wrap="square" lIns="0" tIns="0" rIns="0" bIns="0">
            <a:spAutoFit/>
          </a:bodyPr>
          <a:lstStyle/>
          <a:p>
            <a:pPr algn="l"/>
            <a:r>
              <a:rPr sz="1500" b="1">
                <a:solidFill>
                  <a:srgbClr val="23313C"/>
                </a:solidFill>
                <a:latin typeface="Meiryo"/>
                <a:ea typeface="Meiryo"/>
                <a:cs typeface="Meiryo"/>
              </a:rPr>
              <a:t>評価のしかたを作った</a:t>
            </a:r>
          </a:p>
        </p:txBody>
      </p:sp>
      <p:sp>
        <p:nvSpPr>
          <p:cNvPr id="8" name="TextBox 7">
            <a:extLst>
              <a:ext uri="{FF2B5EF4-FFF2-40B4-BE49-F238E27FC236}">
                <a16:creationId xmlns:a16="http://schemas.microsoft.com/office/drawing/2014/main" id="{B71A69A8-9D27-A569-AE88-F1E216ABFA82}"/>
              </a:ext>
            </a:extLst>
          </p:cNvPr>
          <p:cNvSpPr txBox="1"/>
          <p:nvPr/>
        </p:nvSpPr>
        <p:spPr>
          <a:xfrm>
            <a:off x="841247" y="2871216"/>
            <a:ext cx="2999232" cy="1280160"/>
          </a:xfrm>
          <a:prstGeom prst="rect">
            <a:avLst/>
          </a:prstGeom>
          <a:noFill/>
        </p:spPr>
        <p:txBody>
          <a:bodyPr wrap="square" lIns="0" tIns="0" rIns="0" bIns="0">
            <a:spAutoFit/>
          </a:bodyPr>
          <a:lstStyle/>
          <a:p>
            <a:pPr algn="l">
              <a:lnSpc>
                <a:spcPct val="150000"/>
              </a:lnSpc>
            </a:pPr>
            <a:r>
              <a:rPr sz="1200" b="0" dirty="0" err="1">
                <a:solidFill>
                  <a:srgbClr val="4A5A68"/>
                </a:solidFill>
                <a:latin typeface="Meiryo"/>
                <a:ea typeface="Meiryo"/>
                <a:cs typeface="Meiryo"/>
              </a:rPr>
              <a:t>面積（画素）だけでなく「箇所数」で数える評価を設計・実装した。飲み込み問題を定量化し、被覆方式を採用</a:t>
            </a:r>
            <a:r>
              <a:rPr sz="1200" b="0" dirty="0">
                <a:solidFill>
                  <a:srgbClr val="4A5A68"/>
                </a:solidFill>
                <a:latin typeface="Meiryo"/>
                <a:ea typeface="Meiryo"/>
                <a:cs typeface="Meiryo"/>
              </a:rPr>
              <a:t>。</a:t>
            </a:r>
          </a:p>
        </p:txBody>
      </p:sp>
      <p:sp>
        <p:nvSpPr>
          <p:cNvPr id="9" name="Rounded Rectangle 8">
            <a:extLst>
              <a:ext uri="{FF2B5EF4-FFF2-40B4-BE49-F238E27FC236}">
                <a16:creationId xmlns:a16="http://schemas.microsoft.com/office/drawing/2014/main" id="{2A4648C6-32E0-7746-972B-B1D8E5BCB31E}"/>
              </a:ext>
            </a:extLst>
          </p:cNvPr>
          <p:cNvSpPr/>
          <p:nvPr/>
        </p:nvSpPr>
        <p:spPr>
          <a:xfrm>
            <a:off x="4288536" y="1426464"/>
            <a:ext cx="3547872" cy="2852928"/>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a:extLst>
              <a:ext uri="{FF2B5EF4-FFF2-40B4-BE49-F238E27FC236}">
                <a16:creationId xmlns:a16="http://schemas.microsoft.com/office/drawing/2014/main" id="{AB0A84FD-7585-2B1B-766B-A4007C87C752}"/>
              </a:ext>
            </a:extLst>
          </p:cNvPr>
          <p:cNvSpPr/>
          <p:nvPr/>
        </p:nvSpPr>
        <p:spPr>
          <a:xfrm>
            <a:off x="4562856" y="1700784"/>
            <a:ext cx="457200" cy="457200"/>
          </a:xfrm>
          <a:prstGeom prst="ellipse">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FFFFF"/>
                </a:solidFill>
                <a:latin typeface="Meiryo"/>
                <a:ea typeface="Meiryo"/>
                <a:cs typeface="Meiryo"/>
              </a:rPr>
              <a:t>2</a:t>
            </a:r>
          </a:p>
        </p:txBody>
      </p:sp>
      <p:sp>
        <p:nvSpPr>
          <p:cNvPr id="11" name="TextBox 10">
            <a:extLst>
              <a:ext uri="{FF2B5EF4-FFF2-40B4-BE49-F238E27FC236}">
                <a16:creationId xmlns:a16="http://schemas.microsoft.com/office/drawing/2014/main" id="{319BE522-45C0-EF3B-62A0-A861BCC86714}"/>
              </a:ext>
            </a:extLst>
          </p:cNvPr>
          <p:cNvSpPr txBox="1"/>
          <p:nvPr/>
        </p:nvSpPr>
        <p:spPr>
          <a:xfrm>
            <a:off x="4562856" y="2359152"/>
            <a:ext cx="3017520" cy="230832"/>
          </a:xfrm>
          <a:prstGeom prst="rect">
            <a:avLst/>
          </a:prstGeom>
          <a:noFill/>
        </p:spPr>
        <p:txBody>
          <a:bodyPr wrap="square" lIns="0" tIns="0" rIns="0" bIns="0">
            <a:spAutoFit/>
          </a:bodyPr>
          <a:lstStyle/>
          <a:p>
            <a:pPr algn="l"/>
            <a:r>
              <a:rPr lang="ja-JP" altLang="en-US" sz="1500" b="1">
                <a:solidFill>
                  <a:srgbClr val="23313C"/>
                </a:solidFill>
                <a:latin typeface="Meiryo"/>
                <a:ea typeface="Meiryo"/>
                <a:cs typeface="Meiryo"/>
              </a:rPr>
              <a:t>改良モデルで</a:t>
            </a:r>
            <a:r>
              <a:rPr sz="1500" b="1" dirty="0" err="1">
                <a:solidFill>
                  <a:srgbClr val="23313C"/>
                </a:solidFill>
                <a:latin typeface="Meiryo"/>
                <a:ea typeface="Meiryo"/>
                <a:cs typeface="Meiryo"/>
              </a:rPr>
              <a:t>学習・評価した</a:t>
            </a:r>
            <a:endParaRPr sz="1500" b="1" dirty="0">
              <a:solidFill>
                <a:srgbClr val="23313C"/>
              </a:solidFill>
              <a:latin typeface="Meiryo"/>
              <a:ea typeface="Meiryo"/>
              <a:cs typeface="Meiryo"/>
            </a:endParaRPr>
          </a:p>
        </p:txBody>
      </p:sp>
      <p:sp>
        <p:nvSpPr>
          <p:cNvPr id="12" name="TextBox 11">
            <a:extLst>
              <a:ext uri="{FF2B5EF4-FFF2-40B4-BE49-F238E27FC236}">
                <a16:creationId xmlns:a16="http://schemas.microsoft.com/office/drawing/2014/main" id="{076865CF-0724-6104-B2C7-B0132FEF29C8}"/>
              </a:ext>
            </a:extLst>
          </p:cNvPr>
          <p:cNvSpPr txBox="1"/>
          <p:nvPr/>
        </p:nvSpPr>
        <p:spPr>
          <a:xfrm>
            <a:off x="4562856" y="2871216"/>
            <a:ext cx="2999232" cy="1280160"/>
          </a:xfrm>
          <a:prstGeom prst="rect">
            <a:avLst/>
          </a:prstGeom>
          <a:noFill/>
        </p:spPr>
        <p:txBody>
          <a:bodyPr wrap="square" lIns="0" tIns="0" rIns="0" bIns="0">
            <a:spAutoFit/>
          </a:bodyPr>
          <a:lstStyle/>
          <a:p>
            <a:pPr algn="l">
              <a:lnSpc>
                <a:spcPct val="150000"/>
              </a:lnSpc>
            </a:pPr>
            <a:r>
              <a:rPr sz="1200" b="0">
                <a:solidFill>
                  <a:srgbClr val="4A5A68"/>
                </a:solidFill>
                <a:latin typeface="Meiryo"/>
                <a:ea typeface="Meiryo"/>
                <a:cs typeface="Meiryo"/>
              </a:rPr>
              <a:t>既存6構造の比較に加え、U-Net の内部を触る構造改良を8種類自作して学習した。損失関数と入力の与え方も振った。</a:t>
            </a:r>
          </a:p>
        </p:txBody>
      </p:sp>
      <p:sp>
        <p:nvSpPr>
          <p:cNvPr id="13" name="Rounded Rectangle 12">
            <a:extLst>
              <a:ext uri="{FF2B5EF4-FFF2-40B4-BE49-F238E27FC236}">
                <a16:creationId xmlns:a16="http://schemas.microsoft.com/office/drawing/2014/main" id="{876F84A7-995D-C489-F8B5-64769EDCD0F8}"/>
              </a:ext>
            </a:extLst>
          </p:cNvPr>
          <p:cNvSpPr/>
          <p:nvPr/>
        </p:nvSpPr>
        <p:spPr>
          <a:xfrm>
            <a:off x="8010144" y="1426464"/>
            <a:ext cx="3547872" cy="2852928"/>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a:extLst>
              <a:ext uri="{FF2B5EF4-FFF2-40B4-BE49-F238E27FC236}">
                <a16:creationId xmlns:a16="http://schemas.microsoft.com/office/drawing/2014/main" id="{A187E139-40EE-DFB2-0D81-BCD3436EAB0B}"/>
              </a:ext>
            </a:extLst>
          </p:cNvPr>
          <p:cNvSpPr/>
          <p:nvPr/>
        </p:nvSpPr>
        <p:spPr>
          <a:xfrm>
            <a:off x="8284464" y="1700784"/>
            <a:ext cx="457200" cy="45720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FFFFF"/>
                </a:solidFill>
                <a:latin typeface="Meiryo"/>
                <a:ea typeface="Meiryo"/>
                <a:cs typeface="Meiryo"/>
              </a:rPr>
              <a:t>3</a:t>
            </a:r>
          </a:p>
        </p:txBody>
      </p:sp>
      <p:sp>
        <p:nvSpPr>
          <p:cNvPr id="15" name="TextBox 14">
            <a:extLst>
              <a:ext uri="{FF2B5EF4-FFF2-40B4-BE49-F238E27FC236}">
                <a16:creationId xmlns:a16="http://schemas.microsoft.com/office/drawing/2014/main" id="{5A6A8A9D-7430-6775-431F-6E241A75CAD2}"/>
              </a:ext>
            </a:extLst>
          </p:cNvPr>
          <p:cNvSpPr txBox="1"/>
          <p:nvPr/>
        </p:nvSpPr>
        <p:spPr>
          <a:xfrm>
            <a:off x="8284464" y="2359152"/>
            <a:ext cx="3017520" cy="457200"/>
          </a:xfrm>
          <a:prstGeom prst="rect">
            <a:avLst/>
          </a:prstGeom>
          <a:noFill/>
        </p:spPr>
        <p:txBody>
          <a:bodyPr wrap="square" lIns="0" tIns="0" rIns="0" bIns="0">
            <a:spAutoFit/>
          </a:bodyPr>
          <a:lstStyle/>
          <a:p>
            <a:pPr algn="l"/>
            <a:r>
              <a:rPr sz="1500" b="1">
                <a:solidFill>
                  <a:srgbClr val="23313C"/>
                </a:solidFill>
                <a:latin typeface="Meiryo"/>
                <a:ea typeface="Meiryo"/>
                <a:cs typeface="Meiryo"/>
              </a:rPr>
              <a:t>なぜ効かないかを診断した</a:t>
            </a:r>
          </a:p>
        </p:txBody>
      </p:sp>
      <p:sp>
        <p:nvSpPr>
          <p:cNvPr id="16" name="TextBox 15">
            <a:extLst>
              <a:ext uri="{FF2B5EF4-FFF2-40B4-BE49-F238E27FC236}">
                <a16:creationId xmlns:a16="http://schemas.microsoft.com/office/drawing/2014/main" id="{47569C7C-126D-141C-872D-0312905ED403}"/>
              </a:ext>
            </a:extLst>
          </p:cNvPr>
          <p:cNvSpPr txBox="1"/>
          <p:nvPr/>
        </p:nvSpPr>
        <p:spPr>
          <a:xfrm>
            <a:off x="8284464" y="2871216"/>
            <a:ext cx="2999232" cy="1280160"/>
          </a:xfrm>
          <a:prstGeom prst="rect">
            <a:avLst/>
          </a:prstGeom>
          <a:noFill/>
        </p:spPr>
        <p:txBody>
          <a:bodyPr wrap="square" lIns="0" tIns="0" rIns="0" bIns="0">
            <a:spAutoFit/>
          </a:bodyPr>
          <a:lstStyle/>
          <a:p>
            <a:pPr algn="l">
              <a:lnSpc>
                <a:spcPct val="150000"/>
              </a:lnSpc>
            </a:pPr>
            <a:r>
              <a:rPr sz="1200" b="0">
                <a:solidFill>
                  <a:srgbClr val="4A5A68"/>
                </a:solidFill>
                <a:latin typeface="Meiryo"/>
                <a:ea typeface="Meiryo"/>
                <a:cs typeface="Meiryo"/>
              </a:rPr>
              <a:t>失敗タイルの性質、層ごとの活性、受容野を測り、律速がモデルの表現力ではないことを突き止めた。</a:t>
            </a:r>
          </a:p>
        </p:txBody>
      </p:sp>
    </p:spTree>
    <p:extLst>
      <p:ext uri="{BB962C8B-B14F-4D97-AF65-F5344CB8AC3E}">
        <p14:creationId xmlns:p14="http://schemas.microsoft.com/office/powerpoint/2010/main" val="249143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前提</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使ったデータ</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4</a:t>
            </a:r>
          </a:p>
        </p:txBody>
      </p:sp>
      <p:sp>
        <p:nvSpPr>
          <p:cNvPr id="5" name="TextBox 4"/>
          <p:cNvSpPr txBox="1"/>
          <p:nvPr/>
        </p:nvSpPr>
        <p:spPr>
          <a:xfrm>
            <a:off x="566928" y="1463040"/>
            <a:ext cx="2651760" cy="548640"/>
          </a:xfrm>
          <a:prstGeom prst="rect">
            <a:avLst/>
          </a:prstGeom>
          <a:noFill/>
        </p:spPr>
        <p:txBody>
          <a:bodyPr wrap="square" lIns="0" tIns="0" rIns="0" bIns="0">
            <a:spAutoFit/>
          </a:bodyPr>
          <a:lstStyle/>
          <a:p>
            <a:pPr algn="l"/>
            <a:r>
              <a:rPr sz="3600" b="1">
                <a:solidFill>
                  <a:srgbClr val="23313C"/>
                </a:solidFill>
                <a:latin typeface="Meiryo"/>
                <a:ea typeface="Meiryo"/>
                <a:cs typeface="Meiryo"/>
              </a:rPr>
              <a:t>38,148</a:t>
            </a:r>
          </a:p>
        </p:txBody>
      </p:sp>
      <p:sp>
        <p:nvSpPr>
          <p:cNvPr id="6" name="TextBox 5"/>
          <p:cNvSpPr txBox="1"/>
          <p:nvPr/>
        </p:nvSpPr>
        <p:spPr>
          <a:xfrm>
            <a:off x="566928" y="1993392"/>
            <a:ext cx="2651760" cy="548640"/>
          </a:xfrm>
          <a:prstGeom prst="rect">
            <a:avLst/>
          </a:prstGeom>
          <a:noFill/>
        </p:spPr>
        <p:txBody>
          <a:bodyPr wrap="square" lIns="0" tIns="0" rIns="0" bIns="0">
            <a:spAutoFit/>
          </a:bodyPr>
          <a:lstStyle/>
          <a:p>
            <a:pPr algn="l">
              <a:lnSpc>
                <a:spcPct val="130000"/>
              </a:lnSpc>
            </a:pPr>
            <a:r>
              <a:rPr sz="1150" b="0">
                <a:solidFill>
                  <a:srgbClr val="4A5A68"/>
                </a:solidFill>
                <a:latin typeface="Meiryo"/>
                <a:ea typeface="Meiryo"/>
                <a:cs typeface="Meiryo"/>
              </a:rPr>
              <a:t>広島県 全タイル</a:t>
            </a:r>
          </a:p>
        </p:txBody>
      </p:sp>
      <p:sp>
        <p:nvSpPr>
          <p:cNvPr id="7" name="TextBox 6"/>
          <p:cNvSpPr txBox="1"/>
          <p:nvPr/>
        </p:nvSpPr>
        <p:spPr>
          <a:xfrm>
            <a:off x="3355848" y="1463040"/>
            <a:ext cx="2651760" cy="548640"/>
          </a:xfrm>
          <a:prstGeom prst="rect">
            <a:avLst/>
          </a:prstGeom>
          <a:noFill/>
        </p:spPr>
        <p:txBody>
          <a:bodyPr wrap="square" lIns="0" tIns="0" rIns="0" bIns="0">
            <a:spAutoFit/>
          </a:bodyPr>
          <a:lstStyle/>
          <a:p>
            <a:pPr algn="l"/>
            <a:r>
              <a:rPr sz="3600" b="1">
                <a:solidFill>
                  <a:srgbClr val="3D6B4A"/>
                </a:solidFill>
                <a:latin typeface="Meiryo"/>
                <a:ea typeface="Meiryo"/>
                <a:cs typeface="Meiryo"/>
              </a:rPr>
              <a:t>14,816</a:t>
            </a:r>
          </a:p>
        </p:txBody>
      </p:sp>
      <p:sp>
        <p:nvSpPr>
          <p:cNvPr id="8" name="TextBox 7"/>
          <p:cNvSpPr txBox="1"/>
          <p:nvPr/>
        </p:nvSpPr>
        <p:spPr>
          <a:xfrm>
            <a:off x="3355848" y="1993392"/>
            <a:ext cx="2651760" cy="548640"/>
          </a:xfrm>
          <a:prstGeom prst="rect">
            <a:avLst/>
          </a:prstGeom>
          <a:noFill/>
        </p:spPr>
        <p:txBody>
          <a:bodyPr wrap="square" lIns="0" tIns="0" rIns="0" bIns="0">
            <a:spAutoFit/>
          </a:bodyPr>
          <a:lstStyle/>
          <a:p>
            <a:pPr algn="l">
              <a:lnSpc>
                <a:spcPct val="130000"/>
              </a:lnSpc>
            </a:pPr>
            <a:r>
              <a:rPr sz="1150" b="0">
                <a:solidFill>
                  <a:srgbClr val="4A5A68"/>
                </a:solidFill>
                <a:latin typeface="Meiryo"/>
                <a:ea typeface="Meiryo"/>
                <a:cs typeface="Meiryo"/>
              </a:rPr>
              <a:t>警戒区域を含む</a:t>
            </a:r>
          </a:p>
        </p:txBody>
      </p:sp>
      <p:sp>
        <p:nvSpPr>
          <p:cNvPr id="9" name="TextBox 8"/>
          <p:cNvSpPr txBox="1"/>
          <p:nvPr/>
        </p:nvSpPr>
        <p:spPr>
          <a:xfrm>
            <a:off x="6144768" y="1463040"/>
            <a:ext cx="2651760" cy="548640"/>
          </a:xfrm>
          <a:prstGeom prst="rect">
            <a:avLst/>
          </a:prstGeom>
          <a:noFill/>
        </p:spPr>
        <p:txBody>
          <a:bodyPr wrap="square" lIns="0" tIns="0" rIns="0" bIns="0">
            <a:spAutoFit/>
          </a:bodyPr>
          <a:lstStyle/>
          <a:p>
            <a:pPr algn="l"/>
            <a:r>
              <a:rPr sz="3600" b="1">
                <a:solidFill>
                  <a:srgbClr val="4A5A68"/>
                </a:solidFill>
                <a:latin typeface="Meiryo"/>
                <a:ea typeface="Meiryo"/>
                <a:cs typeface="Meiryo"/>
              </a:rPr>
              <a:t>23,332</a:t>
            </a:r>
          </a:p>
        </p:txBody>
      </p:sp>
      <p:sp>
        <p:nvSpPr>
          <p:cNvPr id="10" name="TextBox 9"/>
          <p:cNvSpPr txBox="1"/>
          <p:nvPr/>
        </p:nvSpPr>
        <p:spPr>
          <a:xfrm>
            <a:off x="6144768" y="1993392"/>
            <a:ext cx="2651760" cy="548640"/>
          </a:xfrm>
          <a:prstGeom prst="rect">
            <a:avLst/>
          </a:prstGeom>
          <a:noFill/>
        </p:spPr>
        <p:txBody>
          <a:bodyPr wrap="square" lIns="0" tIns="0" rIns="0" bIns="0">
            <a:spAutoFit/>
          </a:bodyPr>
          <a:lstStyle/>
          <a:p>
            <a:pPr algn="l">
              <a:lnSpc>
                <a:spcPct val="130000"/>
              </a:lnSpc>
            </a:pPr>
            <a:r>
              <a:rPr sz="1150" b="0">
                <a:solidFill>
                  <a:srgbClr val="4A5A68"/>
                </a:solidFill>
                <a:latin typeface="Meiryo"/>
                <a:ea typeface="Meiryo"/>
                <a:cs typeface="Meiryo"/>
              </a:rPr>
              <a:t>背景のみ</a:t>
            </a:r>
          </a:p>
        </p:txBody>
      </p:sp>
      <p:sp>
        <p:nvSpPr>
          <p:cNvPr id="11" name="TextBox 10"/>
          <p:cNvSpPr txBox="1"/>
          <p:nvPr/>
        </p:nvSpPr>
        <p:spPr>
          <a:xfrm>
            <a:off x="8210672" y="1465167"/>
            <a:ext cx="4665355" cy="553998"/>
          </a:xfrm>
          <a:prstGeom prst="rect">
            <a:avLst/>
          </a:prstGeom>
          <a:noFill/>
        </p:spPr>
        <p:txBody>
          <a:bodyPr wrap="square" lIns="0" tIns="0" rIns="0" bIns="0">
            <a:spAutoFit/>
          </a:bodyPr>
          <a:lstStyle/>
          <a:p>
            <a:pPr algn="l"/>
            <a:r>
              <a:rPr sz="3600" b="1" dirty="0">
                <a:solidFill>
                  <a:srgbClr val="5B7B8C"/>
                </a:solidFill>
                <a:latin typeface="Meiryo"/>
                <a:ea typeface="Meiryo"/>
                <a:cs typeface="Meiryo"/>
              </a:rPr>
              <a:t>24,569</a:t>
            </a:r>
            <a:r>
              <a:rPr lang="ja-JP" altLang="en-US" sz="3600" b="1">
                <a:solidFill>
                  <a:srgbClr val="5B7B8C"/>
                </a:solidFill>
                <a:latin typeface="Meiryo"/>
                <a:ea typeface="Meiryo"/>
                <a:cs typeface="Meiryo"/>
              </a:rPr>
              <a:t>（全タイル）</a:t>
            </a:r>
            <a:endParaRPr sz="3600" b="1" dirty="0">
              <a:solidFill>
                <a:srgbClr val="5B7B8C"/>
              </a:solidFill>
              <a:latin typeface="Meiryo"/>
              <a:ea typeface="Meiryo"/>
              <a:cs typeface="Meiryo"/>
            </a:endParaRPr>
          </a:p>
        </p:txBody>
      </p:sp>
      <p:sp>
        <p:nvSpPr>
          <p:cNvPr id="12" name="TextBox 11"/>
          <p:cNvSpPr txBox="1"/>
          <p:nvPr/>
        </p:nvSpPr>
        <p:spPr>
          <a:xfrm>
            <a:off x="8933688" y="1993392"/>
            <a:ext cx="2651760" cy="548640"/>
          </a:xfrm>
          <a:prstGeom prst="rect">
            <a:avLst/>
          </a:prstGeom>
          <a:noFill/>
        </p:spPr>
        <p:txBody>
          <a:bodyPr wrap="square" lIns="0" tIns="0" rIns="0" bIns="0">
            <a:spAutoFit/>
          </a:bodyPr>
          <a:lstStyle/>
          <a:p>
            <a:pPr algn="l">
              <a:lnSpc>
                <a:spcPct val="130000"/>
              </a:lnSpc>
            </a:pPr>
            <a:r>
              <a:rPr sz="1150" b="0">
                <a:solidFill>
                  <a:srgbClr val="4A5A68"/>
                </a:solidFill>
                <a:latin typeface="Meiryo"/>
                <a:ea typeface="Meiryo"/>
                <a:cs typeface="Meiryo"/>
              </a:rPr>
              <a:t>島根県（汎化検証）</a:t>
            </a:r>
          </a:p>
        </p:txBody>
      </p:sp>
      <p:sp>
        <p:nvSpPr>
          <p:cNvPr id="13" name="Rounded Rectangle 12"/>
          <p:cNvSpPr/>
          <p:nvPr/>
        </p:nvSpPr>
        <p:spPr>
          <a:xfrm>
            <a:off x="566928" y="2926080"/>
            <a:ext cx="5532120" cy="233172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41247" y="3163824"/>
            <a:ext cx="5029200" cy="274320"/>
          </a:xfrm>
          <a:prstGeom prst="rect">
            <a:avLst/>
          </a:prstGeom>
          <a:noFill/>
        </p:spPr>
        <p:txBody>
          <a:bodyPr wrap="square" lIns="0" tIns="0" rIns="0" bIns="0">
            <a:spAutoFit/>
          </a:bodyPr>
          <a:lstStyle/>
          <a:p>
            <a:pPr algn="l"/>
            <a:r>
              <a:rPr sz="1450" b="1">
                <a:solidFill>
                  <a:srgbClr val="23313C"/>
                </a:solidFill>
                <a:latin typeface="Meiryo"/>
                <a:ea typeface="Meiryo"/>
                <a:cs typeface="Meiryo"/>
              </a:rPr>
              <a:t>タイルの仕様</a:t>
            </a:r>
          </a:p>
        </p:txBody>
      </p:sp>
      <p:sp>
        <p:nvSpPr>
          <p:cNvPr id="15" name="TextBox 14"/>
          <p:cNvSpPr txBox="1"/>
          <p:nvPr/>
        </p:nvSpPr>
        <p:spPr>
          <a:xfrm>
            <a:off x="841247" y="3584448"/>
            <a:ext cx="5029200" cy="1463040"/>
          </a:xfrm>
          <a:prstGeom prst="rect">
            <a:avLst/>
          </a:prstGeom>
          <a:noFill/>
        </p:spPr>
        <p:txBody>
          <a:bodyPr wrap="square" lIns="0" tIns="0" rIns="0" bIns="0">
            <a:spAutoFit/>
          </a:bodyPr>
          <a:lstStyle/>
          <a:p>
            <a:pPr algn="l">
              <a:lnSpc>
                <a:spcPct val="170000"/>
              </a:lnSpc>
            </a:pPr>
            <a:r>
              <a:rPr sz="1250" b="0">
                <a:solidFill>
                  <a:srgbClr val="4A5A68"/>
                </a:solidFill>
                <a:latin typeface="Meiryo"/>
                <a:ea typeface="Meiryo"/>
                <a:cs typeface="Meiryo"/>
              </a:rPr>
              <a:t>・128 × 128 画素／1辺 573 m（4.48 m/画素）</a:t>
            </a:r>
          </a:p>
          <a:p>
            <a:pPr algn="l">
              <a:lnSpc>
                <a:spcPct val="170000"/>
              </a:lnSpc>
            </a:pPr>
            <a:r>
              <a:rPr sz="1250" b="0">
                <a:solidFill>
                  <a:srgbClr val="4A5A68"/>
                </a:solidFill>
                <a:latin typeface="Meiryo"/>
                <a:ea typeface="Meiryo"/>
                <a:cs typeface="Meiryo"/>
              </a:rPr>
              <a:t>・格子間隔 経度 0.00625° × 緯度 0.00416667°</a:t>
            </a:r>
          </a:p>
          <a:p>
            <a:pPr algn="l">
              <a:lnSpc>
                <a:spcPct val="170000"/>
              </a:lnSpc>
            </a:pPr>
            <a:r>
              <a:rPr sz="1250" b="0">
                <a:solidFill>
                  <a:srgbClr val="4A5A68"/>
                </a:solidFill>
                <a:latin typeface="Meiryo"/>
                <a:ea typeface="Meiryo"/>
                <a:cs typeface="Meiryo"/>
              </a:rPr>
              <a:t>・重複なく県全体を覆い、8近傍が揃うタイルは 93.9%</a:t>
            </a:r>
          </a:p>
        </p:txBody>
      </p:sp>
      <p:sp>
        <p:nvSpPr>
          <p:cNvPr id="16" name="Rounded Rectangle 15"/>
          <p:cNvSpPr/>
          <p:nvPr/>
        </p:nvSpPr>
        <p:spPr>
          <a:xfrm>
            <a:off x="6327648" y="2926080"/>
            <a:ext cx="5297119" cy="233172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601968" y="3163824"/>
            <a:ext cx="4748479" cy="274320"/>
          </a:xfrm>
          <a:prstGeom prst="rect">
            <a:avLst/>
          </a:prstGeom>
          <a:noFill/>
        </p:spPr>
        <p:txBody>
          <a:bodyPr wrap="square" lIns="0" tIns="0" rIns="0" bIns="0">
            <a:spAutoFit/>
          </a:bodyPr>
          <a:lstStyle/>
          <a:p>
            <a:pPr algn="l"/>
            <a:r>
              <a:rPr sz="1450" b="1">
                <a:solidFill>
                  <a:srgbClr val="23313C"/>
                </a:solidFill>
                <a:latin typeface="Meiryo"/>
                <a:ea typeface="Meiryo"/>
                <a:cs typeface="Meiryo"/>
              </a:rPr>
              <a:t>学習・評価の分け方</a:t>
            </a:r>
          </a:p>
        </p:txBody>
      </p:sp>
      <p:sp>
        <p:nvSpPr>
          <p:cNvPr id="18" name="TextBox 17"/>
          <p:cNvSpPr txBox="1"/>
          <p:nvPr/>
        </p:nvSpPr>
        <p:spPr>
          <a:xfrm>
            <a:off x="6601968" y="3584448"/>
            <a:ext cx="4748479" cy="1463040"/>
          </a:xfrm>
          <a:prstGeom prst="rect">
            <a:avLst/>
          </a:prstGeom>
          <a:noFill/>
        </p:spPr>
        <p:txBody>
          <a:bodyPr wrap="square" lIns="0" tIns="0" rIns="0" bIns="0">
            <a:spAutoFit/>
          </a:bodyPr>
          <a:lstStyle/>
          <a:p>
            <a:pPr algn="l">
              <a:lnSpc>
                <a:spcPct val="170000"/>
              </a:lnSpc>
            </a:pPr>
            <a:r>
              <a:rPr sz="1250" b="0">
                <a:solidFill>
                  <a:srgbClr val="4A5A68"/>
                </a:solidFill>
                <a:latin typeface="Meiryo"/>
                <a:ea typeface="Meiryo"/>
                <a:cs typeface="Meiryo"/>
              </a:rPr>
              <a:t>・6 : 2 : 2（train_test_split, random_state=42）</a:t>
            </a:r>
          </a:p>
          <a:p>
            <a:pPr algn="l">
              <a:lnSpc>
                <a:spcPct val="170000"/>
              </a:lnSpc>
            </a:pPr>
            <a:r>
              <a:rPr sz="1250" b="0">
                <a:solidFill>
                  <a:srgbClr val="4A5A68"/>
                </a:solidFill>
                <a:latin typeface="Meiryo"/>
                <a:ea typeface="Meiryo"/>
                <a:cs typeface="Meiryo"/>
              </a:rPr>
              <a:t>・広島テスト 2,964枚／正解の箇所 8,977個</a:t>
            </a:r>
          </a:p>
          <a:p>
            <a:pPr algn="l">
              <a:lnSpc>
                <a:spcPct val="170000"/>
              </a:lnSpc>
            </a:pPr>
            <a:r>
              <a:rPr sz="1250" b="0">
                <a:solidFill>
                  <a:srgbClr val="4A5A68"/>
                </a:solidFill>
                <a:latin typeface="Meiryo"/>
                <a:ea typeface="Meiryo"/>
                <a:cs typeface="Meiryo"/>
              </a:rPr>
              <a:t>・1タイルあたり平均 3.03箇所。島根は全24,569枚</a:t>
            </a:r>
          </a:p>
        </p:txBody>
      </p:sp>
      <p:sp>
        <p:nvSpPr>
          <p:cNvPr id="19" name="TextBox 18"/>
          <p:cNvSpPr txBox="1"/>
          <p:nvPr/>
        </p:nvSpPr>
        <p:spPr>
          <a:xfrm>
            <a:off x="566928" y="5577840"/>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広島で学習し、一度も学習に使っていない島根県で汎化を見る。島根の値が広島より一段低いのは、県が変わると地形の出方が変わるため。</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前提</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入力は3種類 — 地形量と航空写真</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5</a:t>
            </a:r>
          </a:p>
        </p:txBody>
      </p:sp>
      <p:sp>
        <p:nvSpPr>
          <p:cNvPr id="5" name="Rounded Rectangle 4"/>
          <p:cNvSpPr/>
          <p:nvPr/>
        </p:nvSpPr>
        <p:spPr>
          <a:xfrm>
            <a:off x="566928" y="1389888"/>
            <a:ext cx="3657600" cy="192024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841247" y="1609344"/>
            <a:ext cx="585216" cy="585216"/>
          </a:xfrm>
          <a:prstGeom prst="ellipse">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50" b="1">
                <a:solidFill>
                  <a:srgbClr val="FFFFFF"/>
                </a:solidFill>
                <a:latin typeface="Meiryo"/>
                <a:ea typeface="Meiryo"/>
                <a:cs typeface="Meiryo"/>
              </a:rPr>
              <a:t>SAM</a:t>
            </a:r>
          </a:p>
        </p:txBody>
      </p:sp>
      <p:sp>
        <p:nvSpPr>
          <p:cNvPr id="7" name="TextBox 6"/>
          <p:cNvSpPr txBox="1"/>
          <p:nvPr/>
        </p:nvSpPr>
        <p:spPr>
          <a:xfrm>
            <a:off x="1554480" y="1773936"/>
            <a:ext cx="2560320" cy="347472"/>
          </a:xfrm>
          <a:prstGeom prst="rect">
            <a:avLst/>
          </a:prstGeom>
          <a:noFill/>
        </p:spPr>
        <p:txBody>
          <a:bodyPr wrap="square" lIns="0" tIns="0" rIns="0" bIns="0">
            <a:spAutoFit/>
          </a:bodyPr>
          <a:lstStyle/>
          <a:p>
            <a:pPr algn="l"/>
            <a:r>
              <a:rPr sz="1600" b="1">
                <a:solidFill>
                  <a:srgbClr val="23313C"/>
                </a:solidFill>
                <a:latin typeface="Meiryo"/>
                <a:ea typeface="Meiryo"/>
                <a:cs typeface="Meiryo"/>
              </a:rPr>
              <a:t>傾斜量</a:t>
            </a:r>
          </a:p>
        </p:txBody>
      </p:sp>
      <p:sp>
        <p:nvSpPr>
          <p:cNvPr id="8" name="TextBox 7"/>
          <p:cNvSpPr txBox="1"/>
          <p:nvPr/>
        </p:nvSpPr>
        <p:spPr>
          <a:xfrm>
            <a:off x="841247" y="2377440"/>
            <a:ext cx="3154680" cy="868680"/>
          </a:xfrm>
          <a:prstGeom prst="rect">
            <a:avLst/>
          </a:prstGeom>
          <a:noFill/>
        </p:spPr>
        <p:txBody>
          <a:bodyPr wrap="square" lIns="0" tIns="0" rIns="0" bIns="0">
            <a:spAutoFit/>
          </a:bodyPr>
          <a:lstStyle/>
          <a:p>
            <a:pPr algn="l">
              <a:lnSpc>
                <a:spcPct val="150000"/>
              </a:lnSpc>
            </a:pPr>
            <a:r>
              <a:rPr sz="1200" b="0">
                <a:solidFill>
                  <a:srgbClr val="4A5A68"/>
                </a:solidFill>
                <a:latin typeface="Meiryo"/>
                <a:ea typeface="Meiryo"/>
                <a:cs typeface="Meiryo"/>
              </a:rPr>
              <a:t>DEM から計算した傾斜角。急斜面がそのまま信号になる</a:t>
            </a:r>
          </a:p>
        </p:txBody>
      </p:sp>
      <p:sp>
        <p:nvSpPr>
          <p:cNvPr id="9" name="Rounded Rectangle 8"/>
          <p:cNvSpPr/>
          <p:nvPr/>
        </p:nvSpPr>
        <p:spPr>
          <a:xfrm>
            <a:off x="4398264" y="1389888"/>
            <a:ext cx="3657600" cy="192024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4672584" y="1609344"/>
            <a:ext cx="585216" cy="585216"/>
          </a:xfrm>
          <a:prstGeom prst="ellipse">
            <a:avLst/>
          </a:prstGeom>
          <a:solidFill>
            <a:srgbClr val="A7BEA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50" b="1">
                <a:solidFill>
                  <a:srgbClr val="23313C"/>
                </a:solidFill>
                <a:latin typeface="Meiryo"/>
                <a:ea typeface="Meiryo"/>
                <a:cs typeface="Meiryo"/>
              </a:rPr>
              <a:t>DEM</a:t>
            </a:r>
          </a:p>
        </p:txBody>
      </p:sp>
      <p:sp>
        <p:nvSpPr>
          <p:cNvPr id="11" name="TextBox 10"/>
          <p:cNvSpPr txBox="1"/>
          <p:nvPr/>
        </p:nvSpPr>
        <p:spPr>
          <a:xfrm>
            <a:off x="5385816" y="1773936"/>
            <a:ext cx="2560320" cy="347472"/>
          </a:xfrm>
          <a:prstGeom prst="rect">
            <a:avLst/>
          </a:prstGeom>
          <a:noFill/>
        </p:spPr>
        <p:txBody>
          <a:bodyPr wrap="square" lIns="0" tIns="0" rIns="0" bIns="0">
            <a:spAutoFit/>
          </a:bodyPr>
          <a:lstStyle/>
          <a:p>
            <a:pPr algn="l"/>
            <a:r>
              <a:rPr sz="1600" b="1">
                <a:solidFill>
                  <a:srgbClr val="23313C"/>
                </a:solidFill>
                <a:latin typeface="Meiryo"/>
                <a:ea typeface="Meiryo"/>
                <a:cs typeface="Meiryo"/>
              </a:rPr>
              <a:t>標高</a:t>
            </a:r>
          </a:p>
        </p:txBody>
      </p:sp>
      <p:sp>
        <p:nvSpPr>
          <p:cNvPr id="12" name="TextBox 11"/>
          <p:cNvSpPr txBox="1"/>
          <p:nvPr/>
        </p:nvSpPr>
        <p:spPr>
          <a:xfrm>
            <a:off x="4672584" y="2377440"/>
            <a:ext cx="3154680" cy="868680"/>
          </a:xfrm>
          <a:prstGeom prst="rect">
            <a:avLst/>
          </a:prstGeom>
          <a:noFill/>
        </p:spPr>
        <p:txBody>
          <a:bodyPr wrap="square" lIns="0" tIns="0" rIns="0" bIns="0">
            <a:spAutoFit/>
          </a:bodyPr>
          <a:lstStyle/>
          <a:p>
            <a:pPr algn="l">
              <a:lnSpc>
                <a:spcPct val="150000"/>
              </a:lnSpc>
            </a:pPr>
            <a:r>
              <a:rPr sz="1200" b="0">
                <a:solidFill>
                  <a:srgbClr val="4A5A68"/>
                </a:solidFill>
                <a:latin typeface="Meiryo"/>
                <a:ea typeface="Meiryo"/>
                <a:cs typeface="Meiryo"/>
              </a:rPr>
              <a:t>生の標高値。傾斜は CNN に学ばせる</a:t>
            </a:r>
          </a:p>
        </p:txBody>
      </p:sp>
      <p:sp>
        <p:nvSpPr>
          <p:cNvPr id="13" name="Rounded Rectangle 12"/>
          <p:cNvSpPr/>
          <p:nvPr/>
        </p:nvSpPr>
        <p:spPr>
          <a:xfrm>
            <a:off x="8229600" y="1389888"/>
            <a:ext cx="3657600" cy="192024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8503920" y="1609344"/>
            <a:ext cx="585216" cy="585216"/>
          </a:xfrm>
          <a:prstGeom prst="ellipse">
            <a:avLst/>
          </a:prstGeom>
          <a:solidFill>
            <a:srgbClr val="3D6B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50" b="1">
                <a:solidFill>
                  <a:srgbClr val="FFFFFF"/>
                </a:solidFill>
                <a:latin typeface="Meiryo"/>
                <a:ea typeface="Meiryo"/>
                <a:cs typeface="Meiryo"/>
              </a:rPr>
              <a:t>APM</a:t>
            </a:r>
          </a:p>
        </p:txBody>
      </p:sp>
      <p:sp>
        <p:nvSpPr>
          <p:cNvPr id="15" name="TextBox 14"/>
          <p:cNvSpPr txBox="1"/>
          <p:nvPr/>
        </p:nvSpPr>
        <p:spPr>
          <a:xfrm>
            <a:off x="9217152" y="1773936"/>
            <a:ext cx="2560320" cy="347472"/>
          </a:xfrm>
          <a:prstGeom prst="rect">
            <a:avLst/>
          </a:prstGeom>
          <a:noFill/>
        </p:spPr>
        <p:txBody>
          <a:bodyPr wrap="square" lIns="0" tIns="0" rIns="0" bIns="0">
            <a:spAutoFit/>
          </a:bodyPr>
          <a:lstStyle/>
          <a:p>
            <a:pPr algn="l"/>
            <a:r>
              <a:rPr sz="1600" b="1">
                <a:solidFill>
                  <a:srgbClr val="23313C"/>
                </a:solidFill>
                <a:latin typeface="Meiryo"/>
                <a:ea typeface="Meiryo"/>
                <a:cs typeface="Meiryo"/>
              </a:rPr>
              <a:t>航空写真</a:t>
            </a:r>
          </a:p>
        </p:txBody>
      </p:sp>
      <p:sp>
        <p:nvSpPr>
          <p:cNvPr id="16" name="TextBox 15"/>
          <p:cNvSpPr txBox="1"/>
          <p:nvPr/>
        </p:nvSpPr>
        <p:spPr>
          <a:xfrm>
            <a:off x="8503920" y="2377440"/>
            <a:ext cx="3154680" cy="868680"/>
          </a:xfrm>
          <a:prstGeom prst="rect">
            <a:avLst/>
          </a:prstGeom>
          <a:noFill/>
        </p:spPr>
        <p:txBody>
          <a:bodyPr wrap="square" lIns="0" tIns="0" rIns="0" bIns="0">
            <a:spAutoFit/>
          </a:bodyPr>
          <a:lstStyle/>
          <a:p>
            <a:pPr algn="l">
              <a:lnSpc>
                <a:spcPct val="150000"/>
              </a:lnSpc>
            </a:pPr>
            <a:r>
              <a:rPr sz="1200" b="0">
                <a:solidFill>
                  <a:srgbClr val="4A5A68"/>
                </a:solidFill>
                <a:latin typeface="Meiryo"/>
                <a:ea typeface="Meiryo"/>
                <a:cs typeface="Meiryo"/>
              </a:rPr>
              <a:t>RGB 3チャネル。植生・造成・宅地の手がかり</a:t>
            </a:r>
          </a:p>
        </p:txBody>
      </p:sp>
      <p:graphicFrame>
        <p:nvGraphicFramePr>
          <p:cNvPr id="17" name="Table 16"/>
          <p:cNvGraphicFramePr>
            <a:graphicFrameLocks noGrp="1"/>
          </p:cNvGraphicFramePr>
          <p:nvPr/>
        </p:nvGraphicFramePr>
        <p:xfrm>
          <a:off x="566928" y="3621024"/>
          <a:ext cx="11055096" cy="1755648"/>
        </p:xfrm>
        <a:graphic>
          <a:graphicData uri="http://schemas.openxmlformats.org/drawingml/2006/table">
            <a:tbl>
              <a:tblPr>
                <a:tableStyleId>{5C22544A-7EE6-4342-B048-85BDC9FD1C3A}</a:tableStyleId>
              </a:tblPr>
              <a:tblGrid>
                <a:gridCol w="50292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02536">
                  <a:extLst>
                    <a:ext uri="{9D8B030D-6E8A-4147-A177-3AD203B41FA5}">
                      <a16:colId xmlns:a16="http://schemas.microsoft.com/office/drawing/2014/main" val="20003"/>
                    </a:ext>
                  </a:extLst>
                </a:gridCol>
              </a:tblGrid>
              <a:tr h="365760">
                <a:tc>
                  <a:txBody>
                    <a:bodyPr/>
                    <a:lstStyle/>
                    <a:p>
                      <a:pPr algn="l"/>
                      <a:r>
                        <a:rPr sz="1100" b="1">
                          <a:solidFill>
                            <a:srgbClr val="FFFFFF"/>
                          </a:solidFill>
                          <a:latin typeface="Meiryo"/>
                          <a:ea typeface="Meiryo"/>
                          <a:cs typeface="Meiryo"/>
                        </a:rPr>
                        <a:t>入力の組み合わせ</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広島 面積F</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広島 箇所F</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島根 面積F</a:t>
                      </a:r>
                    </a:p>
                  </a:txBody>
                  <a:tcPr marL="64008" marR="64008" marT="18288" marB="18288" anchor="ctr">
                    <a:solidFill>
                      <a:srgbClr val="23313C"/>
                    </a:solidFill>
                  </a:tcPr>
                </a:tc>
                <a:extLst>
                  <a:ext uri="{0D108BD9-81ED-4DB2-BD59-A6C34878D82A}">
                    <a16:rowId xmlns:a16="http://schemas.microsoft.com/office/drawing/2014/main" val="10000"/>
                  </a:ext>
                </a:extLst>
              </a:tr>
              <a:tr h="347472">
                <a:tc>
                  <a:txBody>
                    <a:bodyPr/>
                    <a:lstStyle/>
                    <a:p>
                      <a:pPr algn="l"/>
                      <a:r>
                        <a:rPr sz="1100" b="0">
                          <a:solidFill>
                            <a:srgbClr val="23313C"/>
                          </a:solidFill>
                          <a:latin typeface="Meiryo"/>
                          <a:ea typeface="Meiryo"/>
                          <a:cs typeface="Meiryo"/>
                        </a:rPr>
                        <a:t>SAM のみ（航空写真なし）</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0.5688</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0.5386</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0.3623</a:t>
                      </a:r>
                    </a:p>
                  </a:txBody>
                  <a:tcPr marL="64008" marR="64008" marT="18288" marB="18288" anchor="ctr">
                    <a:solidFill>
                      <a:srgbClr val="FFFFFF"/>
                    </a:solidFill>
                  </a:tcPr>
                </a:tc>
                <a:extLst>
                  <a:ext uri="{0D108BD9-81ED-4DB2-BD59-A6C34878D82A}">
                    <a16:rowId xmlns:a16="http://schemas.microsoft.com/office/drawing/2014/main" val="10001"/>
                  </a:ext>
                </a:extLst>
              </a:tr>
              <a:tr h="347472">
                <a:tc>
                  <a:txBody>
                    <a:bodyPr/>
                    <a:lstStyle/>
                    <a:p>
                      <a:pPr algn="l"/>
                      <a:r>
                        <a:rPr sz="1100" b="0">
                          <a:solidFill>
                            <a:srgbClr val="23313C"/>
                          </a:solidFill>
                          <a:latin typeface="Meiryo"/>
                          <a:ea typeface="Meiryo"/>
                          <a:cs typeface="Meiryo"/>
                        </a:rPr>
                        <a:t>DEM のみ（航空写真なし）</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0.5928</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0.5414</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0.3482</a:t>
                      </a:r>
                    </a:p>
                  </a:txBody>
                  <a:tcPr marL="64008" marR="64008" marT="18288" marB="18288" anchor="ctr">
                    <a:solidFill>
                      <a:srgbClr val="F1F0E8"/>
                    </a:solidFill>
                  </a:tcPr>
                </a:tc>
                <a:extLst>
                  <a:ext uri="{0D108BD9-81ED-4DB2-BD59-A6C34878D82A}">
                    <a16:rowId xmlns:a16="http://schemas.microsoft.com/office/drawing/2014/main" val="10002"/>
                  </a:ext>
                </a:extLst>
              </a:tr>
              <a:tr h="347472">
                <a:tc>
                  <a:txBody>
                    <a:bodyPr/>
                    <a:lstStyle/>
                    <a:p>
                      <a:pPr algn="l"/>
                      <a:r>
                        <a:rPr sz="1100" b="0">
                          <a:solidFill>
                            <a:srgbClr val="23313C"/>
                          </a:solidFill>
                          <a:latin typeface="Meiryo"/>
                          <a:ea typeface="Meiryo"/>
                          <a:cs typeface="Meiryo"/>
                        </a:rPr>
                        <a:t>SAM + 航空写真</a:t>
                      </a:r>
                    </a:p>
                  </a:txBody>
                  <a:tcPr marL="64008" marR="64008" marT="18288" marB="18288" anchor="ctr">
                    <a:solidFill>
                      <a:srgbClr val="FFFFFF"/>
                    </a:solidFill>
                  </a:tcPr>
                </a:tc>
                <a:tc>
                  <a:txBody>
                    <a:bodyPr/>
                    <a:lstStyle/>
                    <a:p>
                      <a:pPr algn="r"/>
                      <a:r>
                        <a:rPr sz="1100" b="1">
                          <a:solidFill>
                            <a:srgbClr val="3D6B4A"/>
                          </a:solidFill>
                          <a:latin typeface="Meiryo"/>
                          <a:ea typeface="Meiryo"/>
                          <a:cs typeface="Meiryo"/>
                        </a:rPr>
                        <a:t>0.6727</a:t>
                      </a:r>
                    </a:p>
                  </a:txBody>
                  <a:tcPr marL="64008" marR="64008" marT="18288" marB="18288" anchor="ctr">
                    <a:solidFill>
                      <a:srgbClr val="FFFFFF"/>
                    </a:solidFill>
                  </a:tcPr>
                </a:tc>
                <a:tc>
                  <a:txBody>
                    <a:bodyPr/>
                    <a:lstStyle/>
                    <a:p>
                      <a:pPr algn="r"/>
                      <a:r>
                        <a:rPr sz="1100" b="1">
                          <a:solidFill>
                            <a:srgbClr val="3D6B4A"/>
                          </a:solidFill>
                          <a:latin typeface="Meiryo"/>
                          <a:ea typeface="Meiryo"/>
                          <a:cs typeface="Meiryo"/>
                        </a:rPr>
                        <a:t>0.6506</a:t>
                      </a:r>
                    </a:p>
                  </a:txBody>
                  <a:tcPr marL="64008" marR="64008" marT="18288" marB="18288" anchor="ctr">
                    <a:solidFill>
                      <a:srgbClr val="FFFFFF"/>
                    </a:solidFill>
                  </a:tcPr>
                </a:tc>
                <a:tc>
                  <a:txBody>
                    <a:bodyPr/>
                    <a:lstStyle/>
                    <a:p>
                      <a:pPr algn="r"/>
                      <a:r>
                        <a:rPr sz="1100" b="1">
                          <a:solidFill>
                            <a:srgbClr val="3D6B4A"/>
                          </a:solidFill>
                          <a:latin typeface="Meiryo"/>
                          <a:ea typeface="Meiryo"/>
                          <a:cs typeface="Meiryo"/>
                        </a:rPr>
                        <a:t>0.5381</a:t>
                      </a:r>
                    </a:p>
                  </a:txBody>
                  <a:tcPr marL="64008" marR="64008" marT="18288" marB="18288" anchor="ctr">
                    <a:solidFill>
                      <a:srgbClr val="FFFFFF"/>
                    </a:solidFill>
                  </a:tcPr>
                </a:tc>
                <a:extLst>
                  <a:ext uri="{0D108BD9-81ED-4DB2-BD59-A6C34878D82A}">
                    <a16:rowId xmlns:a16="http://schemas.microsoft.com/office/drawing/2014/main" val="10003"/>
                  </a:ext>
                </a:extLst>
              </a:tr>
              <a:tr h="347472">
                <a:tc>
                  <a:txBody>
                    <a:bodyPr/>
                    <a:lstStyle/>
                    <a:p>
                      <a:pPr algn="l"/>
                      <a:r>
                        <a:rPr sz="1100" b="0">
                          <a:solidFill>
                            <a:srgbClr val="23313C"/>
                          </a:solidFill>
                          <a:latin typeface="Meiryo"/>
                          <a:ea typeface="Meiryo"/>
                          <a:cs typeface="Meiryo"/>
                        </a:rPr>
                        <a:t>DEM + 航空写真</a:t>
                      </a:r>
                    </a:p>
                  </a:txBody>
                  <a:tcPr marL="64008" marR="64008" marT="18288" marB="18288" anchor="ctr">
                    <a:solidFill>
                      <a:srgbClr val="F1F0E8"/>
                    </a:solidFill>
                  </a:tcPr>
                </a:tc>
                <a:tc>
                  <a:txBody>
                    <a:bodyPr/>
                    <a:lstStyle/>
                    <a:p>
                      <a:pPr algn="r"/>
                      <a:r>
                        <a:rPr sz="1100" b="1">
                          <a:solidFill>
                            <a:srgbClr val="3D6B4A"/>
                          </a:solidFill>
                          <a:latin typeface="Meiryo"/>
                          <a:ea typeface="Meiryo"/>
                          <a:cs typeface="Meiryo"/>
                        </a:rPr>
                        <a:t>0.6744</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0.6362</a:t>
                      </a:r>
                    </a:p>
                  </a:txBody>
                  <a:tcPr marL="64008" marR="64008" marT="18288" marB="18288" anchor="ctr">
                    <a:solidFill>
                      <a:srgbClr val="F1F0E8"/>
                    </a:solidFill>
                  </a:tcPr>
                </a:tc>
                <a:tc>
                  <a:txBody>
                    <a:bodyPr/>
                    <a:lstStyle/>
                    <a:p>
                      <a:pPr algn="r"/>
                      <a:r>
                        <a:rPr sz="1100" b="1">
                          <a:solidFill>
                            <a:srgbClr val="3D6B4A"/>
                          </a:solidFill>
                          <a:latin typeface="Meiryo"/>
                          <a:ea typeface="Meiryo"/>
                          <a:cs typeface="Meiryo"/>
                        </a:rPr>
                        <a:t>0.5485</a:t>
                      </a:r>
                    </a:p>
                  </a:txBody>
                  <a:tcPr marL="64008" marR="64008" marT="18288" marB="18288" anchor="ctr">
                    <a:solidFill>
                      <a:srgbClr val="F1F0E8"/>
                    </a:solidFill>
                  </a:tcPr>
                </a:tc>
                <a:extLst>
                  <a:ext uri="{0D108BD9-81ED-4DB2-BD59-A6C34878D82A}">
                    <a16:rowId xmlns:a16="http://schemas.microsoft.com/office/drawing/2014/main" val="10004"/>
                  </a:ext>
                </a:extLst>
              </a:tr>
            </a:tbl>
          </a:graphicData>
        </a:graphic>
      </p:graphicFrame>
      <p:sp>
        <p:nvSpPr>
          <p:cNvPr id="18" name="TextBox 17"/>
          <p:cNvSpPr txBox="1"/>
          <p:nvPr/>
        </p:nvSpPr>
        <p:spPr>
          <a:xfrm>
            <a:off x="566928" y="5806440"/>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航空写真を足すと広島の面積F が +0.08〜0.10、島根では +0.18〜0.20 上がる。この「入力を増やす」効き方が、以降のどの学習側の工夫よりも大きい。</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第1章 ①</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面積評価だけでは足りない</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6</a:t>
            </a:r>
          </a:p>
        </p:txBody>
      </p:sp>
      <p:sp>
        <p:nvSpPr>
          <p:cNvPr id="5" name="TextBox 4"/>
          <p:cNvSpPr txBox="1"/>
          <p:nvPr/>
        </p:nvSpPr>
        <p:spPr>
          <a:xfrm>
            <a:off x="566928" y="1335024"/>
            <a:ext cx="11057839" cy="457200"/>
          </a:xfrm>
          <a:prstGeom prst="rect">
            <a:avLst/>
          </a:prstGeom>
          <a:noFill/>
        </p:spPr>
        <p:txBody>
          <a:bodyPr wrap="square" lIns="0" tIns="0" rIns="0" bIns="0">
            <a:spAutoFit/>
          </a:bodyPr>
          <a:lstStyle/>
          <a:p>
            <a:pPr algn="l">
              <a:lnSpc>
                <a:spcPct val="140000"/>
              </a:lnSpc>
            </a:pPr>
            <a:r>
              <a:rPr sz="1350" b="0" dirty="0" err="1">
                <a:solidFill>
                  <a:srgbClr val="4A5A68"/>
                </a:solidFill>
                <a:latin typeface="Meiryo"/>
                <a:ea typeface="Meiryo"/>
                <a:cs typeface="Meiryo"/>
              </a:rPr>
              <a:t>物体検出で普通に使う「IoU</a:t>
            </a:r>
            <a:r>
              <a:rPr sz="1350" b="0" dirty="0">
                <a:solidFill>
                  <a:srgbClr val="4A5A68"/>
                </a:solidFill>
                <a:latin typeface="Meiryo"/>
                <a:ea typeface="Meiryo"/>
                <a:cs typeface="Meiryo"/>
              </a:rPr>
              <a:t> でしきい値判定して1対1に対応づける」方式は、この課題では2つの落とし穴があった。</a:t>
            </a:r>
          </a:p>
        </p:txBody>
      </p:sp>
      <p:sp>
        <p:nvSpPr>
          <p:cNvPr id="6" name="Rounded Rectangle 5"/>
          <p:cNvSpPr/>
          <p:nvPr/>
        </p:nvSpPr>
        <p:spPr>
          <a:xfrm>
            <a:off x="566928" y="1883664"/>
            <a:ext cx="5532120" cy="3310128"/>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41247" y="2103120"/>
            <a:ext cx="4983480" cy="310896"/>
          </a:xfrm>
          <a:prstGeom prst="rect">
            <a:avLst/>
          </a:prstGeom>
          <a:noFill/>
        </p:spPr>
        <p:txBody>
          <a:bodyPr wrap="square" lIns="0" tIns="0" rIns="0" bIns="0">
            <a:spAutoFit/>
          </a:bodyPr>
          <a:lstStyle/>
          <a:p>
            <a:pPr algn="l"/>
            <a:r>
              <a:rPr sz="1550" b="1">
                <a:solidFill>
                  <a:srgbClr val="B85042"/>
                </a:solidFill>
                <a:latin typeface="Meiryo"/>
                <a:ea typeface="Meiryo"/>
                <a:cs typeface="Meiryo"/>
              </a:rPr>
              <a:t>飲み込み</a:t>
            </a:r>
          </a:p>
        </p:txBody>
      </p:sp>
      <p:sp>
        <p:nvSpPr>
          <p:cNvPr id="8" name="TextBox 7"/>
          <p:cNvSpPr txBox="1"/>
          <p:nvPr/>
        </p:nvSpPr>
        <p:spPr>
          <a:xfrm>
            <a:off x="841247" y="2523744"/>
            <a:ext cx="4983480" cy="1097280"/>
          </a:xfrm>
          <a:prstGeom prst="rect">
            <a:avLst/>
          </a:prstGeom>
          <a:noFill/>
        </p:spPr>
        <p:txBody>
          <a:bodyPr wrap="square" lIns="0" tIns="0" rIns="0" bIns="0">
            <a:spAutoFit/>
          </a:bodyPr>
          <a:lstStyle/>
          <a:p>
            <a:pPr algn="l">
              <a:lnSpc>
                <a:spcPct val="150000"/>
              </a:lnSpc>
            </a:pPr>
            <a:r>
              <a:rPr sz="1200" b="0">
                <a:solidFill>
                  <a:srgbClr val="4A5A68"/>
                </a:solidFill>
                <a:latin typeface="Meiryo"/>
                <a:ea typeface="Meiryo"/>
                <a:cs typeface="Meiryo"/>
              </a:rPr>
              <a:t>近接した正解を1つの予測がまとめて覆うと、1対1ではそのうち1個しか TP にできず、残りは見逃し扱いになる。</a:t>
            </a:r>
          </a:p>
        </p:txBody>
      </p:sp>
      <p:sp>
        <p:nvSpPr>
          <p:cNvPr id="9" name="TextBox 8"/>
          <p:cNvSpPr txBox="1"/>
          <p:nvPr/>
        </p:nvSpPr>
        <p:spPr>
          <a:xfrm>
            <a:off x="841247" y="3822191"/>
            <a:ext cx="1463040" cy="310896"/>
          </a:xfrm>
          <a:prstGeom prst="rect">
            <a:avLst/>
          </a:prstGeom>
          <a:noFill/>
        </p:spPr>
        <p:txBody>
          <a:bodyPr wrap="square" lIns="0" tIns="0" rIns="0" bIns="0">
            <a:spAutoFit/>
          </a:bodyPr>
          <a:lstStyle/>
          <a:p>
            <a:pPr algn="l"/>
            <a:r>
              <a:rPr sz="1700" b="1">
                <a:solidFill>
                  <a:srgbClr val="23313C"/>
                </a:solidFill>
                <a:latin typeface="Meiryo"/>
                <a:ea typeface="Meiryo"/>
                <a:cs typeface="Meiryo"/>
              </a:rPr>
              <a:t>833</a:t>
            </a:r>
          </a:p>
        </p:txBody>
      </p:sp>
      <p:sp>
        <p:nvSpPr>
          <p:cNvPr id="10" name="TextBox 9"/>
          <p:cNvSpPr txBox="1"/>
          <p:nvPr/>
        </p:nvSpPr>
        <p:spPr>
          <a:xfrm>
            <a:off x="2395728" y="3886200"/>
            <a:ext cx="3383280" cy="274320"/>
          </a:xfrm>
          <a:prstGeom prst="rect">
            <a:avLst/>
          </a:prstGeom>
          <a:noFill/>
        </p:spPr>
        <p:txBody>
          <a:bodyPr wrap="square" lIns="0" tIns="0" rIns="0" bIns="0">
            <a:spAutoFit/>
          </a:bodyPr>
          <a:lstStyle/>
          <a:p>
            <a:pPr algn="l"/>
            <a:r>
              <a:rPr sz="1150" b="0">
                <a:solidFill>
                  <a:srgbClr val="4A5A68"/>
                </a:solidFill>
                <a:latin typeface="Meiryo"/>
                <a:ea typeface="Meiryo"/>
                <a:cs typeface="Meiryo"/>
              </a:rPr>
              <a:t>2個以上を覆う予測</a:t>
            </a:r>
          </a:p>
        </p:txBody>
      </p:sp>
      <p:sp>
        <p:nvSpPr>
          <p:cNvPr id="11" name="TextBox 10"/>
          <p:cNvSpPr txBox="1"/>
          <p:nvPr/>
        </p:nvSpPr>
        <p:spPr>
          <a:xfrm>
            <a:off x="841247" y="4242816"/>
            <a:ext cx="1463040" cy="310896"/>
          </a:xfrm>
          <a:prstGeom prst="rect">
            <a:avLst/>
          </a:prstGeom>
          <a:noFill/>
        </p:spPr>
        <p:txBody>
          <a:bodyPr wrap="square" lIns="0" tIns="0" rIns="0" bIns="0">
            <a:spAutoFit/>
          </a:bodyPr>
          <a:lstStyle/>
          <a:p>
            <a:pPr algn="l"/>
            <a:r>
              <a:rPr sz="1700" b="1">
                <a:solidFill>
                  <a:srgbClr val="23313C"/>
                </a:solidFill>
                <a:latin typeface="Meiryo"/>
                <a:ea typeface="Meiryo"/>
                <a:cs typeface="Meiryo"/>
              </a:rPr>
              <a:t>1,803</a:t>
            </a:r>
          </a:p>
        </p:txBody>
      </p:sp>
      <p:sp>
        <p:nvSpPr>
          <p:cNvPr id="12" name="TextBox 11"/>
          <p:cNvSpPr txBox="1"/>
          <p:nvPr/>
        </p:nvSpPr>
        <p:spPr>
          <a:xfrm>
            <a:off x="2395728" y="4306824"/>
            <a:ext cx="3383280" cy="274320"/>
          </a:xfrm>
          <a:prstGeom prst="rect">
            <a:avLst/>
          </a:prstGeom>
          <a:noFill/>
        </p:spPr>
        <p:txBody>
          <a:bodyPr wrap="square" lIns="0" tIns="0" rIns="0" bIns="0">
            <a:spAutoFit/>
          </a:bodyPr>
          <a:lstStyle/>
          <a:p>
            <a:pPr algn="l"/>
            <a:r>
              <a:rPr sz="1150" b="0">
                <a:solidFill>
                  <a:srgbClr val="4A5A68"/>
                </a:solidFill>
                <a:latin typeface="Meiryo"/>
                <a:ea typeface="Meiryo"/>
                <a:cs typeface="Meiryo"/>
              </a:rPr>
              <a:t>飲み込まれた正解（20.1%）</a:t>
            </a:r>
          </a:p>
        </p:txBody>
      </p:sp>
      <p:sp>
        <p:nvSpPr>
          <p:cNvPr id="13" name="TextBox 12"/>
          <p:cNvSpPr txBox="1"/>
          <p:nvPr/>
        </p:nvSpPr>
        <p:spPr>
          <a:xfrm>
            <a:off x="841247" y="4663440"/>
            <a:ext cx="1463040" cy="310896"/>
          </a:xfrm>
          <a:prstGeom prst="rect">
            <a:avLst/>
          </a:prstGeom>
          <a:noFill/>
        </p:spPr>
        <p:txBody>
          <a:bodyPr wrap="square" lIns="0" tIns="0" rIns="0" bIns="0">
            <a:spAutoFit/>
          </a:bodyPr>
          <a:lstStyle/>
          <a:p>
            <a:pPr algn="l"/>
            <a:r>
              <a:rPr sz="1700" b="1">
                <a:solidFill>
                  <a:srgbClr val="23313C"/>
                </a:solidFill>
                <a:latin typeface="Meiryo"/>
                <a:ea typeface="Meiryo"/>
                <a:cs typeface="Meiryo"/>
              </a:rPr>
              <a:t>8</a:t>
            </a:r>
          </a:p>
        </p:txBody>
      </p:sp>
      <p:sp>
        <p:nvSpPr>
          <p:cNvPr id="14" name="TextBox 13"/>
          <p:cNvSpPr txBox="1"/>
          <p:nvPr/>
        </p:nvSpPr>
        <p:spPr>
          <a:xfrm>
            <a:off x="2395728" y="4727448"/>
            <a:ext cx="3383280" cy="274320"/>
          </a:xfrm>
          <a:prstGeom prst="rect">
            <a:avLst/>
          </a:prstGeom>
          <a:noFill/>
        </p:spPr>
        <p:txBody>
          <a:bodyPr wrap="square" lIns="0" tIns="0" rIns="0" bIns="0">
            <a:spAutoFit/>
          </a:bodyPr>
          <a:lstStyle/>
          <a:p>
            <a:pPr algn="l"/>
            <a:r>
              <a:rPr sz="1150" b="0">
                <a:solidFill>
                  <a:srgbClr val="4A5A68"/>
                </a:solidFill>
                <a:latin typeface="Meiryo"/>
                <a:ea typeface="Meiryo"/>
                <a:cs typeface="Meiryo"/>
              </a:rPr>
              <a:t>1予測が覆う最大数</a:t>
            </a:r>
          </a:p>
        </p:txBody>
      </p:sp>
      <p:sp>
        <p:nvSpPr>
          <p:cNvPr id="15" name="Rounded Rectangle 14"/>
          <p:cNvSpPr/>
          <p:nvPr/>
        </p:nvSpPr>
        <p:spPr>
          <a:xfrm>
            <a:off x="6327648" y="1883664"/>
            <a:ext cx="5532120" cy="3310128"/>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601968" y="2103120"/>
            <a:ext cx="4983480" cy="310896"/>
          </a:xfrm>
          <a:prstGeom prst="rect">
            <a:avLst/>
          </a:prstGeom>
          <a:noFill/>
        </p:spPr>
        <p:txBody>
          <a:bodyPr wrap="square" lIns="0" tIns="0" rIns="0" bIns="0">
            <a:spAutoFit/>
          </a:bodyPr>
          <a:lstStyle/>
          <a:p>
            <a:pPr algn="l"/>
            <a:r>
              <a:rPr sz="1550" b="1">
                <a:solidFill>
                  <a:srgbClr val="B85042"/>
                </a:solidFill>
                <a:latin typeface="Meiryo"/>
                <a:ea typeface="Meiryo"/>
                <a:cs typeface="Meiryo"/>
              </a:rPr>
              <a:t>IoU が構造的に上がらない</a:t>
            </a:r>
          </a:p>
        </p:txBody>
      </p:sp>
      <p:sp>
        <p:nvSpPr>
          <p:cNvPr id="17" name="TextBox 16"/>
          <p:cNvSpPr txBox="1"/>
          <p:nvPr/>
        </p:nvSpPr>
        <p:spPr>
          <a:xfrm>
            <a:off x="6601968" y="2523744"/>
            <a:ext cx="4983480" cy="1097280"/>
          </a:xfrm>
          <a:prstGeom prst="rect">
            <a:avLst/>
          </a:prstGeom>
          <a:noFill/>
        </p:spPr>
        <p:txBody>
          <a:bodyPr wrap="square" lIns="0" tIns="0" rIns="0" bIns="0">
            <a:spAutoFit/>
          </a:bodyPr>
          <a:lstStyle/>
          <a:p>
            <a:pPr algn="l">
              <a:lnSpc>
                <a:spcPct val="150000"/>
              </a:lnSpc>
            </a:pPr>
            <a:r>
              <a:rPr sz="1200" b="0">
                <a:solidFill>
                  <a:srgbClr val="4A5A68"/>
                </a:solidFill>
                <a:latin typeface="Meiryo"/>
                <a:ea typeface="Meiryo"/>
                <a:cs typeface="Meiryo"/>
              </a:rPr>
              <a:t>正解が小さいと、少しのずれで IoU が 0.3 を割る。100px 未満が 1,984個（22%）あり、そこは最良 IoU 平均が 0.159 しかない。</a:t>
            </a:r>
          </a:p>
        </p:txBody>
      </p:sp>
      <p:sp>
        <p:nvSpPr>
          <p:cNvPr id="18" name="TextBox 17"/>
          <p:cNvSpPr txBox="1"/>
          <p:nvPr/>
        </p:nvSpPr>
        <p:spPr>
          <a:xfrm>
            <a:off x="6601968" y="3822191"/>
            <a:ext cx="1463040" cy="310896"/>
          </a:xfrm>
          <a:prstGeom prst="rect">
            <a:avLst/>
          </a:prstGeom>
          <a:noFill/>
        </p:spPr>
        <p:txBody>
          <a:bodyPr wrap="square" lIns="0" tIns="0" rIns="0" bIns="0">
            <a:spAutoFit/>
          </a:bodyPr>
          <a:lstStyle/>
          <a:p>
            <a:pPr algn="l"/>
            <a:r>
              <a:rPr sz="1700" b="1">
                <a:solidFill>
                  <a:srgbClr val="23313C"/>
                </a:solidFill>
                <a:latin typeface="Meiryo"/>
                <a:ea typeface="Meiryo"/>
                <a:cs typeface="Meiryo"/>
              </a:rPr>
              <a:t>0.388</a:t>
            </a:r>
          </a:p>
        </p:txBody>
      </p:sp>
      <p:sp>
        <p:nvSpPr>
          <p:cNvPr id="19" name="TextBox 18"/>
          <p:cNvSpPr txBox="1"/>
          <p:nvPr/>
        </p:nvSpPr>
        <p:spPr>
          <a:xfrm>
            <a:off x="8156448" y="3886200"/>
            <a:ext cx="3383280" cy="274320"/>
          </a:xfrm>
          <a:prstGeom prst="rect">
            <a:avLst/>
          </a:prstGeom>
          <a:noFill/>
        </p:spPr>
        <p:txBody>
          <a:bodyPr wrap="square" lIns="0" tIns="0" rIns="0" bIns="0">
            <a:spAutoFit/>
          </a:bodyPr>
          <a:lstStyle/>
          <a:p>
            <a:pPr algn="l"/>
            <a:r>
              <a:rPr sz="1150" b="0">
                <a:solidFill>
                  <a:srgbClr val="4A5A68"/>
                </a:solidFill>
                <a:latin typeface="Meiryo"/>
                <a:ea typeface="Meiryo"/>
                <a:cs typeface="Meiryo"/>
              </a:rPr>
              <a:t>正解ごとの最良 IoU 平均</a:t>
            </a:r>
          </a:p>
        </p:txBody>
      </p:sp>
      <p:sp>
        <p:nvSpPr>
          <p:cNvPr id="20" name="TextBox 19"/>
          <p:cNvSpPr txBox="1"/>
          <p:nvPr/>
        </p:nvSpPr>
        <p:spPr>
          <a:xfrm>
            <a:off x="6601968" y="4242816"/>
            <a:ext cx="1463040" cy="310896"/>
          </a:xfrm>
          <a:prstGeom prst="rect">
            <a:avLst/>
          </a:prstGeom>
          <a:noFill/>
        </p:spPr>
        <p:txBody>
          <a:bodyPr wrap="square" lIns="0" tIns="0" rIns="0" bIns="0">
            <a:spAutoFit/>
          </a:bodyPr>
          <a:lstStyle/>
          <a:p>
            <a:pPr algn="l"/>
            <a:r>
              <a:rPr sz="1700" b="1">
                <a:solidFill>
                  <a:srgbClr val="23313C"/>
                </a:solidFill>
                <a:latin typeface="Meiryo"/>
                <a:ea typeface="Meiryo"/>
                <a:cs typeface="Meiryo"/>
              </a:rPr>
              <a:t>0.159</a:t>
            </a:r>
          </a:p>
        </p:txBody>
      </p:sp>
      <p:sp>
        <p:nvSpPr>
          <p:cNvPr id="21" name="TextBox 20"/>
          <p:cNvSpPr txBox="1"/>
          <p:nvPr/>
        </p:nvSpPr>
        <p:spPr>
          <a:xfrm>
            <a:off x="8156448" y="4306824"/>
            <a:ext cx="3383280" cy="274320"/>
          </a:xfrm>
          <a:prstGeom prst="rect">
            <a:avLst/>
          </a:prstGeom>
          <a:noFill/>
        </p:spPr>
        <p:txBody>
          <a:bodyPr wrap="square" lIns="0" tIns="0" rIns="0" bIns="0">
            <a:spAutoFit/>
          </a:bodyPr>
          <a:lstStyle/>
          <a:p>
            <a:pPr algn="l"/>
            <a:r>
              <a:rPr sz="1150" b="0">
                <a:solidFill>
                  <a:srgbClr val="4A5A68"/>
                </a:solidFill>
                <a:latin typeface="Meiryo"/>
                <a:ea typeface="Meiryo"/>
                <a:cs typeface="Meiryo"/>
              </a:rPr>
              <a:t>100px 未満での平均</a:t>
            </a:r>
          </a:p>
        </p:txBody>
      </p:sp>
      <p:sp>
        <p:nvSpPr>
          <p:cNvPr id="22" name="TextBox 21"/>
          <p:cNvSpPr txBox="1"/>
          <p:nvPr/>
        </p:nvSpPr>
        <p:spPr>
          <a:xfrm>
            <a:off x="6601968" y="4663440"/>
            <a:ext cx="1463040" cy="310896"/>
          </a:xfrm>
          <a:prstGeom prst="rect">
            <a:avLst/>
          </a:prstGeom>
          <a:noFill/>
        </p:spPr>
        <p:txBody>
          <a:bodyPr wrap="square" lIns="0" tIns="0" rIns="0" bIns="0">
            <a:spAutoFit/>
          </a:bodyPr>
          <a:lstStyle/>
          <a:p>
            <a:pPr algn="l"/>
            <a:r>
              <a:rPr sz="1700" b="1">
                <a:solidFill>
                  <a:srgbClr val="23313C"/>
                </a:solidFill>
                <a:latin typeface="Meiryo"/>
                <a:ea typeface="Meiryo"/>
                <a:cs typeface="Meiryo"/>
              </a:rPr>
              <a:t>22%</a:t>
            </a:r>
          </a:p>
        </p:txBody>
      </p:sp>
      <p:sp>
        <p:nvSpPr>
          <p:cNvPr id="23" name="TextBox 22"/>
          <p:cNvSpPr txBox="1"/>
          <p:nvPr/>
        </p:nvSpPr>
        <p:spPr>
          <a:xfrm>
            <a:off x="8156448" y="4727448"/>
            <a:ext cx="3383280" cy="274320"/>
          </a:xfrm>
          <a:prstGeom prst="rect">
            <a:avLst/>
          </a:prstGeom>
          <a:noFill/>
        </p:spPr>
        <p:txBody>
          <a:bodyPr wrap="square" lIns="0" tIns="0" rIns="0" bIns="0">
            <a:spAutoFit/>
          </a:bodyPr>
          <a:lstStyle/>
          <a:p>
            <a:pPr algn="l"/>
            <a:r>
              <a:rPr sz="1150" b="0">
                <a:solidFill>
                  <a:srgbClr val="4A5A68"/>
                </a:solidFill>
                <a:latin typeface="Meiryo"/>
                <a:ea typeface="Meiryo"/>
                <a:cs typeface="Meiryo"/>
              </a:rPr>
              <a:t>100px 未満の割合</a:t>
            </a:r>
          </a:p>
        </p:txBody>
      </p:sp>
      <p:sp>
        <p:nvSpPr>
          <p:cNvPr id="24" name="Rounded Rectangle 23"/>
          <p:cNvSpPr/>
          <p:nvPr/>
        </p:nvSpPr>
        <p:spPr>
          <a:xfrm>
            <a:off x="566928" y="5504688"/>
            <a:ext cx="11057839" cy="841248"/>
          </a:xfrm>
          <a:prstGeom prst="roundRect">
            <a:avLst>
              <a:gd name="adj" fmla="val 6000"/>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77824" y="5504688"/>
            <a:ext cx="10436047" cy="841248"/>
          </a:xfrm>
          <a:prstGeom prst="rect">
            <a:avLst/>
          </a:prstGeom>
          <a:noFill/>
        </p:spPr>
        <p:txBody>
          <a:bodyPr wrap="square" lIns="0" tIns="0" rIns="0" bIns="0" anchor="ctr">
            <a:spAutoFit/>
          </a:bodyPr>
          <a:lstStyle/>
          <a:p>
            <a:pPr algn="l">
              <a:lnSpc>
                <a:spcPct val="140000"/>
              </a:lnSpc>
            </a:pPr>
            <a:r>
              <a:rPr sz="1400" b="0">
                <a:solidFill>
                  <a:srgbClr val="FFFFFF"/>
                </a:solidFill>
                <a:latin typeface="Meiryo"/>
                <a:ea typeface="Meiryo"/>
                <a:cs typeface="Meiryo"/>
              </a:rPr>
              <a:t>飲み込まれた正解は、実際には予測にほぼ覆われている</a:t>
            </a:r>
            <a:r>
              <a:rPr sz="1400" b="1">
                <a:solidFill>
                  <a:srgbClr val="A7BEAE"/>
                </a:solidFill>
                <a:latin typeface="Meiryo"/>
                <a:ea typeface="Meiryo"/>
                <a:cs typeface="Meiryo"/>
              </a:rPr>
              <a:t>（被覆 ≥0.5 を 89.9% が通過）</a:t>
            </a:r>
            <a:r>
              <a:rPr sz="1400" b="0">
                <a:solidFill>
                  <a:srgbClr val="FFFFFF"/>
                </a:solidFill>
                <a:latin typeface="Meiryo"/>
                <a:ea typeface="Meiryo"/>
                <a:cs typeface="Meiryo"/>
              </a:rPr>
              <a:t>のに、IoU では 37.7% しか通らない。</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第1章 ②</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採用した評価 — 被覆方式</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7</a:t>
            </a:r>
          </a:p>
        </p:txBody>
      </p:sp>
      <p:sp>
        <p:nvSpPr>
          <p:cNvPr id="5" name="Rounded Rectangle 4"/>
          <p:cNvSpPr/>
          <p:nvPr/>
        </p:nvSpPr>
        <p:spPr>
          <a:xfrm>
            <a:off x="566928" y="1371600"/>
            <a:ext cx="5532120" cy="2011680"/>
          </a:xfrm>
          <a:prstGeom prst="roundRect">
            <a:avLst>
              <a:gd name="adj" fmla="val 6000"/>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41247" y="1609344"/>
            <a:ext cx="4983480" cy="292608"/>
          </a:xfrm>
          <a:prstGeom prst="rect">
            <a:avLst/>
          </a:prstGeom>
          <a:noFill/>
        </p:spPr>
        <p:txBody>
          <a:bodyPr wrap="square" lIns="0" tIns="0" rIns="0" bIns="0">
            <a:spAutoFit/>
          </a:bodyPr>
          <a:lstStyle/>
          <a:p>
            <a:pPr algn="l"/>
            <a:r>
              <a:rPr sz="1450" b="1">
                <a:solidFill>
                  <a:srgbClr val="A7BEAE"/>
                </a:solidFill>
                <a:latin typeface="Meiryo"/>
                <a:ea typeface="Meiryo"/>
                <a:cs typeface="Meiryo"/>
              </a:rPr>
              <a:t>判定の決め方</a:t>
            </a:r>
          </a:p>
        </p:txBody>
      </p:sp>
      <p:sp>
        <p:nvSpPr>
          <p:cNvPr id="7" name="TextBox 6"/>
          <p:cNvSpPr txBox="1"/>
          <p:nvPr/>
        </p:nvSpPr>
        <p:spPr>
          <a:xfrm>
            <a:off x="841247" y="2029968"/>
            <a:ext cx="4983480" cy="1188720"/>
          </a:xfrm>
          <a:prstGeom prst="rect">
            <a:avLst/>
          </a:prstGeom>
          <a:noFill/>
        </p:spPr>
        <p:txBody>
          <a:bodyPr wrap="square" lIns="0" tIns="0" rIns="0" bIns="0">
            <a:spAutoFit/>
          </a:bodyPr>
          <a:lstStyle/>
          <a:p>
            <a:pPr algn="l">
              <a:lnSpc>
                <a:spcPct val="150000"/>
              </a:lnSpc>
            </a:pPr>
            <a:r>
              <a:rPr sz="1250" b="0">
                <a:solidFill>
                  <a:srgbClr val="FFFFFF"/>
                </a:solidFill>
                <a:latin typeface="Meiryo"/>
                <a:ea typeface="Meiryo"/>
                <a:cs typeface="Meiryo"/>
              </a:rPr>
              <a:t>正解を検出できた</a:t>
            </a:r>
          </a:p>
          <a:p>
            <a:pPr algn="l">
              <a:lnSpc>
                <a:spcPct val="150000"/>
              </a:lnSpc>
            </a:pPr>
            <a:r>
              <a:rPr sz="1250" b="0">
                <a:solidFill>
                  <a:srgbClr val="FFFFFF"/>
                </a:solidFill>
                <a:latin typeface="Meiryo"/>
                <a:ea typeface="Meiryo"/>
                <a:cs typeface="Meiryo"/>
              </a:rPr>
              <a:t>　⇔ 正解の 50% 以上が予測に覆われている</a:t>
            </a:r>
          </a:p>
          <a:p>
            <a:pPr algn="l">
              <a:lnSpc>
                <a:spcPct val="150000"/>
              </a:lnSpc>
            </a:pPr>
            <a:r>
              <a:rPr sz="1250" b="0">
                <a:solidFill>
                  <a:srgbClr val="FFFFFF"/>
                </a:solidFill>
                <a:latin typeface="Meiryo"/>
                <a:ea typeface="Meiryo"/>
                <a:cs typeface="Meiryo"/>
              </a:rPr>
              <a:t>予測が的中した</a:t>
            </a:r>
          </a:p>
          <a:p>
            <a:pPr algn="l">
              <a:lnSpc>
                <a:spcPct val="150000"/>
              </a:lnSpc>
            </a:pPr>
            <a:r>
              <a:rPr sz="1250" b="0">
                <a:solidFill>
                  <a:srgbClr val="FFFFFF"/>
                </a:solidFill>
                <a:latin typeface="Meiryo"/>
                <a:ea typeface="Meiryo"/>
                <a:cs typeface="Meiryo"/>
              </a:rPr>
              <a:t>　⇔ 予測の 30% 以上が正解に当たっている</a:t>
            </a:r>
          </a:p>
        </p:txBody>
      </p:sp>
      <p:sp>
        <p:nvSpPr>
          <p:cNvPr id="8" name="Rounded Rectangle 7"/>
          <p:cNvSpPr/>
          <p:nvPr/>
        </p:nvSpPr>
        <p:spPr>
          <a:xfrm>
            <a:off x="6327648" y="1371600"/>
            <a:ext cx="5297119" cy="201168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601968" y="1609344"/>
            <a:ext cx="4748479" cy="292608"/>
          </a:xfrm>
          <a:prstGeom prst="rect">
            <a:avLst/>
          </a:prstGeom>
          <a:noFill/>
        </p:spPr>
        <p:txBody>
          <a:bodyPr wrap="square" lIns="0" tIns="0" rIns="0" bIns="0">
            <a:spAutoFit/>
          </a:bodyPr>
          <a:lstStyle/>
          <a:p>
            <a:pPr algn="l"/>
            <a:r>
              <a:rPr sz="1450" b="1">
                <a:solidFill>
                  <a:srgbClr val="23313C"/>
                </a:solidFill>
                <a:latin typeface="Meiryo"/>
                <a:ea typeface="Meiryo"/>
                <a:cs typeface="Meiryo"/>
              </a:rPr>
              <a:t>固定したしきい値</a:t>
            </a:r>
          </a:p>
        </p:txBody>
      </p:sp>
      <p:sp>
        <p:nvSpPr>
          <p:cNvPr id="10" name="TextBox 9"/>
          <p:cNvSpPr txBox="1"/>
          <p:nvPr/>
        </p:nvSpPr>
        <p:spPr>
          <a:xfrm>
            <a:off x="6601968" y="2029968"/>
            <a:ext cx="4748479" cy="1188720"/>
          </a:xfrm>
          <a:prstGeom prst="rect">
            <a:avLst/>
          </a:prstGeom>
          <a:noFill/>
        </p:spPr>
        <p:txBody>
          <a:bodyPr wrap="square" lIns="0" tIns="0" rIns="0" bIns="0">
            <a:spAutoFit/>
          </a:bodyPr>
          <a:lstStyle/>
          <a:p>
            <a:pPr algn="l">
              <a:lnSpc>
                <a:spcPct val="155000"/>
              </a:lnSpc>
            </a:pPr>
            <a:r>
              <a:rPr sz="1200" b="0">
                <a:solidFill>
                  <a:srgbClr val="4A5A68"/>
                </a:solidFill>
                <a:latin typeface="Meiryo"/>
                <a:ea typeface="Meiryo"/>
                <a:cs typeface="Meiryo"/>
              </a:rPr>
              <a:t>・連結性 8近傍（4近傍でも 0.6504 対 0.6506 でほぼ不変）</a:t>
            </a:r>
          </a:p>
          <a:p>
            <a:pPr algn="l">
              <a:lnSpc>
                <a:spcPct val="155000"/>
              </a:lnSpc>
            </a:pPr>
            <a:r>
              <a:rPr sz="1200" b="0">
                <a:solidFill>
                  <a:srgbClr val="4A5A68"/>
                </a:solidFill>
                <a:latin typeface="Meiryo"/>
                <a:ea typeface="Meiryo"/>
                <a:cs typeface="Meiryo"/>
              </a:rPr>
              <a:t>・最小サイズ 10px（100px にすると 0.6506 → 0.6996 と大きく動くため固定）</a:t>
            </a:r>
          </a:p>
        </p:txBody>
      </p:sp>
      <p:graphicFrame>
        <p:nvGraphicFramePr>
          <p:cNvPr id="11" name="Table 10"/>
          <p:cNvGraphicFramePr>
            <a:graphicFrameLocks noGrp="1"/>
          </p:cNvGraphicFramePr>
          <p:nvPr/>
        </p:nvGraphicFramePr>
        <p:xfrm>
          <a:off x="566928" y="3639312"/>
          <a:ext cx="11055096" cy="1755648"/>
        </p:xfrm>
        <a:graphic>
          <a:graphicData uri="http://schemas.openxmlformats.org/drawingml/2006/table">
            <a:tbl>
              <a:tblPr>
                <a:tableStyleId>{5C22544A-7EE6-4342-B048-85BDC9FD1C3A}</a:tableStyleId>
              </a:tblPr>
              <a:tblGrid>
                <a:gridCol w="50292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02536">
                  <a:extLst>
                    <a:ext uri="{9D8B030D-6E8A-4147-A177-3AD203B41FA5}">
                      <a16:colId xmlns:a16="http://schemas.microsoft.com/office/drawing/2014/main" val="20003"/>
                    </a:ext>
                  </a:extLst>
                </a:gridCol>
              </a:tblGrid>
              <a:tr h="365760">
                <a:tc>
                  <a:txBody>
                    <a:bodyPr/>
                    <a:lstStyle/>
                    <a:p>
                      <a:pPr algn="l"/>
                      <a:r>
                        <a:rPr sz="1100" b="1">
                          <a:solidFill>
                            <a:srgbClr val="FFFFFF"/>
                          </a:solidFill>
                          <a:latin typeface="Meiryo"/>
                          <a:ea typeface="Meiryo"/>
                          <a:cs typeface="Meiryo"/>
                        </a:rPr>
                        <a:t>対応づけ方式</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箇所Recall</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箇所Precision</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箇所F値</a:t>
                      </a:r>
                    </a:p>
                  </a:txBody>
                  <a:tcPr marL="64008" marR="64008" marT="18288" marB="18288" anchor="ctr">
                    <a:solidFill>
                      <a:srgbClr val="23313C"/>
                    </a:solidFill>
                  </a:tcPr>
                </a:tc>
                <a:extLst>
                  <a:ext uri="{0D108BD9-81ED-4DB2-BD59-A6C34878D82A}">
                    <a16:rowId xmlns:a16="http://schemas.microsoft.com/office/drawing/2014/main" val="10000"/>
                  </a:ext>
                </a:extLst>
              </a:tr>
              <a:tr h="347472">
                <a:tc>
                  <a:txBody>
                    <a:bodyPr/>
                    <a:lstStyle/>
                    <a:p>
                      <a:pPr algn="l"/>
                      <a:r>
                        <a:rPr sz="1100" b="0">
                          <a:solidFill>
                            <a:srgbClr val="23313C"/>
                          </a:solidFill>
                          <a:latin typeface="Meiryo"/>
                          <a:ea typeface="Meiryo"/>
                          <a:cs typeface="Meiryo"/>
                        </a:rPr>
                        <a:t>被覆（0.5 / 0.3）← 本表に出す値</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0.6188</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0.6858</a:t>
                      </a:r>
                    </a:p>
                  </a:txBody>
                  <a:tcPr marL="64008" marR="64008" marT="18288" marB="18288" anchor="ctr">
                    <a:solidFill>
                      <a:srgbClr val="FFFFFF"/>
                    </a:solidFill>
                  </a:tcPr>
                </a:tc>
                <a:tc>
                  <a:txBody>
                    <a:bodyPr/>
                    <a:lstStyle/>
                    <a:p>
                      <a:pPr algn="r"/>
                      <a:r>
                        <a:rPr sz="1100" b="1">
                          <a:solidFill>
                            <a:srgbClr val="3D6B4A"/>
                          </a:solidFill>
                          <a:latin typeface="Meiryo"/>
                          <a:ea typeface="Meiryo"/>
                          <a:cs typeface="Meiryo"/>
                        </a:rPr>
                        <a:t>0.6506</a:t>
                      </a:r>
                    </a:p>
                  </a:txBody>
                  <a:tcPr marL="64008" marR="64008" marT="18288" marB="18288" anchor="ctr">
                    <a:solidFill>
                      <a:srgbClr val="FFFFFF"/>
                    </a:solidFill>
                  </a:tcPr>
                </a:tc>
                <a:extLst>
                  <a:ext uri="{0D108BD9-81ED-4DB2-BD59-A6C34878D82A}">
                    <a16:rowId xmlns:a16="http://schemas.microsoft.com/office/drawing/2014/main" val="10001"/>
                  </a:ext>
                </a:extLst>
              </a:tr>
              <a:tr h="347472">
                <a:tc>
                  <a:txBody>
                    <a:bodyPr/>
                    <a:lstStyle/>
                    <a:p>
                      <a:pPr algn="l"/>
                      <a:r>
                        <a:rPr sz="1100" b="0">
                          <a:solidFill>
                            <a:srgbClr val="23313C"/>
                          </a:solidFill>
                          <a:latin typeface="Meiryo"/>
                          <a:ea typeface="Meiryo"/>
                          <a:cs typeface="Meiryo"/>
                        </a:rPr>
                        <a:t>被覆（0.3 / 0.3）</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0.6632</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0.6858</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0.6743</a:t>
                      </a:r>
                    </a:p>
                  </a:txBody>
                  <a:tcPr marL="64008" marR="64008" marT="18288" marB="18288" anchor="ctr">
                    <a:solidFill>
                      <a:srgbClr val="F1F0E8"/>
                    </a:solidFill>
                  </a:tcPr>
                </a:tc>
                <a:extLst>
                  <a:ext uri="{0D108BD9-81ED-4DB2-BD59-A6C34878D82A}">
                    <a16:rowId xmlns:a16="http://schemas.microsoft.com/office/drawing/2014/main" val="10002"/>
                  </a:ext>
                </a:extLst>
              </a:tr>
              <a:tr h="347472">
                <a:tc>
                  <a:txBody>
                    <a:bodyPr/>
                    <a:lstStyle/>
                    <a:p>
                      <a:pPr algn="l"/>
                      <a:r>
                        <a:rPr sz="1100" b="0">
                          <a:solidFill>
                            <a:srgbClr val="23313C"/>
                          </a:solidFill>
                          <a:latin typeface="Meiryo"/>
                          <a:ea typeface="Meiryo"/>
                          <a:cs typeface="Meiryo"/>
                        </a:rPr>
                        <a:t>IoU 多対1（0.3）</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0.5068</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0.5617</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0.5329</a:t>
                      </a:r>
                    </a:p>
                  </a:txBody>
                  <a:tcPr marL="64008" marR="64008" marT="18288" marB="18288" anchor="ctr">
                    <a:solidFill>
                      <a:srgbClr val="FFFFFF"/>
                    </a:solidFill>
                  </a:tcPr>
                </a:tc>
                <a:extLst>
                  <a:ext uri="{0D108BD9-81ED-4DB2-BD59-A6C34878D82A}">
                    <a16:rowId xmlns:a16="http://schemas.microsoft.com/office/drawing/2014/main" val="10003"/>
                  </a:ext>
                </a:extLst>
              </a:tr>
              <a:tr h="347472">
                <a:tc>
                  <a:txBody>
                    <a:bodyPr/>
                    <a:lstStyle/>
                    <a:p>
                      <a:pPr algn="l"/>
                      <a:r>
                        <a:rPr sz="1100" b="0">
                          <a:solidFill>
                            <a:srgbClr val="23313C"/>
                          </a:solidFill>
                          <a:latin typeface="Meiryo"/>
                          <a:ea typeface="Meiryo"/>
                          <a:cs typeface="Meiryo"/>
                        </a:rPr>
                        <a:t>IoU 厳密1対1（0.3）</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0.4998</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0.5590</a:t>
                      </a:r>
                    </a:p>
                  </a:txBody>
                  <a:tcPr marL="64008" marR="64008" marT="18288" marB="18288" anchor="ctr">
                    <a:solidFill>
                      <a:srgbClr val="F1F0E8"/>
                    </a:solidFill>
                  </a:tcPr>
                </a:tc>
                <a:tc>
                  <a:txBody>
                    <a:bodyPr/>
                    <a:lstStyle/>
                    <a:p>
                      <a:pPr algn="r"/>
                      <a:r>
                        <a:rPr sz="1100" b="1">
                          <a:solidFill>
                            <a:srgbClr val="B85042"/>
                          </a:solidFill>
                          <a:latin typeface="Meiryo"/>
                          <a:ea typeface="Meiryo"/>
                          <a:cs typeface="Meiryo"/>
                        </a:rPr>
                        <a:t>0.5277</a:t>
                      </a:r>
                    </a:p>
                  </a:txBody>
                  <a:tcPr marL="64008" marR="64008" marT="18288" marB="18288" anchor="ctr">
                    <a:solidFill>
                      <a:srgbClr val="F1F0E8"/>
                    </a:solidFill>
                  </a:tcPr>
                </a:tc>
                <a:extLst>
                  <a:ext uri="{0D108BD9-81ED-4DB2-BD59-A6C34878D82A}">
                    <a16:rowId xmlns:a16="http://schemas.microsoft.com/office/drawing/2014/main" val="10004"/>
                  </a:ext>
                </a:extLst>
              </a:tr>
            </a:tbl>
          </a:graphicData>
        </a:graphic>
      </p:graphicFrame>
      <p:sp>
        <p:nvSpPr>
          <p:cNvPr id="12" name="TextBox 11"/>
          <p:cNvSpPr txBox="1"/>
          <p:nvPr/>
        </p:nvSpPr>
        <p:spPr>
          <a:xfrm>
            <a:off x="566928" y="5806440"/>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同じ予測でも方式を変えると箇所F が 0.53〜0.67 まで動く。どの方式で測った値かを書かずに精度を比べることはできない。以降の箇所F はすべて被覆（0.5 / 0.3）。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第1章 ③</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評価の軸を4つに整理した</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8</a:t>
            </a:r>
          </a:p>
        </p:txBody>
      </p:sp>
      <p:sp>
        <p:nvSpPr>
          <p:cNvPr id="5" name="Rounded Rectangle 4"/>
          <p:cNvSpPr/>
          <p:nvPr/>
        </p:nvSpPr>
        <p:spPr>
          <a:xfrm>
            <a:off x="566928" y="1371600"/>
            <a:ext cx="5532120" cy="164592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841247" y="1645920"/>
            <a:ext cx="402336" cy="402336"/>
          </a:xfrm>
          <a:prstGeom prst="ellipse">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Meiryo"/>
                <a:ea typeface="Meiryo"/>
                <a:cs typeface="Meiryo"/>
              </a:rPr>
              <a:t>1</a:t>
            </a:r>
          </a:p>
        </p:txBody>
      </p:sp>
      <p:sp>
        <p:nvSpPr>
          <p:cNvPr id="7" name="TextBox 6"/>
          <p:cNvSpPr txBox="1"/>
          <p:nvPr/>
        </p:nvSpPr>
        <p:spPr>
          <a:xfrm>
            <a:off x="1408176" y="1682496"/>
            <a:ext cx="4389120" cy="310896"/>
          </a:xfrm>
          <a:prstGeom prst="rect">
            <a:avLst/>
          </a:prstGeom>
          <a:noFill/>
        </p:spPr>
        <p:txBody>
          <a:bodyPr wrap="square" lIns="0" tIns="0" rIns="0" bIns="0">
            <a:spAutoFit/>
          </a:bodyPr>
          <a:lstStyle/>
          <a:p>
            <a:pPr algn="l"/>
            <a:r>
              <a:rPr sz="1500" b="1">
                <a:solidFill>
                  <a:srgbClr val="23313C"/>
                </a:solidFill>
                <a:latin typeface="Meiryo"/>
                <a:ea typeface="Meiryo"/>
                <a:cs typeface="Meiryo"/>
              </a:rPr>
              <a:t>面積評価</a:t>
            </a:r>
          </a:p>
        </p:txBody>
      </p:sp>
      <p:sp>
        <p:nvSpPr>
          <p:cNvPr id="8" name="TextBox 7"/>
          <p:cNvSpPr txBox="1"/>
          <p:nvPr/>
        </p:nvSpPr>
        <p:spPr>
          <a:xfrm>
            <a:off x="841247" y="2212848"/>
            <a:ext cx="4983480" cy="694944"/>
          </a:xfrm>
          <a:prstGeom prst="rect">
            <a:avLst/>
          </a:prstGeom>
          <a:noFill/>
        </p:spPr>
        <p:txBody>
          <a:bodyPr wrap="square" lIns="0" tIns="0" rIns="0" bIns="0">
            <a:spAutoFit/>
          </a:bodyPr>
          <a:lstStyle/>
          <a:p>
            <a:pPr algn="l">
              <a:lnSpc>
                <a:spcPct val="150000"/>
              </a:lnSpc>
            </a:pPr>
            <a:r>
              <a:rPr sz="1200" b="0">
                <a:solidFill>
                  <a:srgbClr val="4A5A68"/>
                </a:solidFill>
                <a:latin typeface="Meiryo"/>
                <a:ea typeface="Meiryo"/>
                <a:cs typeface="Meiryo"/>
              </a:rPr>
              <a:t>画素単位の Recall / Precision / F値。従来から使っている指標。</a:t>
            </a:r>
          </a:p>
        </p:txBody>
      </p:sp>
      <p:sp>
        <p:nvSpPr>
          <p:cNvPr id="9" name="Rounded Rectangle 8"/>
          <p:cNvSpPr/>
          <p:nvPr/>
        </p:nvSpPr>
        <p:spPr>
          <a:xfrm>
            <a:off x="6327648" y="1371600"/>
            <a:ext cx="5532120" cy="164592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6601968" y="1645920"/>
            <a:ext cx="402336" cy="402336"/>
          </a:xfrm>
          <a:prstGeom prst="ellipse">
            <a:avLst/>
          </a:prstGeom>
          <a:solidFill>
            <a:srgbClr val="3D6B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Meiryo"/>
                <a:ea typeface="Meiryo"/>
                <a:cs typeface="Meiryo"/>
              </a:rPr>
              <a:t>2</a:t>
            </a:r>
          </a:p>
        </p:txBody>
      </p:sp>
      <p:sp>
        <p:nvSpPr>
          <p:cNvPr id="11" name="TextBox 10"/>
          <p:cNvSpPr txBox="1"/>
          <p:nvPr/>
        </p:nvSpPr>
        <p:spPr>
          <a:xfrm>
            <a:off x="7168896" y="1682496"/>
            <a:ext cx="4389120" cy="310896"/>
          </a:xfrm>
          <a:prstGeom prst="rect">
            <a:avLst/>
          </a:prstGeom>
          <a:noFill/>
        </p:spPr>
        <p:txBody>
          <a:bodyPr wrap="square" lIns="0" tIns="0" rIns="0" bIns="0">
            <a:spAutoFit/>
          </a:bodyPr>
          <a:lstStyle/>
          <a:p>
            <a:pPr algn="l"/>
            <a:r>
              <a:rPr sz="1500" b="1">
                <a:solidFill>
                  <a:srgbClr val="23313C"/>
                </a:solidFill>
                <a:latin typeface="Meiryo"/>
                <a:ea typeface="Meiryo"/>
                <a:cs typeface="Meiryo"/>
              </a:rPr>
              <a:t>箇所数評価</a:t>
            </a:r>
          </a:p>
        </p:txBody>
      </p:sp>
      <p:sp>
        <p:nvSpPr>
          <p:cNvPr id="12" name="TextBox 11"/>
          <p:cNvSpPr txBox="1"/>
          <p:nvPr/>
        </p:nvSpPr>
        <p:spPr>
          <a:xfrm>
            <a:off x="6601968" y="2212848"/>
            <a:ext cx="4983480" cy="694944"/>
          </a:xfrm>
          <a:prstGeom prst="rect">
            <a:avLst/>
          </a:prstGeom>
          <a:noFill/>
        </p:spPr>
        <p:txBody>
          <a:bodyPr wrap="square" lIns="0" tIns="0" rIns="0" bIns="0">
            <a:spAutoFit/>
          </a:bodyPr>
          <a:lstStyle/>
          <a:p>
            <a:pPr algn="l">
              <a:lnSpc>
                <a:spcPct val="150000"/>
              </a:lnSpc>
            </a:pPr>
            <a:r>
              <a:rPr sz="1200" b="0">
                <a:solidFill>
                  <a:srgbClr val="4A5A68"/>
                </a:solidFill>
                <a:latin typeface="Meiryo"/>
                <a:ea typeface="Meiryo"/>
                <a:cs typeface="Meiryo"/>
              </a:rPr>
              <a:t>かたまり単位で数える。被覆方式。行政の単位に近い。</a:t>
            </a:r>
          </a:p>
        </p:txBody>
      </p:sp>
      <p:sp>
        <p:nvSpPr>
          <p:cNvPr id="13" name="Rounded Rectangle 12"/>
          <p:cNvSpPr/>
          <p:nvPr/>
        </p:nvSpPr>
        <p:spPr>
          <a:xfrm>
            <a:off x="566928" y="3200400"/>
            <a:ext cx="5532120" cy="164592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841247" y="3474720"/>
            <a:ext cx="402336" cy="402336"/>
          </a:xfrm>
          <a:prstGeom prst="ellipse">
            <a:avLst/>
          </a:prstGeom>
          <a:solidFill>
            <a:srgbClr val="A7BEA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23313C"/>
                </a:solidFill>
                <a:latin typeface="Meiryo"/>
                <a:ea typeface="Meiryo"/>
                <a:cs typeface="Meiryo"/>
              </a:rPr>
              <a:t>3</a:t>
            </a:r>
          </a:p>
        </p:txBody>
      </p:sp>
      <p:sp>
        <p:nvSpPr>
          <p:cNvPr id="15" name="TextBox 14"/>
          <p:cNvSpPr txBox="1"/>
          <p:nvPr/>
        </p:nvSpPr>
        <p:spPr>
          <a:xfrm>
            <a:off x="1408176" y="3511296"/>
            <a:ext cx="4389120" cy="310896"/>
          </a:xfrm>
          <a:prstGeom prst="rect">
            <a:avLst/>
          </a:prstGeom>
          <a:noFill/>
        </p:spPr>
        <p:txBody>
          <a:bodyPr wrap="square" lIns="0" tIns="0" rIns="0" bIns="0">
            <a:spAutoFit/>
          </a:bodyPr>
          <a:lstStyle/>
          <a:p>
            <a:pPr algn="l"/>
            <a:r>
              <a:rPr sz="1500" b="1">
                <a:solidFill>
                  <a:srgbClr val="23313C"/>
                </a:solidFill>
                <a:latin typeface="Meiryo"/>
                <a:ea typeface="Meiryo"/>
                <a:cs typeface="Meiryo"/>
              </a:rPr>
              <a:t>境界評価</a:t>
            </a:r>
          </a:p>
        </p:txBody>
      </p:sp>
      <p:sp>
        <p:nvSpPr>
          <p:cNvPr id="16" name="TextBox 15"/>
          <p:cNvSpPr txBox="1"/>
          <p:nvPr/>
        </p:nvSpPr>
        <p:spPr>
          <a:xfrm>
            <a:off x="841247" y="4041648"/>
            <a:ext cx="4983480" cy="694944"/>
          </a:xfrm>
          <a:prstGeom prst="rect">
            <a:avLst/>
          </a:prstGeom>
          <a:noFill/>
        </p:spPr>
        <p:txBody>
          <a:bodyPr wrap="square" lIns="0" tIns="0" rIns="0" bIns="0">
            <a:spAutoFit/>
          </a:bodyPr>
          <a:lstStyle/>
          <a:p>
            <a:pPr algn="l">
              <a:lnSpc>
                <a:spcPct val="150000"/>
              </a:lnSpc>
            </a:pPr>
            <a:r>
              <a:rPr sz="1200" b="0">
                <a:solidFill>
                  <a:srgbClr val="4A5A68"/>
                </a:solidFill>
                <a:latin typeface="Meiryo"/>
                <a:ea typeface="Meiryo"/>
                <a:cs typeface="Meiryo"/>
              </a:rPr>
              <a:t>タイル中央 96×96 だけで測る。外周の切れ端の影響を外す。</a:t>
            </a:r>
          </a:p>
        </p:txBody>
      </p:sp>
      <p:sp>
        <p:nvSpPr>
          <p:cNvPr id="17" name="Rounded Rectangle 16"/>
          <p:cNvSpPr/>
          <p:nvPr/>
        </p:nvSpPr>
        <p:spPr>
          <a:xfrm>
            <a:off x="6327648" y="3200400"/>
            <a:ext cx="5532120" cy="164592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601968" y="3474720"/>
            <a:ext cx="402336" cy="402336"/>
          </a:xfrm>
          <a:prstGeom prst="ellipse">
            <a:avLst/>
          </a:prstGeom>
          <a:solidFill>
            <a:srgbClr val="C892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Meiryo"/>
                <a:ea typeface="Meiryo"/>
                <a:cs typeface="Meiryo"/>
              </a:rPr>
              <a:t>4</a:t>
            </a:r>
          </a:p>
        </p:txBody>
      </p:sp>
      <p:sp>
        <p:nvSpPr>
          <p:cNvPr id="19" name="TextBox 18"/>
          <p:cNvSpPr txBox="1"/>
          <p:nvPr/>
        </p:nvSpPr>
        <p:spPr>
          <a:xfrm>
            <a:off x="7168896" y="3511296"/>
            <a:ext cx="4389120" cy="310896"/>
          </a:xfrm>
          <a:prstGeom prst="rect">
            <a:avLst/>
          </a:prstGeom>
          <a:noFill/>
        </p:spPr>
        <p:txBody>
          <a:bodyPr wrap="square" lIns="0" tIns="0" rIns="0" bIns="0">
            <a:spAutoFit/>
          </a:bodyPr>
          <a:lstStyle/>
          <a:p>
            <a:pPr algn="l"/>
            <a:r>
              <a:rPr sz="1500" b="1">
                <a:solidFill>
                  <a:srgbClr val="23313C"/>
                </a:solidFill>
                <a:latin typeface="Meiryo"/>
                <a:ea typeface="Meiryo"/>
                <a:cs typeface="Meiryo"/>
              </a:rPr>
              <a:t>オーバーラップ推論</a:t>
            </a:r>
          </a:p>
        </p:txBody>
      </p:sp>
      <p:sp>
        <p:nvSpPr>
          <p:cNvPr id="20" name="TextBox 19"/>
          <p:cNvSpPr txBox="1"/>
          <p:nvPr/>
        </p:nvSpPr>
        <p:spPr>
          <a:xfrm>
            <a:off x="6601968" y="4041648"/>
            <a:ext cx="4983480" cy="694944"/>
          </a:xfrm>
          <a:prstGeom prst="rect">
            <a:avLst/>
          </a:prstGeom>
          <a:noFill/>
        </p:spPr>
        <p:txBody>
          <a:bodyPr wrap="square" lIns="0" tIns="0" rIns="0" bIns="0">
            <a:spAutoFit/>
          </a:bodyPr>
          <a:lstStyle/>
          <a:p>
            <a:pPr algn="l">
              <a:lnSpc>
                <a:spcPct val="150000"/>
              </a:lnSpc>
            </a:pPr>
            <a:r>
              <a:rPr sz="1200" b="0">
                <a:solidFill>
                  <a:srgbClr val="4A5A68"/>
                </a:solidFill>
                <a:latin typeface="Meiryo"/>
                <a:ea typeface="Meiryo"/>
                <a:cs typeface="Meiryo"/>
              </a:rPr>
              <a:t>3×3近傍を貼り合わせ、64px ずつずらした9窓で推論して統合する。</a:t>
            </a:r>
          </a:p>
        </p:txBody>
      </p:sp>
      <p:sp>
        <p:nvSpPr>
          <p:cNvPr id="21" name="TextBox 20"/>
          <p:cNvSpPr txBox="1"/>
          <p:nvPr/>
        </p:nvSpPr>
        <p:spPr>
          <a:xfrm>
            <a:off x="566928" y="5193792"/>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①②は「何を数えるか」、③④は「どこを・どう推論するか」の軸。④は学習をやり直さず、すべての重みに後から掛けられる。</a:t>
            </a:r>
          </a:p>
        </p:txBody>
      </p:sp>
      <p:sp>
        <p:nvSpPr>
          <p:cNvPr id="22" name="TextBox 21"/>
          <p:cNvSpPr txBox="1"/>
          <p:nvPr/>
        </p:nvSpPr>
        <p:spPr>
          <a:xfrm>
            <a:off x="566928" y="5870448"/>
            <a:ext cx="11057839" cy="457200"/>
          </a:xfrm>
          <a:prstGeom prst="rect">
            <a:avLst/>
          </a:prstGeom>
          <a:noFill/>
        </p:spPr>
        <p:txBody>
          <a:bodyPr wrap="square" lIns="0" tIns="0" rIns="0" bIns="0">
            <a:spAutoFit/>
          </a:bodyPr>
          <a:lstStyle/>
          <a:p>
            <a:pPr algn="l"/>
            <a:r>
              <a:rPr sz="1400" b="1">
                <a:solidFill>
                  <a:srgbClr val="23313C"/>
                </a:solidFill>
                <a:latin typeface="Meiryo"/>
                <a:ea typeface="Meiryo"/>
                <a:cs typeface="Meiryo"/>
              </a:rPr>
              <a:t>この④が、結果として唯一はっきり効いた施策になった（第5章）。</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第2章 ①</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ベースになる構造 — 2枝 U-Net（Final 融合）</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9</a:t>
            </a:r>
          </a:p>
        </p:txBody>
      </p:sp>
      <p:sp>
        <p:nvSpPr>
          <p:cNvPr id="5" name="TextBox 4"/>
          <p:cNvSpPr txBox="1"/>
          <p:nvPr/>
        </p:nvSpPr>
        <p:spPr>
          <a:xfrm>
            <a:off x="566928" y="1261872"/>
            <a:ext cx="11057839" cy="402336"/>
          </a:xfrm>
          <a:prstGeom prst="rect">
            <a:avLst/>
          </a:prstGeom>
          <a:noFill/>
        </p:spPr>
        <p:txBody>
          <a:bodyPr wrap="square" lIns="0" tIns="0" rIns="0" bIns="0">
            <a:spAutoFit/>
          </a:bodyPr>
          <a:lstStyle/>
          <a:p>
            <a:pPr algn="l">
              <a:lnSpc>
                <a:spcPct val="145000"/>
              </a:lnSpc>
            </a:pPr>
            <a:r>
              <a:rPr sz="1250" b="0">
                <a:solidFill>
                  <a:srgbClr val="4A5A68"/>
                </a:solidFill>
                <a:latin typeface="Meiryo"/>
                <a:ea typeface="Meiryo"/>
                <a:cs typeface="Meiryo"/>
              </a:rPr>
              <a:t>地形量と航空写真を別々のエンコーダで符号化し、ボトルネックで初めて連結する。各解像度のスキップ接続は、両枝を連結してデコーダに渡す。</a:t>
            </a:r>
          </a:p>
        </p:txBody>
      </p:sp>
      <p:sp>
        <p:nvSpPr>
          <p:cNvPr id="6" name="Rounded Rectangle 5"/>
          <p:cNvSpPr/>
          <p:nvPr/>
        </p:nvSpPr>
        <p:spPr>
          <a:xfrm>
            <a:off x="1188720" y="1810512"/>
            <a:ext cx="1737360" cy="475488"/>
          </a:xfrm>
          <a:prstGeom prst="roundRect">
            <a:avLst>
              <a:gd name="adj" fmla="val 10000"/>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FFFFFF"/>
                </a:solidFill>
                <a:latin typeface="Meiryo"/>
                <a:ea typeface="Meiryo"/>
                <a:cs typeface="Meiryo"/>
              </a:rPr>
              <a:t>128×128  64ch</a:t>
            </a:r>
          </a:p>
        </p:txBody>
      </p:sp>
      <p:sp>
        <p:nvSpPr>
          <p:cNvPr id="7" name="Rounded Rectangle 6"/>
          <p:cNvSpPr/>
          <p:nvPr/>
        </p:nvSpPr>
        <p:spPr>
          <a:xfrm>
            <a:off x="1188720" y="2414016"/>
            <a:ext cx="1737360" cy="475488"/>
          </a:xfrm>
          <a:prstGeom prst="roundRect">
            <a:avLst>
              <a:gd name="adj" fmla="val 10000"/>
            </a:avLst>
          </a:prstGeom>
          <a:solidFill>
            <a:srgbClr val="A7BEA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23313C"/>
                </a:solidFill>
                <a:latin typeface="Meiryo"/>
                <a:ea typeface="Meiryo"/>
                <a:cs typeface="Meiryo"/>
              </a:rPr>
              <a:t>128×128  64ch</a:t>
            </a:r>
          </a:p>
        </p:txBody>
      </p:sp>
      <p:sp>
        <p:nvSpPr>
          <p:cNvPr id="8" name="Rounded Rectangle 7"/>
          <p:cNvSpPr/>
          <p:nvPr/>
        </p:nvSpPr>
        <p:spPr>
          <a:xfrm>
            <a:off x="3291840" y="1810512"/>
            <a:ext cx="1737360" cy="475488"/>
          </a:xfrm>
          <a:prstGeom prst="roundRect">
            <a:avLst>
              <a:gd name="adj" fmla="val 10000"/>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FFFFFF"/>
                </a:solidFill>
                <a:latin typeface="Meiryo"/>
                <a:ea typeface="Meiryo"/>
                <a:cs typeface="Meiryo"/>
              </a:rPr>
              <a:t>64×64  128ch</a:t>
            </a:r>
          </a:p>
        </p:txBody>
      </p:sp>
      <p:sp>
        <p:nvSpPr>
          <p:cNvPr id="9" name="Rounded Rectangle 8"/>
          <p:cNvSpPr/>
          <p:nvPr/>
        </p:nvSpPr>
        <p:spPr>
          <a:xfrm>
            <a:off x="3291840" y="2414016"/>
            <a:ext cx="1737360" cy="475488"/>
          </a:xfrm>
          <a:prstGeom prst="roundRect">
            <a:avLst>
              <a:gd name="adj" fmla="val 10000"/>
            </a:avLst>
          </a:prstGeom>
          <a:solidFill>
            <a:srgbClr val="A7BEA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23313C"/>
                </a:solidFill>
                <a:latin typeface="Meiryo"/>
                <a:ea typeface="Meiryo"/>
                <a:cs typeface="Meiryo"/>
              </a:rPr>
              <a:t>64×64  128ch</a:t>
            </a:r>
          </a:p>
        </p:txBody>
      </p:sp>
      <p:cxnSp>
        <p:nvCxnSpPr>
          <p:cNvPr id="10" name="Connector 9"/>
          <p:cNvCxnSpPr/>
          <p:nvPr/>
        </p:nvCxnSpPr>
        <p:spPr>
          <a:xfrm>
            <a:off x="2926080" y="2048256"/>
            <a:ext cx="365760"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26080" y="2651760"/>
            <a:ext cx="365760"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394960" y="1810512"/>
            <a:ext cx="1737360" cy="475488"/>
          </a:xfrm>
          <a:prstGeom prst="roundRect">
            <a:avLst>
              <a:gd name="adj" fmla="val 10000"/>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FFFFFF"/>
                </a:solidFill>
                <a:latin typeface="Meiryo"/>
                <a:ea typeface="Meiryo"/>
                <a:cs typeface="Meiryo"/>
              </a:rPr>
              <a:t>32×32  256ch</a:t>
            </a:r>
          </a:p>
        </p:txBody>
      </p:sp>
      <p:sp>
        <p:nvSpPr>
          <p:cNvPr id="13" name="Rounded Rectangle 12"/>
          <p:cNvSpPr/>
          <p:nvPr/>
        </p:nvSpPr>
        <p:spPr>
          <a:xfrm>
            <a:off x="5394960" y="2414016"/>
            <a:ext cx="1737360" cy="475488"/>
          </a:xfrm>
          <a:prstGeom prst="roundRect">
            <a:avLst>
              <a:gd name="adj" fmla="val 10000"/>
            </a:avLst>
          </a:prstGeom>
          <a:solidFill>
            <a:srgbClr val="A7BEA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23313C"/>
                </a:solidFill>
                <a:latin typeface="Meiryo"/>
                <a:ea typeface="Meiryo"/>
                <a:cs typeface="Meiryo"/>
              </a:rPr>
              <a:t>32×32  256ch</a:t>
            </a:r>
          </a:p>
        </p:txBody>
      </p:sp>
      <p:cxnSp>
        <p:nvCxnSpPr>
          <p:cNvPr id="14" name="Connector 13"/>
          <p:cNvCxnSpPr/>
          <p:nvPr/>
        </p:nvCxnSpPr>
        <p:spPr>
          <a:xfrm>
            <a:off x="5029200" y="2048256"/>
            <a:ext cx="365760"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029200" y="2651760"/>
            <a:ext cx="365760"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498079" y="1810512"/>
            <a:ext cx="1737360" cy="475488"/>
          </a:xfrm>
          <a:prstGeom prst="roundRect">
            <a:avLst>
              <a:gd name="adj" fmla="val 10000"/>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FFFFFF"/>
                </a:solidFill>
                <a:latin typeface="Meiryo"/>
                <a:ea typeface="Meiryo"/>
                <a:cs typeface="Meiryo"/>
              </a:rPr>
              <a:t>16×16  512ch</a:t>
            </a:r>
          </a:p>
        </p:txBody>
      </p:sp>
      <p:sp>
        <p:nvSpPr>
          <p:cNvPr id="17" name="Rounded Rectangle 16"/>
          <p:cNvSpPr/>
          <p:nvPr/>
        </p:nvSpPr>
        <p:spPr>
          <a:xfrm>
            <a:off x="7498079" y="2414016"/>
            <a:ext cx="1737360" cy="475488"/>
          </a:xfrm>
          <a:prstGeom prst="roundRect">
            <a:avLst>
              <a:gd name="adj" fmla="val 10000"/>
            </a:avLst>
          </a:prstGeom>
          <a:solidFill>
            <a:srgbClr val="A7BEA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23313C"/>
                </a:solidFill>
                <a:latin typeface="Meiryo"/>
                <a:ea typeface="Meiryo"/>
                <a:cs typeface="Meiryo"/>
              </a:rPr>
              <a:t>16×16  512ch</a:t>
            </a:r>
          </a:p>
        </p:txBody>
      </p:sp>
      <p:cxnSp>
        <p:nvCxnSpPr>
          <p:cNvPr id="18" name="Connector 17"/>
          <p:cNvCxnSpPr/>
          <p:nvPr/>
        </p:nvCxnSpPr>
        <p:spPr>
          <a:xfrm>
            <a:off x="7132320" y="2048256"/>
            <a:ext cx="365759"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132320" y="2651760"/>
            <a:ext cx="365759"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66928" y="1901952"/>
            <a:ext cx="603504" cy="274320"/>
          </a:xfrm>
          <a:prstGeom prst="rect">
            <a:avLst/>
          </a:prstGeom>
          <a:noFill/>
        </p:spPr>
        <p:txBody>
          <a:bodyPr wrap="square" lIns="0" tIns="0" rIns="0" bIns="0">
            <a:spAutoFit/>
          </a:bodyPr>
          <a:lstStyle/>
          <a:p>
            <a:pPr algn="l"/>
            <a:r>
              <a:rPr sz="1000" b="1">
                <a:solidFill>
                  <a:srgbClr val="23313C"/>
                </a:solidFill>
                <a:latin typeface="Meiryo"/>
                <a:ea typeface="Meiryo"/>
                <a:cs typeface="Meiryo"/>
              </a:rPr>
              <a:t>傾斜量</a:t>
            </a:r>
          </a:p>
        </p:txBody>
      </p:sp>
      <p:sp>
        <p:nvSpPr>
          <p:cNvPr id="21" name="TextBox 20"/>
          <p:cNvSpPr txBox="1"/>
          <p:nvPr/>
        </p:nvSpPr>
        <p:spPr>
          <a:xfrm>
            <a:off x="566928" y="2505456"/>
            <a:ext cx="603504" cy="274320"/>
          </a:xfrm>
          <a:prstGeom prst="rect">
            <a:avLst/>
          </a:prstGeom>
          <a:noFill/>
        </p:spPr>
        <p:txBody>
          <a:bodyPr wrap="square" lIns="0" tIns="0" rIns="0" bIns="0">
            <a:spAutoFit/>
          </a:bodyPr>
          <a:lstStyle/>
          <a:p>
            <a:pPr algn="l"/>
            <a:r>
              <a:rPr sz="1000" b="1">
                <a:solidFill>
                  <a:srgbClr val="23313C"/>
                </a:solidFill>
                <a:latin typeface="Meiryo"/>
                <a:ea typeface="Meiryo"/>
                <a:cs typeface="Meiryo"/>
              </a:rPr>
              <a:t>航空写真</a:t>
            </a:r>
          </a:p>
        </p:txBody>
      </p:sp>
      <p:sp>
        <p:nvSpPr>
          <p:cNvPr id="22" name="Rounded Rectangle 21"/>
          <p:cNvSpPr/>
          <p:nvPr/>
        </p:nvSpPr>
        <p:spPr>
          <a:xfrm>
            <a:off x="9875520" y="2112264"/>
            <a:ext cx="1737360" cy="475488"/>
          </a:xfrm>
          <a:prstGeom prst="roundRect">
            <a:avLst>
              <a:gd name="adj" fmla="val 10000"/>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950" b="0">
                <a:solidFill>
                  <a:srgbClr val="FFFFFF"/>
                </a:solidFill>
                <a:latin typeface="Meiryo"/>
                <a:ea typeface="Meiryo"/>
                <a:cs typeface="Meiryo"/>
              </a:rPr>
              <a:t>ボトルネック</a:t>
            </a:r>
          </a:p>
          <a:p>
            <a:pPr algn="ctr">
              <a:lnSpc>
                <a:spcPct val="125000"/>
              </a:lnSpc>
            </a:pPr>
            <a:r>
              <a:rPr sz="950" b="0">
                <a:solidFill>
                  <a:srgbClr val="FFFFFF"/>
                </a:solidFill>
                <a:latin typeface="Meiryo"/>
                <a:ea typeface="Meiryo"/>
                <a:cs typeface="Meiryo"/>
              </a:rPr>
              <a:t>8×8  1024ch</a:t>
            </a:r>
          </a:p>
        </p:txBody>
      </p:sp>
      <p:cxnSp>
        <p:nvCxnSpPr>
          <p:cNvPr id="23" name="Connector 22"/>
          <p:cNvCxnSpPr/>
          <p:nvPr/>
        </p:nvCxnSpPr>
        <p:spPr>
          <a:xfrm>
            <a:off x="9235440" y="2048256"/>
            <a:ext cx="640080" cy="246888"/>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235440" y="2404872"/>
            <a:ext cx="640080" cy="246888"/>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188720" y="4059936"/>
            <a:ext cx="1737360" cy="475488"/>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23313C"/>
                </a:solidFill>
                <a:latin typeface="Meiryo"/>
                <a:ea typeface="Meiryo"/>
                <a:cs typeface="Meiryo"/>
              </a:rPr>
              <a:t>128×128  64ch</a:t>
            </a:r>
          </a:p>
        </p:txBody>
      </p:sp>
      <p:sp>
        <p:nvSpPr>
          <p:cNvPr id="26" name="Rounded Rectangle 25"/>
          <p:cNvSpPr/>
          <p:nvPr/>
        </p:nvSpPr>
        <p:spPr>
          <a:xfrm>
            <a:off x="3291840" y="4059936"/>
            <a:ext cx="1737360" cy="475488"/>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23313C"/>
                </a:solidFill>
                <a:latin typeface="Meiryo"/>
                <a:ea typeface="Meiryo"/>
                <a:cs typeface="Meiryo"/>
              </a:rPr>
              <a:t>64×64  128ch</a:t>
            </a:r>
          </a:p>
        </p:txBody>
      </p:sp>
      <p:sp>
        <p:nvSpPr>
          <p:cNvPr id="27" name="Rounded Rectangle 26"/>
          <p:cNvSpPr/>
          <p:nvPr/>
        </p:nvSpPr>
        <p:spPr>
          <a:xfrm>
            <a:off x="5394960" y="4059936"/>
            <a:ext cx="1737360" cy="475488"/>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23313C"/>
                </a:solidFill>
                <a:latin typeface="Meiryo"/>
                <a:ea typeface="Meiryo"/>
                <a:cs typeface="Meiryo"/>
              </a:rPr>
              <a:t>32×32  256ch</a:t>
            </a:r>
          </a:p>
        </p:txBody>
      </p:sp>
      <p:sp>
        <p:nvSpPr>
          <p:cNvPr id="28" name="Rounded Rectangle 27"/>
          <p:cNvSpPr/>
          <p:nvPr/>
        </p:nvSpPr>
        <p:spPr>
          <a:xfrm>
            <a:off x="7498079" y="4059936"/>
            <a:ext cx="1737360" cy="475488"/>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23313C"/>
                </a:solidFill>
                <a:latin typeface="Meiryo"/>
                <a:ea typeface="Meiryo"/>
                <a:cs typeface="Meiryo"/>
              </a:rPr>
              <a:t>16×16  512ch</a:t>
            </a:r>
          </a:p>
        </p:txBody>
      </p:sp>
      <p:cxnSp>
        <p:nvCxnSpPr>
          <p:cNvPr id="29" name="Connector 28"/>
          <p:cNvCxnSpPr/>
          <p:nvPr/>
        </p:nvCxnSpPr>
        <p:spPr>
          <a:xfrm flipH="1">
            <a:off x="7132320" y="4297680"/>
            <a:ext cx="365759"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5029200" y="4297680"/>
            <a:ext cx="365760"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2926080" y="4297680"/>
            <a:ext cx="365760"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9189720" y="2587752"/>
            <a:ext cx="1554480" cy="1472184"/>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372600" y="3163824"/>
            <a:ext cx="2240280" cy="237744"/>
          </a:xfrm>
          <a:prstGeom prst="rect">
            <a:avLst/>
          </a:prstGeom>
          <a:noFill/>
        </p:spPr>
        <p:txBody>
          <a:bodyPr wrap="square" lIns="0" tIns="0" rIns="0" bIns="0">
            <a:spAutoFit/>
          </a:bodyPr>
          <a:lstStyle/>
          <a:p>
            <a:pPr algn="ctr"/>
            <a:r>
              <a:rPr sz="950" b="0">
                <a:solidFill>
                  <a:srgbClr val="4A5A68"/>
                </a:solidFill>
                <a:latin typeface="Meiryo"/>
                <a:ea typeface="Meiryo"/>
                <a:cs typeface="Meiryo"/>
              </a:rPr>
              <a:t>アップサンプリング</a:t>
            </a:r>
          </a:p>
        </p:txBody>
      </p:sp>
      <p:cxnSp>
        <p:nvCxnSpPr>
          <p:cNvPr id="34" name="Connector 33"/>
          <p:cNvCxnSpPr/>
          <p:nvPr/>
        </p:nvCxnSpPr>
        <p:spPr>
          <a:xfrm>
            <a:off x="2057400" y="2944368"/>
            <a:ext cx="0" cy="1078992"/>
          </a:xfrm>
          <a:prstGeom prst="line">
            <a:avLst/>
          </a:prstGeom>
          <a:ln w="13970">
            <a:solidFill>
              <a:srgbClr val="4A5A6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160520" y="2944368"/>
            <a:ext cx="0" cy="1078992"/>
          </a:xfrm>
          <a:prstGeom prst="line">
            <a:avLst/>
          </a:prstGeom>
          <a:ln w="20320">
            <a:solidFill>
              <a:srgbClr val="B85042"/>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263640" y="2944368"/>
            <a:ext cx="0" cy="1078992"/>
          </a:xfrm>
          <a:prstGeom prst="line">
            <a:avLst/>
          </a:prstGeom>
          <a:ln w="13970">
            <a:solidFill>
              <a:srgbClr val="4A5A6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366759" y="2944368"/>
            <a:ext cx="0" cy="1078992"/>
          </a:xfrm>
          <a:prstGeom prst="line">
            <a:avLst/>
          </a:prstGeom>
          <a:ln w="13970">
            <a:solidFill>
              <a:srgbClr val="4A5A68"/>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1188720" y="4700016"/>
            <a:ext cx="1737360" cy="402336"/>
          </a:xfrm>
          <a:prstGeom prst="roundRect">
            <a:avLst>
              <a:gd name="adj" fmla="val 10000"/>
            </a:avLst>
          </a:prstGeom>
          <a:solidFill>
            <a:srgbClr val="3D6B4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FFFFFF"/>
                </a:solidFill>
                <a:latin typeface="Meiryo"/>
                <a:ea typeface="Meiryo"/>
                <a:cs typeface="Meiryo"/>
              </a:rPr>
              <a:t>出力 128×128  1ch</a:t>
            </a:r>
          </a:p>
        </p:txBody>
      </p:sp>
      <p:cxnSp>
        <p:nvCxnSpPr>
          <p:cNvPr id="39" name="Connector 38"/>
          <p:cNvCxnSpPr/>
          <p:nvPr/>
        </p:nvCxnSpPr>
        <p:spPr>
          <a:xfrm>
            <a:off x="2057400" y="4535424"/>
            <a:ext cx="0" cy="164592"/>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66928" y="5248656"/>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点線＝スキップ接続。両枝を連結して渡す。赤い線が skip2 で、第3章の改良はここを触る。</a:t>
            </a:r>
          </a:p>
        </p:txBody>
      </p:sp>
      <p:sp>
        <p:nvSpPr>
          <p:cNvPr id="41" name="TextBox 40"/>
          <p:cNvSpPr txBox="1"/>
          <p:nvPr/>
        </p:nvSpPr>
        <p:spPr>
          <a:xfrm>
            <a:off x="566928" y="5870448"/>
            <a:ext cx="11057839" cy="457200"/>
          </a:xfrm>
          <a:prstGeom prst="rect">
            <a:avLst/>
          </a:prstGeom>
          <a:noFill/>
        </p:spPr>
        <p:txBody>
          <a:bodyPr wrap="square" lIns="0" tIns="0" rIns="0" bIns="0">
            <a:spAutoFit/>
          </a:bodyPr>
          <a:lstStyle/>
          <a:p>
            <a:pPr algn="l"/>
            <a:r>
              <a:rPr sz="1300" b="0">
                <a:solidFill>
                  <a:srgbClr val="23313C"/>
                </a:solidFill>
                <a:latin typeface="Meiryo"/>
                <a:ea typeface="Meiryo"/>
                <a:cs typeface="Meiryo"/>
              </a:rPr>
              <a:t>この構造が出発点 </a:t>
            </a:r>
            <a:r>
              <a:rPr sz="1300" b="1">
                <a:solidFill>
                  <a:srgbClr val="23313C"/>
                </a:solidFill>
                <a:latin typeface="Meiryo"/>
                <a:ea typeface="Meiryo"/>
                <a:cs typeface="Meiryo"/>
              </a:rPr>
              <a:t>FinalFusion_SAM_APM（43.58M・面積F 0.6727 / 箇所F 0.6506）</a:t>
            </a:r>
            <a:r>
              <a:rPr sz="1300" b="0">
                <a:solidFill>
                  <a:srgbClr val="23313C"/>
                </a:solidFill>
                <a:latin typeface="Meiryo"/>
                <a:ea typeface="Meiryo"/>
                <a:cs typeface="Meiryo"/>
              </a:rPr>
              <a:t>。以降の比較はすべてこれを基準にする。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第2章 ⑤</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既存6構造の比較（広島・警戒あり2,964枚）</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13</a:t>
            </a:r>
          </a:p>
        </p:txBody>
      </p:sp>
      <p:graphicFrame>
        <p:nvGraphicFramePr>
          <p:cNvPr id="5" name="Chart 4"/>
          <p:cNvGraphicFramePr>
            <a:graphicFrameLocks noGrp="1"/>
          </p:cNvGraphicFramePr>
          <p:nvPr/>
        </p:nvGraphicFramePr>
        <p:xfrm>
          <a:off x="566928" y="1298448"/>
          <a:ext cx="11057839" cy="301752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566928" y="4443984"/>
            <a:ext cx="5532120" cy="1188720"/>
          </a:xfrm>
          <a:prstGeom prst="rect">
            <a:avLst/>
          </a:prstGeom>
          <a:noFill/>
        </p:spPr>
        <p:txBody>
          <a:bodyPr wrap="square" lIns="0" tIns="0" rIns="0" bIns="0">
            <a:spAutoFit/>
          </a:bodyPr>
          <a:lstStyle/>
          <a:p>
            <a:pPr algn="l">
              <a:lnSpc>
                <a:spcPct val="145000"/>
              </a:lnSpc>
            </a:pPr>
            <a:r>
              <a:rPr sz="1400" b="1">
                <a:solidFill>
                  <a:srgbClr val="23313C"/>
                </a:solidFill>
                <a:latin typeface="Meiryo"/>
                <a:ea typeface="Meiryo"/>
                <a:cs typeface="Meiryo"/>
              </a:rPr>
              <a:t>入力の融合位置だけが効いた</a:t>
            </a:r>
          </a:p>
          <a:p>
            <a:pPr algn="l">
              <a:lnSpc>
                <a:spcPct val="145000"/>
              </a:lnSpc>
            </a:pPr>
            <a:r>
              <a:rPr sz="1200" b="0">
                <a:solidFill>
                  <a:srgbClr val="4A5A68"/>
                </a:solidFill>
                <a:latin typeface="Meiryo"/>
                <a:ea typeface="Meiryo"/>
                <a:cs typeface="Meiryo"/>
              </a:rPr>
              <a:t>エンコーダの入口で足す Early 融合は明確に悪い（−0.036）。Middle 以降は 0.672〜0.676 に収まり差がつかない。</a:t>
            </a:r>
          </a:p>
        </p:txBody>
      </p:sp>
      <p:sp>
        <p:nvSpPr>
          <p:cNvPr id="7" name="TextBox 6"/>
          <p:cNvSpPr txBox="1"/>
          <p:nvPr/>
        </p:nvSpPr>
        <p:spPr>
          <a:xfrm>
            <a:off x="6327648" y="4443984"/>
            <a:ext cx="5297119" cy="1188720"/>
          </a:xfrm>
          <a:prstGeom prst="rect">
            <a:avLst/>
          </a:prstGeom>
          <a:noFill/>
        </p:spPr>
        <p:txBody>
          <a:bodyPr wrap="square" lIns="0" tIns="0" rIns="0" bIns="0">
            <a:spAutoFit/>
          </a:bodyPr>
          <a:lstStyle/>
          <a:p>
            <a:pPr algn="l">
              <a:lnSpc>
                <a:spcPct val="145000"/>
              </a:lnSpc>
            </a:pPr>
            <a:r>
              <a:rPr sz="1400" b="1">
                <a:solidFill>
                  <a:srgbClr val="23313C"/>
                </a:solidFill>
                <a:latin typeface="Meiryo"/>
                <a:ea typeface="Meiryo"/>
                <a:cs typeface="Meiryo"/>
              </a:rPr>
              <a:t>注意機構・Transformer・パラメータ量は効かない</a:t>
            </a:r>
          </a:p>
          <a:p>
            <a:pPr algn="l">
              <a:lnSpc>
                <a:spcPct val="145000"/>
              </a:lnSpc>
            </a:pPr>
            <a:r>
              <a:rPr sz="1200" b="0">
                <a:solidFill>
                  <a:srgbClr val="4A5A68"/>
                </a:solidFill>
                <a:latin typeface="Meiryo"/>
                <a:ea typeface="Meiryo"/>
                <a:cs typeface="Meiryo"/>
              </a:rPr>
              <a:t>TransUNet は 94M（Final の2.2倍）あるのに 0.6728 で同じ。パラメータを増やしても伸びない。</a:t>
            </a:r>
          </a:p>
        </p:txBody>
      </p:sp>
      <p:sp>
        <p:nvSpPr>
          <p:cNvPr id="8" name="Rounded Rectangle 7"/>
          <p:cNvSpPr/>
          <p:nvPr/>
        </p:nvSpPr>
        <p:spPr>
          <a:xfrm>
            <a:off x="566928" y="5760720"/>
            <a:ext cx="11057839" cy="777240"/>
          </a:xfrm>
          <a:prstGeom prst="roundRect">
            <a:avLst>
              <a:gd name="adj" fmla="val 6000"/>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77824" y="5760720"/>
            <a:ext cx="10436047" cy="777240"/>
          </a:xfrm>
          <a:prstGeom prst="rect">
            <a:avLst/>
          </a:prstGeom>
          <a:noFill/>
        </p:spPr>
        <p:txBody>
          <a:bodyPr wrap="square" lIns="0" tIns="0" rIns="0" bIns="0" anchor="ctr">
            <a:spAutoFit/>
          </a:bodyPr>
          <a:lstStyle/>
          <a:p>
            <a:pPr algn="l">
              <a:lnSpc>
                <a:spcPct val="140000"/>
              </a:lnSpc>
            </a:pPr>
            <a:r>
              <a:rPr sz="1350" b="0">
                <a:solidFill>
                  <a:srgbClr val="FFFFFF"/>
                </a:solidFill>
                <a:latin typeface="Meiryo"/>
                <a:ea typeface="Meiryo"/>
                <a:cs typeface="Meiryo"/>
              </a:rPr>
              <a:t>既存4構造（Middle / Final / Attention / Trans）は 0.672〜0.681 の帯に収まる。この帯の幅が、以降「効いた」と言えるかどうかの基準になる。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第2章 ⑥</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データ拡張だけが過学習を解いた</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14</a:t>
            </a:r>
          </a:p>
        </p:txBody>
      </p:sp>
      <p:graphicFrame>
        <p:nvGraphicFramePr>
          <p:cNvPr id="5" name="Table 4"/>
          <p:cNvGraphicFramePr>
            <a:graphicFrameLocks noGrp="1"/>
          </p:cNvGraphicFramePr>
          <p:nvPr/>
        </p:nvGraphicFramePr>
        <p:xfrm>
          <a:off x="566928" y="1371600"/>
          <a:ext cx="11055096" cy="1225296"/>
        </p:xfrm>
        <a:graphic>
          <a:graphicData uri="http://schemas.openxmlformats.org/drawingml/2006/table">
            <a:tbl>
              <a:tblPr>
                <a:tableStyleId>{5C22544A-7EE6-4342-B048-85BDC9FD1C3A}</a:tableStyleId>
              </a:tblPr>
              <a:tblGrid>
                <a:gridCol w="32918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68296">
                  <a:extLst>
                    <a:ext uri="{9D8B030D-6E8A-4147-A177-3AD203B41FA5}">
                      <a16:colId xmlns:a16="http://schemas.microsoft.com/office/drawing/2014/main" val="20003"/>
                    </a:ext>
                  </a:extLst>
                </a:gridCol>
              </a:tblGrid>
              <a:tr h="384048">
                <a:tc>
                  <a:txBody>
                    <a:bodyPr/>
                    <a:lstStyle/>
                    <a:p>
                      <a:pPr algn="l"/>
                      <a:r>
                        <a:rPr sz="1100" b="1">
                          <a:solidFill>
                            <a:srgbClr val="FFFFFF"/>
                          </a:solidFill>
                          <a:latin typeface="Meiryo"/>
                          <a:ea typeface="Meiryo"/>
                          <a:cs typeface="Meiryo"/>
                        </a:rPr>
                        <a:t>条件群</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最良エポックの位置</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訓練F1 − 検証F1</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最良 検証F1</a:t>
                      </a:r>
                    </a:p>
                  </a:txBody>
                  <a:tcPr marL="64008" marR="64008" marT="18288" marB="18288" anchor="ctr">
                    <a:solidFill>
                      <a:srgbClr val="23313C"/>
                    </a:solidFill>
                  </a:tcPr>
                </a:tc>
                <a:extLst>
                  <a:ext uri="{0D108BD9-81ED-4DB2-BD59-A6C34878D82A}">
                    <a16:rowId xmlns:a16="http://schemas.microsoft.com/office/drawing/2014/main" val="10000"/>
                  </a:ext>
                </a:extLst>
              </a:tr>
              <a:tr h="420624">
                <a:tc>
                  <a:txBody>
                    <a:bodyPr/>
                    <a:lstStyle/>
                    <a:p>
                      <a:pPr algn="l"/>
                      <a:r>
                        <a:rPr sz="1100" b="0">
                          <a:solidFill>
                            <a:srgbClr val="23313C"/>
                          </a:solidFill>
                          <a:latin typeface="Meiryo"/>
                          <a:ea typeface="Meiryo"/>
                          <a:cs typeface="Meiryo"/>
                        </a:rPr>
                        <a:t>拡張なし（15条件）</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全体の 2.6〜7.3%</a:t>
                      </a:r>
                    </a:p>
                  </a:txBody>
                  <a:tcPr marL="64008" marR="64008" marT="18288" marB="18288" anchor="ctr">
                    <a:solidFill>
                      <a:srgbClr val="FFFFFF"/>
                    </a:solidFill>
                  </a:tcPr>
                </a:tc>
                <a:tc>
                  <a:txBody>
                    <a:bodyPr/>
                    <a:lstStyle/>
                    <a:p>
                      <a:pPr algn="r"/>
                      <a:r>
                        <a:rPr sz="1100" b="1">
                          <a:solidFill>
                            <a:srgbClr val="B85042"/>
                          </a:solidFill>
                          <a:latin typeface="Meiryo"/>
                          <a:ea typeface="Meiryo"/>
                          <a:cs typeface="Meiryo"/>
                        </a:rPr>
                        <a:t>0.33 〜 0.39</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0.62 〜 0.69</a:t>
                      </a:r>
                    </a:p>
                  </a:txBody>
                  <a:tcPr marL="64008" marR="64008" marT="18288" marB="18288" anchor="ctr">
                    <a:solidFill>
                      <a:srgbClr val="FFFFFF"/>
                    </a:solidFill>
                  </a:tcPr>
                </a:tc>
                <a:extLst>
                  <a:ext uri="{0D108BD9-81ED-4DB2-BD59-A6C34878D82A}">
                    <a16:rowId xmlns:a16="http://schemas.microsoft.com/office/drawing/2014/main" val="10001"/>
                  </a:ext>
                </a:extLst>
              </a:tr>
              <a:tr h="420624">
                <a:tc>
                  <a:txBody>
                    <a:bodyPr/>
                    <a:lstStyle/>
                    <a:p>
                      <a:pPr algn="l"/>
                      <a:r>
                        <a:rPr sz="1100" b="0">
                          <a:solidFill>
                            <a:srgbClr val="23313C"/>
                          </a:solidFill>
                          <a:latin typeface="Meiryo"/>
                          <a:ea typeface="Meiryo"/>
                          <a:cs typeface="Meiryo"/>
                        </a:rPr>
                        <a:t>拡張あり（3条件）</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全体の 69〜90%</a:t>
                      </a:r>
                    </a:p>
                  </a:txBody>
                  <a:tcPr marL="64008" marR="64008" marT="18288" marB="18288" anchor="ctr">
                    <a:solidFill>
                      <a:srgbClr val="F1F0E8"/>
                    </a:solidFill>
                  </a:tcPr>
                </a:tc>
                <a:tc>
                  <a:txBody>
                    <a:bodyPr/>
                    <a:lstStyle/>
                    <a:p>
                      <a:pPr algn="r"/>
                      <a:r>
                        <a:rPr sz="1100" b="1">
                          <a:solidFill>
                            <a:srgbClr val="3D6B4A"/>
                          </a:solidFill>
                          <a:latin typeface="Meiryo"/>
                          <a:ea typeface="Meiryo"/>
                          <a:cs typeface="Meiryo"/>
                        </a:rPr>
                        <a:t>0.098 〜 0.101</a:t>
                      </a:r>
                    </a:p>
                  </a:txBody>
                  <a:tcPr marL="64008" marR="64008" marT="18288" marB="18288" anchor="ctr">
                    <a:solidFill>
                      <a:srgbClr val="F1F0E8"/>
                    </a:solidFill>
                  </a:tcPr>
                </a:tc>
                <a:tc>
                  <a:txBody>
                    <a:bodyPr/>
                    <a:lstStyle/>
                    <a:p>
                      <a:pPr algn="r"/>
                      <a:r>
                        <a:rPr sz="1100" b="1">
                          <a:solidFill>
                            <a:srgbClr val="3D6B4A"/>
                          </a:solidFill>
                          <a:latin typeface="Meiryo"/>
                          <a:ea typeface="Meiryo"/>
                          <a:cs typeface="Meiryo"/>
                        </a:rPr>
                        <a:t>0.691 〜 0.695</a:t>
                      </a:r>
                    </a:p>
                  </a:txBody>
                  <a:tcPr marL="64008" marR="64008" marT="18288" marB="18288" anchor="ctr">
                    <a:solidFill>
                      <a:srgbClr val="F1F0E8"/>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566928" y="2743200"/>
            <a:ext cx="11057839" cy="822960"/>
          </a:xfrm>
          <a:prstGeom prst="rect">
            <a:avLst/>
          </a:prstGeom>
          <a:noFill/>
        </p:spPr>
        <p:txBody>
          <a:bodyPr wrap="square" lIns="0" tIns="0" rIns="0" bIns="0">
            <a:spAutoFit/>
          </a:bodyPr>
          <a:lstStyle/>
          <a:p>
            <a:pPr algn="l">
              <a:lnSpc>
                <a:spcPct val="150000"/>
              </a:lnSpc>
            </a:pPr>
            <a:r>
              <a:rPr sz="1300" b="0">
                <a:solidFill>
                  <a:srgbClr val="4A5A68"/>
                </a:solidFill>
                <a:latin typeface="Meiryo"/>
                <a:ea typeface="Meiryo"/>
                <a:cs typeface="Meiryo"/>
              </a:rPr>
              <a:t>拡張なしの条件は、学習の最初の数%で検証F1 がピークに達し、あとは訓練F1 だけが伸びていく。訓練と検証の差 0.33〜0.39 は、ほぼ暗記しているということ。</a:t>
            </a:r>
          </a:p>
        </p:txBody>
      </p:sp>
      <p:sp>
        <p:nvSpPr>
          <p:cNvPr id="7" name="Rounded Rectangle 6"/>
          <p:cNvSpPr/>
          <p:nvPr/>
        </p:nvSpPr>
        <p:spPr>
          <a:xfrm>
            <a:off x="566928" y="3703320"/>
            <a:ext cx="5532120" cy="169164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41247" y="3931920"/>
            <a:ext cx="4983480" cy="292608"/>
          </a:xfrm>
          <a:prstGeom prst="rect">
            <a:avLst/>
          </a:prstGeom>
          <a:noFill/>
        </p:spPr>
        <p:txBody>
          <a:bodyPr wrap="square" lIns="0" tIns="0" rIns="0" bIns="0">
            <a:spAutoFit/>
          </a:bodyPr>
          <a:lstStyle/>
          <a:p>
            <a:pPr algn="l"/>
            <a:r>
              <a:rPr sz="1450" b="1">
                <a:solidFill>
                  <a:srgbClr val="3D6B4A"/>
                </a:solidFill>
                <a:latin typeface="Meiryo"/>
                <a:ea typeface="Meiryo"/>
                <a:cs typeface="Meiryo"/>
              </a:rPr>
              <a:t>広島では効く</a:t>
            </a:r>
          </a:p>
        </p:txBody>
      </p:sp>
      <p:sp>
        <p:nvSpPr>
          <p:cNvPr id="9" name="TextBox 8"/>
          <p:cNvSpPr txBox="1"/>
          <p:nvPr/>
        </p:nvSpPr>
        <p:spPr>
          <a:xfrm>
            <a:off x="841247" y="4334256"/>
            <a:ext cx="4983480" cy="914400"/>
          </a:xfrm>
          <a:prstGeom prst="rect">
            <a:avLst/>
          </a:prstGeom>
          <a:noFill/>
        </p:spPr>
        <p:txBody>
          <a:bodyPr wrap="square" lIns="0" tIns="0" rIns="0" bIns="0">
            <a:spAutoFit/>
          </a:bodyPr>
          <a:lstStyle/>
          <a:p>
            <a:pPr algn="l">
              <a:lnSpc>
                <a:spcPct val="155000"/>
              </a:lnSpc>
            </a:pPr>
            <a:r>
              <a:rPr sz="1200" b="0">
                <a:solidFill>
                  <a:srgbClr val="4A5A68"/>
                </a:solidFill>
                <a:latin typeface="Meiryo"/>
                <a:ea typeface="Meiryo"/>
                <a:cs typeface="Meiryo"/>
              </a:rPr>
              <a:t>面積F 0.6727 → 0.6974（+0.025）。既存構造の帯（0.672〜0.681）をはっきり抜ける唯一の学習側の施策。</a:t>
            </a:r>
          </a:p>
        </p:txBody>
      </p:sp>
      <p:sp>
        <p:nvSpPr>
          <p:cNvPr id="10" name="Rounded Rectangle 9"/>
          <p:cNvSpPr/>
          <p:nvPr/>
        </p:nvSpPr>
        <p:spPr>
          <a:xfrm>
            <a:off x="6327648" y="3703320"/>
            <a:ext cx="5297119" cy="169164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601968" y="3931920"/>
            <a:ext cx="4748479" cy="292608"/>
          </a:xfrm>
          <a:prstGeom prst="rect">
            <a:avLst/>
          </a:prstGeom>
          <a:noFill/>
        </p:spPr>
        <p:txBody>
          <a:bodyPr wrap="square" lIns="0" tIns="0" rIns="0" bIns="0">
            <a:spAutoFit/>
          </a:bodyPr>
          <a:lstStyle/>
          <a:p>
            <a:pPr algn="l"/>
            <a:r>
              <a:rPr sz="1450" b="1">
                <a:solidFill>
                  <a:srgbClr val="B85042"/>
                </a:solidFill>
                <a:latin typeface="Meiryo"/>
                <a:ea typeface="Meiryo"/>
                <a:cs typeface="Meiryo"/>
              </a:rPr>
              <a:t>島根には効かない</a:t>
            </a:r>
          </a:p>
        </p:txBody>
      </p:sp>
      <p:sp>
        <p:nvSpPr>
          <p:cNvPr id="12" name="TextBox 11"/>
          <p:cNvSpPr txBox="1"/>
          <p:nvPr/>
        </p:nvSpPr>
        <p:spPr>
          <a:xfrm>
            <a:off x="6601968" y="4334256"/>
            <a:ext cx="4748479" cy="914400"/>
          </a:xfrm>
          <a:prstGeom prst="rect">
            <a:avLst/>
          </a:prstGeom>
          <a:noFill/>
        </p:spPr>
        <p:txBody>
          <a:bodyPr wrap="square" lIns="0" tIns="0" rIns="0" bIns="0">
            <a:spAutoFit/>
          </a:bodyPr>
          <a:lstStyle/>
          <a:p>
            <a:pPr algn="l">
              <a:lnSpc>
                <a:spcPct val="155000"/>
              </a:lnSpc>
            </a:pPr>
            <a:r>
              <a:rPr sz="1200" b="0">
                <a:solidFill>
                  <a:srgbClr val="4A5A68"/>
                </a:solidFill>
                <a:latin typeface="Meiryo"/>
                <a:ea typeface="Meiryo"/>
                <a:cs typeface="Meiryo"/>
              </a:rPr>
              <a:t>島根 面積F 0.5381 → 0.5409（+0.003）。過学習は解けているが、県をまたぐ汎化は改善しない。</a:t>
            </a:r>
          </a:p>
        </p:txBody>
      </p:sp>
      <p:sp>
        <p:nvSpPr>
          <p:cNvPr id="13" name="TextBox 12"/>
          <p:cNvSpPr txBox="1"/>
          <p:nvPr/>
        </p:nvSpPr>
        <p:spPr>
          <a:xfrm>
            <a:off x="566928" y="5669280"/>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過学習が解けても汎化しない、という形。つまり「広島を暗記していたから島根で落ちる」のではなく、島根が落ちる理由は別にある。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3313C"/>
        </a:solidFill>
        <a:effectLst/>
      </p:bgPr>
    </p:bg>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A7BEAE"/>
                </a:solidFill>
                <a:latin typeface="Meiryo"/>
                <a:ea typeface="Meiryo"/>
                <a:cs typeface="Meiryo"/>
              </a:rPr>
              <a:t>第 3 章</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FFFFFF"/>
                </a:solidFill>
                <a:latin typeface="Meiryo"/>
                <a:ea typeface="Meiryo"/>
                <a:cs typeface="Meiryo"/>
              </a:rPr>
              <a:t>U-Net の内部を触る構造を8種類自作した</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A7BEAE"/>
                </a:solidFill>
                <a:latin typeface="Meiryo"/>
                <a:ea typeface="Meiryo"/>
                <a:cs typeface="Meiryo"/>
              </a:rPr>
              <a:t>15</a:t>
            </a:r>
          </a:p>
        </p:txBody>
      </p:sp>
      <p:sp>
        <p:nvSpPr>
          <p:cNvPr id="5" name="TextBox 4"/>
          <p:cNvSpPr txBox="1"/>
          <p:nvPr/>
        </p:nvSpPr>
        <p:spPr>
          <a:xfrm>
            <a:off x="566928" y="2103120"/>
            <a:ext cx="8680399" cy="1371600"/>
          </a:xfrm>
          <a:prstGeom prst="rect">
            <a:avLst/>
          </a:prstGeom>
          <a:noFill/>
        </p:spPr>
        <p:txBody>
          <a:bodyPr wrap="square" lIns="0" tIns="0" rIns="0" bIns="0">
            <a:spAutoFit/>
          </a:bodyPr>
          <a:lstStyle/>
          <a:p>
            <a:pPr algn="l">
              <a:lnSpc>
                <a:spcPct val="160000"/>
              </a:lnSpc>
            </a:pPr>
            <a:r>
              <a:rPr sz="1900" b="0">
                <a:solidFill>
                  <a:srgbClr val="FFFFFF"/>
                </a:solidFill>
                <a:latin typeface="Meiryo"/>
                <a:ea typeface="Meiryo"/>
                <a:cs typeface="Meiryo"/>
              </a:rPr>
              <a:t>既存構造の比較では差がつかなかったので、どの層に何を足せば</a:t>
            </a:r>
          </a:p>
          <a:p>
            <a:pPr algn="l">
              <a:lnSpc>
                <a:spcPct val="160000"/>
              </a:lnSpc>
            </a:pPr>
            <a:r>
              <a:rPr sz="1900" b="0">
                <a:solidFill>
                  <a:srgbClr val="FFFFFF"/>
                </a:solidFill>
                <a:latin typeface="Meiryo"/>
                <a:ea typeface="Meiryo"/>
                <a:cs typeface="Meiryo"/>
              </a:rPr>
              <a:t>変わるのかを切り分けられる形で、自分で構造を作って試した。</a:t>
            </a:r>
          </a:p>
        </p:txBody>
      </p:sp>
      <p:sp>
        <p:nvSpPr>
          <p:cNvPr id="6" name="TextBox 5"/>
          <p:cNvSpPr txBox="1"/>
          <p:nvPr/>
        </p:nvSpPr>
        <p:spPr>
          <a:xfrm>
            <a:off x="566928" y="4206240"/>
            <a:ext cx="3657600" cy="566928"/>
          </a:xfrm>
          <a:prstGeom prst="rect">
            <a:avLst/>
          </a:prstGeom>
          <a:noFill/>
        </p:spPr>
        <p:txBody>
          <a:bodyPr wrap="square" lIns="0" tIns="0" rIns="0" bIns="0">
            <a:spAutoFit/>
          </a:bodyPr>
          <a:lstStyle/>
          <a:p>
            <a:pPr algn="l"/>
            <a:r>
              <a:rPr sz="3000" b="1">
                <a:solidFill>
                  <a:srgbClr val="A7BEAE"/>
                </a:solidFill>
                <a:latin typeface="Meiryo"/>
                <a:ea typeface="Meiryo"/>
                <a:cs typeface="Meiryo"/>
              </a:rPr>
              <a:t>8</a:t>
            </a:r>
          </a:p>
        </p:txBody>
      </p:sp>
      <p:sp>
        <p:nvSpPr>
          <p:cNvPr id="7" name="TextBox 6"/>
          <p:cNvSpPr txBox="1"/>
          <p:nvPr/>
        </p:nvSpPr>
        <p:spPr>
          <a:xfrm>
            <a:off x="566928" y="4864608"/>
            <a:ext cx="3657600" cy="731520"/>
          </a:xfrm>
          <a:prstGeom prst="rect">
            <a:avLst/>
          </a:prstGeom>
          <a:noFill/>
        </p:spPr>
        <p:txBody>
          <a:bodyPr wrap="square" lIns="0" tIns="0" rIns="0" bIns="0">
            <a:spAutoFit/>
          </a:bodyPr>
          <a:lstStyle/>
          <a:p>
            <a:pPr algn="l">
              <a:lnSpc>
                <a:spcPct val="140000"/>
              </a:lnSpc>
            </a:pPr>
            <a:r>
              <a:rPr sz="1350" b="0">
                <a:solidFill>
                  <a:srgbClr val="FFFFFF"/>
                </a:solidFill>
                <a:latin typeface="Meiryo"/>
                <a:ea typeface="Meiryo"/>
                <a:cs typeface="Meiryo"/>
              </a:rPr>
              <a:t>自作した構造</a:t>
            </a:r>
          </a:p>
        </p:txBody>
      </p:sp>
      <p:sp>
        <p:nvSpPr>
          <p:cNvPr id="8" name="TextBox 7"/>
          <p:cNvSpPr txBox="1"/>
          <p:nvPr/>
        </p:nvSpPr>
        <p:spPr>
          <a:xfrm>
            <a:off x="4407408" y="4206240"/>
            <a:ext cx="3657600" cy="566928"/>
          </a:xfrm>
          <a:prstGeom prst="rect">
            <a:avLst/>
          </a:prstGeom>
          <a:noFill/>
        </p:spPr>
        <p:txBody>
          <a:bodyPr wrap="square" lIns="0" tIns="0" rIns="0" bIns="0">
            <a:spAutoFit/>
          </a:bodyPr>
          <a:lstStyle/>
          <a:p>
            <a:pPr algn="l"/>
            <a:r>
              <a:rPr sz="3000" b="1">
                <a:solidFill>
                  <a:srgbClr val="A7BEAE"/>
                </a:solidFill>
                <a:latin typeface="Meiryo"/>
                <a:ea typeface="Meiryo"/>
                <a:cs typeface="Meiryo"/>
              </a:rPr>
              <a:t>3</a:t>
            </a:r>
          </a:p>
        </p:txBody>
      </p:sp>
      <p:sp>
        <p:nvSpPr>
          <p:cNvPr id="9" name="TextBox 8"/>
          <p:cNvSpPr txBox="1"/>
          <p:nvPr/>
        </p:nvSpPr>
        <p:spPr>
          <a:xfrm>
            <a:off x="4407408" y="4864608"/>
            <a:ext cx="3657600" cy="731520"/>
          </a:xfrm>
          <a:prstGeom prst="rect">
            <a:avLst/>
          </a:prstGeom>
          <a:noFill/>
        </p:spPr>
        <p:txBody>
          <a:bodyPr wrap="square" lIns="0" tIns="0" rIns="0" bIns="0">
            <a:spAutoFit/>
          </a:bodyPr>
          <a:lstStyle/>
          <a:p>
            <a:pPr algn="l">
              <a:lnSpc>
                <a:spcPct val="140000"/>
              </a:lnSpc>
            </a:pPr>
            <a:r>
              <a:rPr sz="1350" b="0">
                <a:solidFill>
                  <a:srgbClr val="FFFFFF"/>
                </a:solidFill>
                <a:latin typeface="Meiryo"/>
                <a:ea typeface="Meiryo"/>
                <a:cs typeface="Meiryo"/>
              </a:rPr>
              <a:t>触った場所</a:t>
            </a:r>
          </a:p>
          <a:p>
            <a:pPr algn="l">
              <a:lnSpc>
                <a:spcPct val="140000"/>
              </a:lnSpc>
            </a:pPr>
            <a:r>
              <a:rPr sz="1350" b="0">
                <a:solidFill>
                  <a:srgbClr val="FFFFFF"/>
                </a:solidFill>
                <a:latin typeface="Meiryo"/>
                <a:ea typeface="Meiryo"/>
                <a:cs typeface="Meiryo"/>
              </a:rPr>
              <a:t>スキップ / ボトルネック / 統合</a:t>
            </a:r>
          </a:p>
        </p:txBody>
      </p:sp>
      <p:sp>
        <p:nvSpPr>
          <p:cNvPr id="10" name="TextBox 9"/>
          <p:cNvSpPr txBox="1"/>
          <p:nvPr/>
        </p:nvSpPr>
        <p:spPr>
          <a:xfrm>
            <a:off x="8247888" y="4206240"/>
            <a:ext cx="3657600" cy="566928"/>
          </a:xfrm>
          <a:prstGeom prst="rect">
            <a:avLst/>
          </a:prstGeom>
          <a:noFill/>
        </p:spPr>
        <p:txBody>
          <a:bodyPr wrap="square" lIns="0" tIns="0" rIns="0" bIns="0">
            <a:spAutoFit/>
          </a:bodyPr>
          <a:lstStyle/>
          <a:p>
            <a:pPr algn="l"/>
            <a:r>
              <a:rPr sz="3000" b="1">
                <a:solidFill>
                  <a:srgbClr val="A7BEAE"/>
                </a:solidFill>
                <a:latin typeface="Meiryo"/>
                <a:ea typeface="Meiryo"/>
                <a:cs typeface="Meiryo"/>
              </a:rPr>
              <a:t>42.3M〜52.7M</a:t>
            </a:r>
          </a:p>
        </p:txBody>
      </p:sp>
      <p:sp>
        <p:nvSpPr>
          <p:cNvPr id="11" name="TextBox 10"/>
          <p:cNvSpPr txBox="1"/>
          <p:nvPr/>
        </p:nvSpPr>
        <p:spPr>
          <a:xfrm>
            <a:off x="8247888" y="4864608"/>
            <a:ext cx="3657600" cy="731520"/>
          </a:xfrm>
          <a:prstGeom prst="rect">
            <a:avLst/>
          </a:prstGeom>
          <a:noFill/>
        </p:spPr>
        <p:txBody>
          <a:bodyPr wrap="square" lIns="0" tIns="0" rIns="0" bIns="0">
            <a:spAutoFit/>
          </a:bodyPr>
          <a:lstStyle/>
          <a:p>
            <a:pPr algn="l">
              <a:lnSpc>
                <a:spcPct val="140000"/>
              </a:lnSpc>
            </a:pPr>
            <a:r>
              <a:rPr sz="1350" b="0">
                <a:solidFill>
                  <a:srgbClr val="FFFFFF"/>
                </a:solidFill>
                <a:latin typeface="Meiryo"/>
                <a:ea typeface="Meiryo"/>
                <a:cs typeface="Meiryo"/>
              </a:rPr>
              <a:t>パラメータ</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第3章 ①</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自作した構造 — どこを触ったか</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16</a:t>
            </a:r>
          </a:p>
        </p:txBody>
      </p:sp>
      <p:graphicFrame>
        <p:nvGraphicFramePr>
          <p:cNvPr id="5" name="Table 4"/>
          <p:cNvGraphicFramePr>
            <a:graphicFrameLocks noGrp="1"/>
          </p:cNvGraphicFramePr>
          <p:nvPr/>
        </p:nvGraphicFramePr>
        <p:xfrm>
          <a:off x="566928" y="1335024"/>
          <a:ext cx="11055096" cy="4169664"/>
        </p:xfrm>
        <a:graphic>
          <a:graphicData uri="http://schemas.openxmlformats.org/drawingml/2006/table">
            <a:tbl>
              <a:tblPr>
                <a:tableStyleId>{5C22544A-7EE6-4342-B048-85BDC9FD1C3A}</a:tableStyleId>
              </a:tblPr>
              <a:tblGrid>
                <a:gridCol w="21945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gridCol w="1362456">
                  <a:extLst>
                    <a:ext uri="{9D8B030D-6E8A-4147-A177-3AD203B41FA5}">
                      <a16:colId xmlns:a16="http://schemas.microsoft.com/office/drawing/2014/main" val="20003"/>
                    </a:ext>
                  </a:extLst>
                </a:gridCol>
              </a:tblGrid>
              <a:tr h="365760">
                <a:tc>
                  <a:txBody>
                    <a:bodyPr/>
                    <a:lstStyle/>
                    <a:p>
                      <a:pPr algn="l"/>
                      <a:r>
                        <a:rPr sz="1100" b="1">
                          <a:solidFill>
                            <a:srgbClr val="FFFFFF"/>
                          </a:solidFill>
                          <a:latin typeface="Meiryo"/>
                          <a:ea typeface="Meiryo"/>
                          <a:cs typeface="Meiryo"/>
                        </a:rPr>
                        <a:t>名称</a:t>
                      </a:r>
                    </a:p>
                  </a:txBody>
                  <a:tcPr marL="64008" marR="64008" marT="18288" marB="18288" anchor="ctr">
                    <a:solidFill>
                      <a:srgbClr val="23313C"/>
                    </a:solidFill>
                  </a:tcPr>
                </a:tc>
                <a:tc>
                  <a:txBody>
                    <a:bodyPr/>
                    <a:lstStyle/>
                    <a:p>
                      <a:pPr algn="l"/>
                      <a:r>
                        <a:rPr sz="1100" b="1">
                          <a:solidFill>
                            <a:srgbClr val="FFFFFF"/>
                          </a:solidFill>
                          <a:latin typeface="Meiryo"/>
                          <a:ea typeface="Meiryo"/>
                          <a:cs typeface="Meiryo"/>
                        </a:rPr>
                        <a:t>触った場所</a:t>
                      </a:r>
                    </a:p>
                  </a:txBody>
                  <a:tcPr marL="64008" marR="64008" marT="18288" marB="18288" anchor="ctr">
                    <a:solidFill>
                      <a:srgbClr val="23313C"/>
                    </a:solidFill>
                  </a:tcPr>
                </a:tc>
                <a:tc>
                  <a:txBody>
                    <a:bodyPr/>
                    <a:lstStyle/>
                    <a:p>
                      <a:pPr algn="l"/>
                      <a:r>
                        <a:rPr sz="1100" b="1">
                          <a:solidFill>
                            <a:srgbClr val="FFFFFF"/>
                          </a:solidFill>
                          <a:latin typeface="Meiryo"/>
                          <a:ea typeface="Meiryo"/>
                          <a:cs typeface="Meiryo"/>
                        </a:rPr>
                        <a:t>何をしたか</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パラメータ</a:t>
                      </a:r>
                    </a:p>
                  </a:txBody>
                  <a:tcPr marL="64008" marR="64008" marT="18288" marB="18288" anchor="ctr">
                    <a:solidFill>
                      <a:srgbClr val="23313C"/>
                    </a:solidFill>
                  </a:tcPr>
                </a:tc>
                <a:extLst>
                  <a:ext uri="{0D108BD9-81ED-4DB2-BD59-A6C34878D82A}">
                    <a16:rowId xmlns:a16="http://schemas.microsoft.com/office/drawing/2014/main" val="10000"/>
                  </a:ext>
                </a:extLst>
              </a:tr>
              <a:tr h="475488">
                <a:tc>
                  <a:txBody>
                    <a:bodyPr/>
                    <a:lstStyle/>
                    <a:p>
                      <a:pPr algn="l"/>
                      <a:r>
                        <a:rPr sz="1100" b="0">
                          <a:solidFill>
                            <a:srgbClr val="23313C"/>
                          </a:solidFill>
                          <a:latin typeface="Meiryo"/>
                          <a:ea typeface="Meiryo"/>
                          <a:cs typeface="Meiryo"/>
                        </a:rPr>
                        <a:t>深層監督 1段</a:t>
                      </a:r>
                    </a:p>
                  </a:txBody>
                  <a:tcPr marL="64008" marR="64008" marT="18288" marB="18288" anchor="ctr">
                    <a:solidFill>
                      <a:srgbClr val="FFFFFF"/>
                    </a:solidFill>
                  </a:tcPr>
                </a:tc>
                <a:tc>
                  <a:txBody>
                    <a:bodyPr/>
                    <a:lstStyle/>
                    <a:p>
                      <a:pPr algn="l"/>
                      <a:r>
                        <a:rPr sz="1100" b="0">
                          <a:solidFill>
                            <a:srgbClr val="23313C"/>
                          </a:solidFill>
                          <a:latin typeface="Meiryo"/>
                          <a:ea typeface="Meiryo"/>
                          <a:cs typeface="Meiryo"/>
                        </a:rPr>
                        <a:t>skip2（64×64）</a:t>
                      </a:r>
                    </a:p>
                  </a:txBody>
                  <a:tcPr marL="64008" marR="64008" marT="18288" marB="18288" anchor="ctr">
                    <a:solidFill>
                      <a:srgbClr val="FFFFFF"/>
                    </a:solidFill>
                  </a:tcPr>
                </a:tc>
                <a:tc>
                  <a:txBody>
                    <a:bodyPr/>
                    <a:lstStyle/>
                    <a:p>
                      <a:pPr algn="l"/>
                      <a:r>
                        <a:rPr sz="1100" b="0">
                          <a:solidFill>
                            <a:srgbClr val="23313C"/>
                          </a:solidFill>
                          <a:latin typeface="Meiryo"/>
                          <a:ea typeface="Meiryo"/>
                          <a:cs typeface="Meiryo"/>
                        </a:rPr>
                        <a:t>存在マップの補助ヘッドを付け、1/2 の正解で教える</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43.73M</a:t>
                      </a:r>
                    </a:p>
                  </a:txBody>
                  <a:tcPr marL="64008" marR="64008" marT="18288" marB="18288" anchor="ctr">
                    <a:solidFill>
                      <a:srgbClr val="FFFFFF"/>
                    </a:solidFill>
                  </a:tcPr>
                </a:tc>
                <a:extLst>
                  <a:ext uri="{0D108BD9-81ED-4DB2-BD59-A6C34878D82A}">
                    <a16:rowId xmlns:a16="http://schemas.microsoft.com/office/drawing/2014/main" val="10001"/>
                  </a:ext>
                </a:extLst>
              </a:tr>
              <a:tr h="475488">
                <a:tc>
                  <a:txBody>
                    <a:bodyPr/>
                    <a:lstStyle/>
                    <a:p>
                      <a:pPr algn="l"/>
                      <a:r>
                        <a:rPr sz="1100" b="0">
                          <a:solidFill>
                            <a:srgbClr val="23313C"/>
                          </a:solidFill>
                          <a:latin typeface="Meiryo"/>
                          <a:ea typeface="Meiryo"/>
                          <a:cs typeface="Meiryo"/>
                        </a:rPr>
                        <a:t>深層監督 3段</a:t>
                      </a:r>
                    </a:p>
                  </a:txBody>
                  <a:tcPr marL="64008" marR="64008" marT="18288" marB="18288" anchor="ctr">
                    <a:solidFill>
                      <a:srgbClr val="F1F0E8"/>
                    </a:solidFill>
                  </a:tcPr>
                </a:tc>
                <a:tc>
                  <a:txBody>
                    <a:bodyPr/>
                    <a:lstStyle/>
                    <a:p>
                      <a:pPr algn="l"/>
                      <a:r>
                        <a:rPr sz="1100" b="0">
                          <a:solidFill>
                            <a:srgbClr val="23313C"/>
                          </a:solidFill>
                          <a:latin typeface="Meiryo"/>
                          <a:ea typeface="Meiryo"/>
                          <a:cs typeface="Meiryo"/>
                        </a:rPr>
                        <a:t>skip1,2,3</a:t>
                      </a:r>
                    </a:p>
                  </a:txBody>
                  <a:tcPr marL="64008" marR="64008" marT="18288" marB="18288" anchor="ctr">
                    <a:solidFill>
                      <a:srgbClr val="F1F0E8"/>
                    </a:solidFill>
                  </a:tcPr>
                </a:tc>
                <a:tc>
                  <a:txBody>
                    <a:bodyPr/>
                    <a:lstStyle/>
                    <a:p>
                      <a:pPr algn="l"/>
                      <a:r>
                        <a:rPr sz="1100" b="0">
                          <a:solidFill>
                            <a:srgbClr val="23313C"/>
                          </a:solidFill>
                          <a:latin typeface="Meiryo"/>
                          <a:ea typeface="Meiryo"/>
                          <a:cs typeface="Meiryo"/>
                        </a:rPr>
                        <a:t>128/64/32 の3段に監督を入れ、λ を段数で割る</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44.10M</a:t>
                      </a:r>
                    </a:p>
                  </a:txBody>
                  <a:tcPr marL="64008" marR="64008" marT="18288" marB="18288" anchor="ctr">
                    <a:solidFill>
                      <a:srgbClr val="F1F0E8"/>
                    </a:solidFill>
                  </a:tcPr>
                </a:tc>
                <a:extLst>
                  <a:ext uri="{0D108BD9-81ED-4DB2-BD59-A6C34878D82A}">
                    <a16:rowId xmlns:a16="http://schemas.microsoft.com/office/drawing/2014/main" val="10002"/>
                  </a:ext>
                </a:extLst>
              </a:tr>
              <a:tr h="475488">
                <a:tc>
                  <a:txBody>
                    <a:bodyPr/>
                    <a:lstStyle/>
                    <a:p>
                      <a:pPr algn="l"/>
                      <a:r>
                        <a:rPr sz="1100" b="0">
                          <a:solidFill>
                            <a:srgbClr val="23313C"/>
                          </a:solidFill>
                          <a:latin typeface="Meiryo"/>
                          <a:ea typeface="Meiryo"/>
                          <a:cs typeface="Meiryo"/>
                        </a:rPr>
                        <a:t>監督Attention</a:t>
                      </a:r>
                    </a:p>
                  </a:txBody>
                  <a:tcPr marL="64008" marR="64008" marT="18288" marB="18288" anchor="ctr">
                    <a:solidFill>
                      <a:srgbClr val="FFFFFF"/>
                    </a:solidFill>
                  </a:tcPr>
                </a:tc>
                <a:tc>
                  <a:txBody>
                    <a:bodyPr/>
                    <a:lstStyle/>
                    <a:p>
                      <a:pPr algn="l"/>
                      <a:r>
                        <a:rPr sz="1100" b="0">
                          <a:solidFill>
                            <a:srgbClr val="23313C"/>
                          </a:solidFill>
                          <a:latin typeface="Meiryo"/>
                          <a:ea typeface="Meiryo"/>
                          <a:cs typeface="Meiryo"/>
                        </a:rPr>
                        <a:t>skip2</a:t>
                      </a:r>
                    </a:p>
                  </a:txBody>
                  <a:tcPr marL="64008" marR="64008" marT="18288" marB="18288" anchor="ctr">
                    <a:solidFill>
                      <a:srgbClr val="FFFFFF"/>
                    </a:solidFill>
                  </a:tcPr>
                </a:tc>
                <a:tc>
                  <a:txBody>
                    <a:bodyPr/>
                    <a:lstStyle/>
                    <a:p>
                      <a:pPr algn="l"/>
                      <a:r>
                        <a:rPr sz="1100" b="0">
                          <a:solidFill>
                            <a:srgbClr val="23313C"/>
                          </a:solidFill>
                          <a:latin typeface="Meiryo"/>
                          <a:ea typeface="Meiryo"/>
                          <a:cs typeface="Meiryo"/>
                        </a:rPr>
                        <a:t>存在マップを sigmoid に通し skip×(1+attn) で増幅</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43.73M</a:t>
                      </a:r>
                    </a:p>
                  </a:txBody>
                  <a:tcPr marL="64008" marR="64008" marT="18288" marB="18288" anchor="ctr">
                    <a:solidFill>
                      <a:srgbClr val="FFFFFF"/>
                    </a:solidFill>
                  </a:tcPr>
                </a:tc>
                <a:extLst>
                  <a:ext uri="{0D108BD9-81ED-4DB2-BD59-A6C34878D82A}">
                    <a16:rowId xmlns:a16="http://schemas.microsoft.com/office/drawing/2014/main" val="10003"/>
                  </a:ext>
                </a:extLst>
              </a:tr>
              <a:tr h="475488">
                <a:tc>
                  <a:txBody>
                    <a:bodyPr/>
                    <a:lstStyle/>
                    <a:p>
                      <a:pPr algn="l"/>
                      <a:r>
                        <a:rPr sz="1100" b="0">
                          <a:solidFill>
                            <a:srgbClr val="23313C"/>
                          </a:solidFill>
                          <a:latin typeface="Meiryo"/>
                          <a:ea typeface="Meiryo"/>
                          <a:cs typeface="Meiryo"/>
                        </a:rPr>
                        <a:t>同・ブランチ別</a:t>
                      </a:r>
                    </a:p>
                  </a:txBody>
                  <a:tcPr marL="64008" marR="64008" marT="18288" marB="18288" anchor="ctr">
                    <a:solidFill>
                      <a:srgbClr val="F1F0E8"/>
                    </a:solidFill>
                  </a:tcPr>
                </a:tc>
                <a:tc>
                  <a:txBody>
                    <a:bodyPr/>
                    <a:lstStyle/>
                    <a:p>
                      <a:pPr algn="l"/>
                      <a:r>
                        <a:rPr sz="1100" b="0">
                          <a:solidFill>
                            <a:srgbClr val="23313C"/>
                          </a:solidFill>
                          <a:latin typeface="Meiryo"/>
                          <a:ea typeface="Meiryo"/>
                          <a:cs typeface="Meiryo"/>
                        </a:rPr>
                        <a:t>skip2（枝ごと）</a:t>
                      </a:r>
                    </a:p>
                  </a:txBody>
                  <a:tcPr marL="64008" marR="64008" marT="18288" marB="18288" anchor="ctr">
                    <a:solidFill>
                      <a:srgbClr val="F1F0E8"/>
                    </a:solidFill>
                  </a:tcPr>
                </a:tc>
                <a:tc>
                  <a:txBody>
                    <a:bodyPr/>
                    <a:lstStyle/>
                    <a:p>
                      <a:pPr algn="l"/>
                      <a:r>
                        <a:rPr sz="1100" b="0">
                          <a:solidFill>
                            <a:srgbClr val="23313C"/>
                          </a:solidFill>
                          <a:latin typeface="Meiryo"/>
                          <a:ea typeface="Meiryo"/>
                          <a:cs typeface="Meiryo"/>
                        </a:rPr>
                        <a:t>地形量と航空写真で別のヘッドを持たせる</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43.73M</a:t>
                      </a:r>
                    </a:p>
                  </a:txBody>
                  <a:tcPr marL="64008" marR="64008" marT="18288" marB="18288" anchor="ctr">
                    <a:solidFill>
                      <a:srgbClr val="F1F0E8"/>
                    </a:solidFill>
                  </a:tcPr>
                </a:tc>
                <a:extLst>
                  <a:ext uri="{0D108BD9-81ED-4DB2-BD59-A6C34878D82A}">
                    <a16:rowId xmlns:a16="http://schemas.microsoft.com/office/drawing/2014/main" val="10004"/>
                  </a:ext>
                </a:extLst>
              </a:tr>
              <a:tr h="475488">
                <a:tc>
                  <a:txBody>
                    <a:bodyPr/>
                    <a:lstStyle/>
                    <a:p>
                      <a:pPr algn="l"/>
                      <a:r>
                        <a:rPr sz="1100" b="0">
                          <a:solidFill>
                            <a:srgbClr val="23313C"/>
                          </a:solidFill>
                          <a:latin typeface="Meiryo"/>
                          <a:ea typeface="Meiryo"/>
                          <a:cs typeface="Meiryo"/>
                        </a:rPr>
                        <a:t>ASPP</a:t>
                      </a:r>
                    </a:p>
                  </a:txBody>
                  <a:tcPr marL="64008" marR="64008" marT="18288" marB="18288" anchor="ctr">
                    <a:solidFill>
                      <a:srgbClr val="FFFFFF"/>
                    </a:solidFill>
                  </a:tcPr>
                </a:tc>
                <a:tc>
                  <a:txBody>
                    <a:bodyPr/>
                    <a:lstStyle/>
                    <a:p>
                      <a:pPr algn="l"/>
                      <a:r>
                        <a:rPr sz="1100" b="0">
                          <a:solidFill>
                            <a:srgbClr val="23313C"/>
                          </a:solidFill>
                          <a:latin typeface="Meiryo"/>
                          <a:ea typeface="Meiryo"/>
                          <a:cs typeface="Meiryo"/>
                        </a:rPr>
                        <a:t>skip2</a:t>
                      </a:r>
                    </a:p>
                  </a:txBody>
                  <a:tcPr marL="64008" marR="64008" marT="18288" marB="18288" anchor="ctr">
                    <a:solidFill>
                      <a:srgbClr val="FFFFFF"/>
                    </a:solidFill>
                  </a:tcPr>
                </a:tc>
                <a:tc>
                  <a:txBody>
                    <a:bodyPr/>
                    <a:lstStyle/>
                    <a:p>
                      <a:pPr algn="l"/>
                      <a:r>
                        <a:rPr sz="1100" b="0">
                          <a:solidFill>
                            <a:srgbClr val="23313C"/>
                          </a:solidFill>
                          <a:latin typeface="Meiryo"/>
                          <a:ea typeface="Meiryo"/>
                          <a:cs typeface="Meiryo"/>
                        </a:rPr>
                        <a:t>dilation 1/2/4/8 + 大域プーリングで受容野を広げる</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44.29M</a:t>
                      </a:r>
                    </a:p>
                  </a:txBody>
                  <a:tcPr marL="64008" marR="64008" marT="18288" marB="18288" anchor="ctr">
                    <a:solidFill>
                      <a:srgbClr val="FFFFFF"/>
                    </a:solidFill>
                  </a:tcPr>
                </a:tc>
                <a:extLst>
                  <a:ext uri="{0D108BD9-81ED-4DB2-BD59-A6C34878D82A}">
                    <a16:rowId xmlns:a16="http://schemas.microsoft.com/office/drawing/2014/main" val="10005"/>
                  </a:ext>
                </a:extLst>
              </a:tr>
              <a:tr h="475488">
                <a:tc>
                  <a:txBody>
                    <a:bodyPr/>
                    <a:lstStyle/>
                    <a:p>
                      <a:pPr algn="l"/>
                      <a:r>
                        <a:rPr sz="1100" b="0">
                          <a:solidFill>
                            <a:srgbClr val="23313C"/>
                          </a:solidFill>
                          <a:latin typeface="Meiryo"/>
                          <a:ea typeface="Meiryo"/>
                          <a:cs typeface="Meiryo"/>
                        </a:rPr>
                        <a:t>出力ストライド 8</a:t>
                      </a:r>
                    </a:p>
                  </a:txBody>
                  <a:tcPr marL="64008" marR="64008" marT="18288" marB="18288" anchor="ctr">
                    <a:solidFill>
                      <a:srgbClr val="F1F0E8"/>
                    </a:solidFill>
                  </a:tcPr>
                </a:tc>
                <a:tc>
                  <a:txBody>
                    <a:bodyPr/>
                    <a:lstStyle/>
                    <a:p>
                      <a:pPr algn="l"/>
                      <a:r>
                        <a:rPr sz="1100" b="0">
                          <a:solidFill>
                            <a:srgbClr val="23313C"/>
                          </a:solidFill>
                          <a:latin typeface="Meiryo"/>
                          <a:ea typeface="Meiryo"/>
                          <a:cs typeface="Meiryo"/>
                        </a:rPr>
                        <a:t>ボトルネック</a:t>
                      </a:r>
                    </a:p>
                  </a:txBody>
                  <a:tcPr marL="64008" marR="64008" marT="18288" marB="18288" anchor="ctr">
                    <a:solidFill>
                      <a:srgbClr val="F1F0E8"/>
                    </a:solidFill>
                  </a:tcPr>
                </a:tc>
                <a:tc>
                  <a:txBody>
                    <a:bodyPr/>
                    <a:lstStyle/>
                    <a:p>
                      <a:pPr algn="l"/>
                      <a:r>
                        <a:rPr sz="1100" b="0">
                          <a:solidFill>
                            <a:srgbClr val="23313C"/>
                          </a:solidFill>
                          <a:latin typeface="Meiryo"/>
                          <a:ea typeface="Meiryo"/>
                          <a:cs typeface="Meiryo"/>
                        </a:rPr>
                        <a:t>8×8 ではなく 16×16 で計算（dilation=2 で補償）</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42.72M</a:t>
                      </a:r>
                    </a:p>
                  </a:txBody>
                  <a:tcPr marL="64008" marR="64008" marT="18288" marB="18288" anchor="ctr">
                    <a:solidFill>
                      <a:srgbClr val="F1F0E8"/>
                    </a:solidFill>
                  </a:tcPr>
                </a:tc>
                <a:extLst>
                  <a:ext uri="{0D108BD9-81ED-4DB2-BD59-A6C34878D82A}">
                    <a16:rowId xmlns:a16="http://schemas.microsoft.com/office/drawing/2014/main" val="10006"/>
                  </a:ext>
                </a:extLst>
              </a:tr>
              <a:tr h="475488">
                <a:tc>
                  <a:txBody>
                    <a:bodyPr/>
                    <a:lstStyle/>
                    <a:p>
                      <a:pPr algn="l"/>
                      <a:r>
                        <a:rPr sz="1100" b="0">
                          <a:solidFill>
                            <a:srgbClr val="23313C"/>
                          </a:solidFill>
                          <a:latin typeface="Meiryo"/>
                          <a:ea typeface="Meiryo"/>
                          <a:cs typeface="Meiryo"/>
                        </a:rPr>
                        <a:t>出力ストライド 4</a:t>
                      </a:r>
                    </a:p>
                  </a:txBody>
                  <a:tcPr marL="64008" marR="64008" marT="18288" marB="18288" anchor="ctr">
                    <a:solidFill>
                      <a:srgbClr val="FFFFFF"/>
                    </a:solidFill>
                  </a:tcPr>
                </a:tc>
                <a:tc>
                  <a:txBody>
                    <a:bodyPr/>
                    <a:lstStyle/>
                    <a:p>
                      <a:pPr algn="l"/>
                      <a:r>
                        <a:rPr sz="1100" b="0">
                          <a:solidFill>
                            <a:srgbClr val="23313C"/>
                          </a:solidFill>
                          <a:latin typeface="Meiryo"/>
                          <a:ea typeface="Meiryo"/>
                          <a:cs typeface="Meiryo"/>
                        </a:rPr>
                        <a:t>ボトルネック</a:t>
                      </a:r>
                    </a:p>
                  </a:txBody>
                  <a:tcPr marL="64008" marR="64008" marT="18288" marB="18288" anchor="ctr">
                    <a:solidFill>
                      <a:srgbClr val="FFFFFF"/>
                    </a:solidFill>
                  </a:tcPr>
                </a:tc>
                <a:tc>
                  <a:txBody>
                    <a:bodyPr/>
                    <a:lstStyle/>
                    <a:p>
                      <a:pPr algn="l"/>
                      <a:r>
                        <a:rPr sz="1100" b="0">
                          <a:solidFill>
                            <a:srgbClr val="23313C"/>
                          </a:solidFill>
                          <a:latin typeface="Meiryo"/>
                          <a:ea typeface="Meiryo"/>
                          <a:cs typeface="Meiryo"/>
                        </a:rPr>
                        <a:t>32×32 まで上げる（未学習）</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42.32M</a:t>
                      </a:r>
                    </a:p>
                  </a:txBody>
                  <a:tcPr marL="64008" marR="64008" marT="18288" marB="18288" anchor="ctr">
                    <a:solidFill>
                      <a:srgbClr val="FFFFFF"/>
                    </a:solidFill>
                  </a:tcPr>
                </a:tc>
                <a:extLst>
                  <a:ext uri="{0D108BD9-81ED-4DB2-BD59-A6C34878D82A}">
                    <a16:rowId xmlns:a16="http://schemas.microsoft.com/office/drawing/2014/main" val="10007"/>
                  </a:ext>
                </a:extLst>
              </a:tr>
              <a:tr h="475488">
                <a:tc>
                  <a:txBody>
                    <a:bodyPr/>
                    <a:lstStyle/>
                    <a:p>
                      <a:pPr algn="l"/>
                      <a:r>
                        <a:rPr sz="1100" b="0">
                          <a:solidFill>
                            <a:srgbClr val="23313C"/>
                          </a:solidFill>
                          <a:latin typeface="Meiryo"/>
                          <a:ea typeface="Meiryo"/>
                          <a:cs typeface="Meiryo"/>
                        </a:rPr>
                        <a:t>全スケール結合</a:t>
                      </a:r>
                    </a:p>
                  </a:txBody>
                  <a:tcPr marL="64008" marR="64008" marT="18288" marB="18288" anchor="ctr">
                    <a:solidFill>
                      <a:srgbClr val="F1F0E8"/>
                    </a:solidFill>
                  </a:tcPr>
                </a:tc>
                <a:tc>
                  <a:txBody>
                    <a:bodyPr/>
                    <a:lstStyle/>
                    <a:p>
                      <a:pPr algn="l"/>
                      <a:r>
                        <a:rPr sz="1100" b="0">
                          <a:solidFill>
                            <a:srgbClr val="23313C"/>
                          </a:solidFill>
                          <a:latin typeface="Meiryo"/>
                          <a:ea typeface="Meiryo"/>
                          <a:cs typeface="Meiryo"/>
                        </a:rPr>
                        <a:t>デコーダ全段</a:t>
                      </a:r>
                    </a:p>
                  </a:txBody>
                  <a:tcPr marL="64008" marR="64008" marT="18288" marB="18288" anchor="ctr">
                    <a:solidFill>
                      <a:srgbClr val="F1F0E8"/>
                    </a:solidFill>
                  </a:tcPr>
                </a:tc>
                <a:tc>
                  <a:txBody>
                    <a:bodyPr/>
                    <a:lstStyle/>
                    <a:p>
                      <a:pPr algn="l"/>
                      <a:r>
                        <a:rPr sz="1100" b="0">
                          <a:solidFill>
                            <a:srgbClr val="23313C"/>
                          </a:solidFill>
                          <a:latin typeface="Meiryo"/>
                          <a:ea typeface="Meiryo"/>
                          <a:cs typeface="Meiryo"/>
                        </a:rPr>
                        <a:t>全解像度のスキップを各段に直接渡す（未学習）</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52.66M</a:t>
                      </a:r>
                    </a:p>
                  </a:txBody>
                  <a:tcPr marL="64008" marR="64008" marT="18288" marB="18288" anchor="ctr">
                    <a:solidFill>
                      <a:srgbClr val="F1F0E8"/>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566928" y="5669280"/>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最初の6つは学習・評価まで済み。出力ストライド4と全スケール結合は条件を作って実装・動作確認まで終えた段階（前の6つが効かなかったため優先度を下げた）。</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第3章 ②</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仕組み — 深層監督と監督Attention</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17</a:t>
            </a:r>
          </a:p>
        </p:txBody>
      </p:sp>
      <p:sp>
        <p:nvSpPr>
          <p:cNvPr id="5" name="TextBox 4"/>
          <p:cNvSpPr txBox="1"/>
          <p:nvPr/>
        </p:nvSpPr>
        <p:spPr>
          <a:xfrm>
            <a:off x="566928" y="1261872"/>
            <a:ext cx="11057839" cy="402336"/>
          </a:xfrm>
          <a:prstGeom prst="rect">
            <a:avLst/>
          </a:prstGeom>
          <a:noFill/>
        </p:spPr>
        <p:txBody>
          <a:bodyPr wrap="square" lIns="0" tIns="0" rIns="0" bIns="0">
            <a:spAutoFit/>
          </a:bodyPr>
          <a:lstStyle/>
          <a:p>
            <a:pPr algn="l">
              <a:lnSpc>
                <a:spcPct val="145000"/>
              </a:lnSpc>
            </a:pPr>
            <a:r>
              <a:rPr sz="1250" b="0">
                <a:solidFill>
                  <a:srgbClr val="4A5A68"/>
                </a:solidFill>
                <a:latin typeface="Meiryo"/>
                <a:ea typeface="Meiryo"/>
                <a:cs typeface="Meiryo"/>
              </a:rPr>
              <a:t>skip2（64×64・256ch）に小さなヘッドを足し、「ここに警戒区域があるか」を直接教える。出てきた存在マップの使い道が2つに分かれる。</a:t>
            </a:r>
          </a:p>
        </p:txBody>
      </p:sp>
      <p:sp>
        <p:nvSpPr>
          <p:cNvPr id="6" name="Rounded Rectangle 5"/>
          <p:cNvSpPr/>
          <p:nvPr/>
        </p:nvSpPr>
        <p:spPr>
          <a:xfrm>
            <a:off x="566928" y="1920240"/>
            <a:ext cx="2103120" cy="566928"/>
          </a:xfrm>
          <a:prstGeom prst="roundRect">
            <a:avLst>
              <a:gd name="adj" fmla="val 10000"/>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50" b="0">
                <a:solidFill>
                  <a:srgbClr val="FFFFFF"/>
                </a:solidFill>
                <a:latin typeface="Meiryo"/>
                <a:ea typeface="Meiryo"/>
                <a:cs typeface="Meiryo"/>
              </a:rPr>
              <a:t>skip2</a:t>
            </a:r>
          </a:p>
          <a:p>
            <a:pPr algn="ctr">
              <a:lnSpc>
                <a:spcPct val="125000"/>
              </a:lnSpc>
            </a:pPr>
            <a:r>
              <a:rPr sz="1050" b="0">
                <a:solidFill>
                  <a:srgbClr val="FFFFFF"/>
                </a:solidFill>
                <a:latin typeface="Meiryo"/>
                <a:ea typeface="Meiryo"/>
                <a:cs typeface="Meiryo"/>
              </a:rPr>
              <a:t>64×64 ・ 256ch</a:t>
            </a:r>
          </a:p>
        </p:txBody>
      </p:sp>
      <p:cxnSp>
        <p:nvCxnSpPr>
          <p:cNvPr id="7" name="Connector 6"/>
          <p:cNvCxnSpPr/>
          <p:nvPr/>
        </p:nvCxnSpPr>
        <p:spPr>
          <a:xfrm>
            <a:off x="2670048" y="2203704"/>
            <a:ext cx="594360"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264408" y="1920240"/>
            <a:ext cx="2286000" cy="566928"/>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900" b="0">
                <a:solidFill>
                  <a:srgbClr val="23313C"/>
                </a:solidFill>
                <a:latin typeface="Meiryo"/>
                <a:ea typeface="Meiryo"/>
                <a:cs typeface="Meiryo"/>
              </a:rPr>
              <a:t>補助ヘッド</a:t>
            </a:r>
          </a:p>
          <a:p>
            <a:pPr algn="ctr">
              <a:lnSpc>
                <a:spcPct val="125000"/>
              </a:lnSpc>
            </a:pPr>
            <a:r>
              <a:rPr sz="900" b="0">
                <a:solidFill>
                  <a:srgbClr val="23313C"/>
                </a:solidFill>
                <a:latin typeface="Meiryo"/>
                <a:ea typeface="Meiryo"/>
                <a:cs typeface="Meiryo"/>
              </a:rPr>
              <a:t>Conv3×3 → BN → ReLU → Conv1×1</a:t>
            </a:r>
          </a:p>
        </p:txBody>
      </p:sp>
      <p:cxnSp>
        <p:nvCxnSpPr>
          <p:cNvPr id="9" name="Connector 8"/>
          <p:cNvCxnSpPr/>
          <p:nvPr/>
        </p:nvCxnSpPr>
        <p:spPr>
          <a:xfrm>
            <a:off x="5550408" y="2203704"/>
            <a:ext cx="594360"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144768" y="1920240"/>
            <a:ext cx="2011680" cy="566928"/>
          </a:xfrm>
          <a:prstGeom prst="roundRect">
            <a:avLst>
              <a:gd name="adj" fmla="val 10000"/>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50" b="0">
                <a:solidFill>
                  <a:srgbClr val="FFFFFF"/>
                </a:solidFill>
                <a:latin typeface="Meiryo"/>
                <a:ea typeface="Meiryo"/>
                <a:cs typeface="Meiryo"/>
              </a:rPr>
              <a:t>存在マップ</a:t>
            </a:r>
          </a:p>
          <a:p>
            <a:pPr algn="ctr">
              <a:lnSpc>
                <a:spcPct val="125000"/>
              </a:lnSpc>
            </a:pPr>
            <a:r>
              <a:rPr sz="1050" b="0">
                <a:solidFill>
                  <a:srgbClr val="FFFFFF"/>
                </a:solidFill>
                <a:latin typeface="Meiryo"/>
                <a:ea typeface="Meiryo"/>
                <a:cs typeface="Meiryo"/>
              </a:rPr>
              <a:t>64×64 ・ 1ch</a:t>
            </a:r>
          </a:p>
        </p:txBody>
      </p:sp>
      <p:sp>
        <p:nvSpPr>
          <p:cNvPr id="11" name="Rounded Rectangle 10"/>
          <p:cNvSpPr/>
          <p:nvPr/>
        </p:nvSpPr>
        <p:spPr>
          <a:xfrm>
            <a:off x="8796528" y="1572768"/>
            <a:ext cx="2788920" cy="530352"/>
          </a:xfrm>
          <a:prstGeom prst="roundRect">
            <a:avLst>
              <a:gd name="adj" fmla="val 10000"/>
            </a:avLst>
          </a:prstGeom>
          <a:solidFill>
            <a:srgbClr val="3D6B4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150" b="1">
                <a:solidFill>
                  <a:srgbClr val="FFFFFF"/>
                </a:solidFill>
                <a:latin typeface="Meiryo"/>
                <a:ea typeface="Meiryo"/>
                <a:cs typeface="Meiryo"/>
              </a:rPr>
              <a:t>(a) 深層監督</a:t>
            </a:r>
          </a:p>
        </p:txBody>
      </p:sp>
      <p:cxnSp>
        <p:nvCxnSpPr>
          <p:cNvPr id="12" name="Connector 11"/>
          <p:cNvCxnSpPr/>
          <p:nvPr/>
        </p:nvCxnSpPr>
        <p:spPr>
          <a:xfrm flipV="1">
            <a:off x="8156448" y="1837943"/>
            <a:ext cx="640080" cy="265177"/>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796528" y="2212848"/>
            <a:ext cx="2788920" cy="768096"/>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950" b="0">
                <a:solidFill>
                  <a:srgbClr val="23313C"/>
                </a:solidFill>
                <a:latin typeface="Meiryo"/>
                <a:ea typeface="Meiryo"/>
                <a:cs typeface="Meiryo"/>
              </a:rPr>
              <a:t>正解を最大プーリングで 64×64 に</a:t>
            </a:r>
          </a:p>
          <a:p>
            <a:pPr algn="ctr">
              <a:lnSpc>
                <a:spcPct val="125000"/>
              </a:lnSpc>
            </a:pPr>
            <a:r>
              <a:rPr sz="950" b="0">
                <a:solidFill>
                  <a:srgbClr val="23313C"/>
                </a:solidFill>
                <a:latin typeface="Meiryo"/>
                <a:ea typeface="Meiryo"/>
                <a:cs typeface="Meiryo"/>
              </a:rPr>
              <a:t>落としたものを教師にして損失を足す</a:t>
            </a:r>
          </a:p>
          <a:p>
            <a:pPr algn="ctr">
              <a:lnSpc>
                <a:spcPct val="125000"/>
              </a:lnSpc>
            </a:pPr>
            <a:r>
              <a:rPr sz="950" b="0">
                <a:solidFill>
                  <a:srgbClr val="23313C"/>
                </a:solidFill>
                <a:latin typeface="Meiryo"/>
                <a:ea typeface="Meiryo"/>
                <a:cs typeface="Meiryo"/>
              </a:rPr>
              <a:t>（λ = 0.5）</a:t>
            </a:r>
          </a:p>
        </p:txBody>
      </p:sp>
      <p:sp>
        <p:nvSpPr>
          <p:cNvPr id="14" name="Rounded Rectangle 13"/>
          <p:cNvSpPr/>
          <p:nvPr/>
        </p:nvSpPr>
        <p:spPr>
          <a:xfrm>
            <a:off x="566928" y="3401568"/>
            <a:ext cx="2788920" cy="530352"/>
          </a:xfrm>
          <a:prstGeom prst="roundRect">
            <a:avLst>
              <a:gd name="adj" fmla="val 10000"/>
            </a:avLst>
          </a:prstGeom>
          <a:solidFill>
            <a:srgbClr val="3D6B4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150" b="1">
                <a:solidFill>
                  <a:srgbClr val="FFFFFF"/>
                </a:solidFill>
                <a:latin typeface="Meiryo"/>
                <a:ea typeface="Meiryo"/>
                <a:cs typeface="Meiryo"/>
              </a:rPr>
              <a:t>(b) 監督Attention</a:t>
            </a:r>
          </a:p>
        </p:txBody>
      </p:sp>
      <p:cxnSp>
        <p:nvCxnSpPr>
          <p:cNvPr id="15" name="Connector 14"/>
          <p:cNvCxnSpPr/>
          <p:nvPr/>
        </p:nvCxnSpPr>
        <p:spPr>
          <a:xfrm flipH="1">
            <a:off x="1956816" y="2487168"/>
            <a:ext cx="5193792" cy="91440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66928" y="4041648"/>
            <a:ext cx="2788920" cy="768096"/>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950" b="0">
                <a:solidFill>
                  <a:srgbClr val="23313C"/>
                </a:solidFill>
                <a:latin typeface="Meiryo"/>
                <a:ea typeface="Meiryo"/>
                <a:cs typeface="Meiryo"/>
              </a:rPr>
              <a:t>sigmoid に通して</a:t>
            </a:r>
          </a:p>
          <a:p>
            <a:pPr algn="ctr">
              <a:lnSpc>
                <a:spcPct val="125000"/>
              </a:lnSpc>
            </a:pPr>
            <a:r>
              <a:rPr sz="950" b="0">
                <a:solidFill>
                  <a:srgbClr val="23313C"/>
                </a:solidFill>
                <a:latin typeface="Meiryo"/>
                <a:ea typeface="Meiryo"/>
                <a:cs typeface="Meiryo"/>
              </a:rPr>
              <a:t>skip2 × (1 + 存在マップ)</a:t>
            </a:r>
          </a:p>
          <a:p>
            <a:pPr algn="ctr">
              <a:lnSpc>
                <a:spcPct val="125000"/>
              </a:lnSpc>
            </a:pPr>
            <a:r>
              <a:rPr sz="950" b="0">
                <a:solidFill>
                  <a:srgbClr val="23313C"/>
                </a:solidFill>
                <a:latin typeface="Meiryo"/>
                <a:ea typeface="Meiryo"/>
                <a:cs typeface="Meiryo"/>
              </a:rPr>
              <a:t>でスキップを増幅する</a:t>
            </a:r>
          </a:p>
        </p:txBody>
      </p:sp>
      <p:cxnSp>
        <p:nvCxnSpPr>
          <p:cNvPr id="17" name="Connector 16"/>
          <p:cNvCxnSpPr/>
          <p:nvPr/>
        </p:nvCxnSpPr>
        <p:spPr>
          <a:xfrm>
            <a:off x="3355848" y="4425696"/>
            <a:ext cx="640080"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995928" y="4169663"/>
            <a:ext cx="2103120" cy="512064"/>
          </a:xfrm>
          <a:prstGeom prst="roundRect">
            <a:avLst>
              <a:gd name="adj" fmla="val 10000"/>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50" b="0">
                <a:solidFill>
                  <a:srgbClr val="FFFFFF"/>
                </a:solidFill>
                <a:latin typeface="Meiryo"/>
                <a:ea typeface="Meiryo"/>
                <a:cs typeface="Meiryo"/>
              </a:rPr>
              <a:t>デコーダへ</a:t>
            </a:r>
          </a:p>
        </p:txBody>
      </p:sp>
      <p:sp>
        <p:nvSpPr>
          <p:cNvPr id="19" name="Rounded Rectangle 18"/>
          <p:cNvSpPr/>
          <p:nvPr/>
        </p:nvSpPr>
        <p:spPr>
          <a:xfrm>
            <a:off x="6510528" y="3401568"/>
            <a:ext cx="5114239" cy="1408176"/>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66560" y="3584448"/>
            <a:ext cx="4748479" cy="274320"/>
          </a:xfrm>
          <a:prstGeom prst="rect">
            <a:avLst/>
          </a:prstGeom>
          <a:noFill/>
        </p:spPr>
        <p:txBody>
          <a:bodyPr wrap="square" lIns="0" tIns="0" rIns="0" bIns="0">
            <a:spAutoFit/>
          </a:bodyPr>
          <a:lstStyle/>
          <a:p>
            <a:pPr algn="l"/>
            <a:r>
              <a:rPr sz="1200" b="1">
                <a:solidFill>
                  <a:srgbClr val="23313C"/>
                </a:solidFill>
                <a:latin typeface="Meiryo"/>
                <a:ea typeface="Meiryo"/>
                <a:cs typeface="Meiryo"/>
              </a:rPr>
              <a:t>最大プーリングを使う理由</a:t>
            </a:r>
          </a:p>
        </p:txBody>
      </p:sp>
      <p:sp>
        <p:nvSpPr>
          <p:cNvPr id="21" name="TextBox 20"/>
          <p:cNvSpPr txBox="1"/>
          <p:nvPr/>
        </p:nvSpPr>
        <p:spPr>
          <a:xfrm>
            <a:off x="6766560" y="3931920"/>
            <a:ext cx="4748479" cy="777240"/>
          </a:xfrm>
          <a:prstGeom prst="rect">
            <a:avLst/>
          </a:prstGeom>
          <a:noFill/>
        </p:spPr>
        <p:txBody>
          <a:bodyPr wrap="square" lIns="0" tIns="0" rIns="0" bIns="0">
            <a:spAutoFit/>
          </a:bodyPr>
          <a:lstStyle/>
          <a:p>
            <a:pPr algn="l">
              <a:lnSpc>
                <a:spcPct val="150000"/>
              </a:lnSpc>
            </a:pPr>
            <a:r>
              <a:rPr sz="1100" b="0">
                <a:solidFill>
                  <a:srgbClr val="4A5A68"/>
                </a:solidFill>
                <a:latin typeface="Meiryo"/>
                <a:ea typeface="Meiryo"/>
                <a:cs typeface="Meiryo"/>
              </a:rPr>
              <a:t>平均プーリングだと、1/2 に落とす段階で小さい箇所が薄まって消える。最大なら「そこに1画素でもあるか」が残る。</a:t>
            </a:r>
          </a:p>
        </p:txBody>
      </p:sp>
      <p:sp>
        <p:nvSpPr>
          <p:cNvPr id="22" name="TextBox 21"/>
          <p:cNvSpPr txBox="1"/>
          <p:nvPr/>
        </p:nvSpPr>
        <p:spPr>
          <a:xfrm>
            <a:off x="566928" y="5047488"/>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ブランチ別版（SupAttnPB）は、このヘッドを連結前に地形量と航空写真で別々に持たせたもの。既存の Attention 構造が枝ごとにゲートを持つ設計と揃う。</a:t>
            </a:r>
          </a:p>
        </p:txBody>
      </p:sp>
      <p:sp>
        <p:nvSpPr>
          <p:cNvPr id="23" name="TextBox 22"/>
          <p:cNvSpPr txBox="1"/>
          <p:nvPr/>
        </p:nvSpPr>
        <p:spPr>
          <a:xfrm>
            <a:off x="566928" y="5724144"/>
            <a:ext cx="11057839" cy="457200"/>
          </a:xfrm>
          <a:prstGeom prst="rect">
            <a:avLst/>
          </a:prstGeom>
          <a:noFill/>
        </p:spPr>
        <p:txBody>
          <a:bodyPr wrap="square" lIns="0" tIns="0" rIns="0" bIns="0">
            <a:spAutoFit/>
          </a:bodyPr>
          <a:lstStyle/>
          <a:p>
            <a:pPr algn="l"/>
            <a:r>
              <a:rPr sz="1300" b="0">
                <a:solidFill>
                  <a:srgbClr val="23313C"/>
                </a:solidFill>
                <a:latin typeface="Meiryo"/>
                <a:ea typeface="Meiryo"/>
                <a:cs typeface="Meiryo"/>
              </a:rPr>
              <a:t>変調が x×(1+sigmoid) の残差型なので、</a:t>
            </a:r>
            <a:r>
              <a:rPr sz="1300" b="1">
                <a:solidFill>
                  <a:srgbClr val="B85042"/>
                </a:solidFill>
                <a:latin typeface="Meiryo"/>
                <a:ea typeface="Meiryo"/>
                <a:cs typeface="Meiryo"/>
              </a:rPr>
              <a:t>増やす方向にしか働かない</a:t>
            </a:r>
            <a:r>
              <a:rPr sz="1300" b="0">
                <a:solidFill>
                  <a:srgbClr val="23313C"/>
                </a:solidFill>
                <a:latin typeface="Meiryo"/>
                <a:ea typeface="Meiryo"/>
                <a:cs typeface="Meiryo"/>
              </a:rPr>
              <a:t>。これが次ページの副作用につながる。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第3章 ③</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結果 — 深層監督と監督Attention</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18</a:t>
            </a:r>
          </a:p>
        </p:txBody>
      </p:sp>
      <p:sp>
        <p:nvSpPr>
          <p:cNvPr id="5" name="TextBox 4"/>
          <p:cNvSpPr txBox="1"/>
          <p:nvPr/>
        </p:nvSpPr>
        <p:spPr>
          <a:xfrm>
            <a:off x="566928" y="1335024"/>
            <a:ext cx="11057839" cy="457200"/>
          </a:xfrm>
          <a:prstGeom prst="rect">
            <a:avLst/>
          </a:prstGeom>
          <a:noFill/>
        </p:spPr>
        <p:txBody>
          <a:bodyPr wrap="square" lIns="0" tIns="0" rIns="0" bIns="0">
            <a:spAutoFit/>
          </a:bodyPr>
          <a:lstStyle/>
          <a:p>
            <a:pPr algn="l">
              <a:lnSpc>
                <a:spcPct val="150000"/>
              </a:lnSpc>
            </a:pPr>
            <a:r>
              <a:rPr sz="1300" b="0">
                <a:solidFill>
                  <a:srgbClr val="4A5A68"/>
                </a:solidFill>
                <a:latin typeface="Meiryo"/>
                <a:ea typeface="Meiryo"/>
                <a:cs typeface="Meiryo"/>
              </a:rPr>
              <a:t>前ページの仕組みを bg10 の上に足して学習した。比較はすべて bg10 基準。</a:t>
            </a:r>
          </a:p>
        </p:txBody>
      </p:sp>
      <p:graphicFrame>
        <p:nvGraphicFramePr>
          <p:cNvPr id="6" name="Table 5"/>
          <p:cNvGraphicFramePr>
            <a:graphicFrameLocks noGrp="1"/>
          </p:cNvGraphicFramePr>
          <p:nvPr/>
        </p:nvGraphicFramePr>
        <p:xfrm>
          <a:off x="566928" y="1938528"/>
          <a:ext cx="11064240" cy="1993392"/>
        </p:xfrm>
        <a:graphic>
          <a:graphicData uri="http://schemas.openxmlformats.org/drawingml/2006/table">
            <a:tbl>
              <a:tblPr>
                <a:tableStyleId>{5C22544A-7EE6-4342-B048-85BDC9FD1C3A}</a:tableStyleId>
              </a:tblPr>
              <a:tblGrid>
                <a:gridCol w="35661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384048">
                <a:tc>
                  <a:txBody>
                    <a:bodyPr/>
                    <a:lstStyle/>
                    <a:p>
                      <a:pPr algn="l"/>
                      <a:r>
                        <a:rPr sz="1100" b="1">
                          <a:solidFill>
                            <a:srgbClr val="FFFFFF"/>
                          </a:solidFill>
                          <a:latin typeface="Meiryo"/>
                          <a:ea typeface="Meiryo"/>
                          <a:cs typeface="Meiryo"/>
                        </a:rPr>
                        <a:t>施策</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面積F</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bg10 比</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箇所F</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bg10 比</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予測/正解 面積</a:t>
                      </a:r>
                    </a:p>
                  </a:txBody>
                  <a:tcPr marL="64008" marR="64008" marT="18288" marB="18288" anchor="ctr">
                    <a:solidFill>
                      <a:srgbClr val="23313C"/>
                    </a:solidFill>
                  </a:tcPr>
                </a:tc>
                <a:extLst>
                  <a:ext uri="{0D108BD9-81ED-4DB2-BD59-A6C34878D82A}">
                    <a16:rowId xmlns:a16="http://schemas.microsoft.com/office/drawing/2014/main" val="10000"/>
                  </a:ext>
                </a:extLst>
              </a:tr>
              <a:tr h="402336">
                <a:tc>
                  <a:txBody>
                    <a:bodyPr/>
                    <a:lstStyle/>
                    <a:p>
                      <a:pPr algn="l"/>
                      <a:r>
                        <a:rPr sz="1100" b="0">
                          <a:solidFill>
                            <a:srgbClr val="23313C"/>
                          </a:solidFill>
                          <a:latin typeface="Meiryo"/>
                          <a:ea typeface="Meiryo"/>
                          <a:cs typeface="Meiryo"/>
                        </a:rPr>
                        <a:t>bg10（この系統の出発点）</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0.6636</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0.6252</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1.512</a:t>
                      </a:r>
                    </a:p>
                  </a:txBody>
                  <a:tcPr marL="64008" marR="64008" marT="18288" marB="18288" anchor="ctr">
                    <a:solidFill>
                      <a:srgbClr val="FFFFFF"/>
                    </a:solidFill>
                  </a:tcPr>
                </a:tc>
                <a:extLst>
                  <a:ext uri="{0D108BD9-81ED-4DB2-BD59-A6C34878D82A}">
                    <a16:rowId xmlns:a16="http://schemas.microsoft.com/office/drawing/2014/main" val="10001"/>
                  </a:ext>
                </a:extLst>
              </a:tr>
              <a:tr h="402336">
                <a:tc>
                  <a:txBody>
                    <a:bodyPr/>
                    <a:lstStyle/>
                    <a:p>
                      <a:pPr algn="l"/>
                      <a:r>
                        <a:rPr sz="1100" b="0">
                          <a:solidFill>
                            <a:srgbClr val="23313C"/>
                          </a:solidFill>
                          <a:latin typeface="Meiryo"/>
                          <a:ea typeface="Meiryo"/>
                          <a:cs typeface="Meiryo"/>
                        </a:rPr>
                        <a:t>+ 深層監督 1段</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0.6654</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+0.002</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0.6404</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+0.015</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1.598</a:t>
                      </a:r>
                    </a:p>
                  </a:txBody>
                  <a:tcPr marL="64008" marR="64008" marT="18288" marB="18288" anchor="ctr">
                    <a:solidFill>
                      <a:srgbClr val="F1F0E8"/>
                    </a:solidFill>
                  </a:tcPr>
                </a:tc>
                <a:extLst>
                  <a:ext uri="{0D108BD9-81ED-4DB2-BD59-A6C34878D82A}">
                    <a16:rowId xmlns:a16="http://schemas.microsoft.com/office/drawing/2014/main" val="10002"/>
                  </a:ext>
                </a:extLst>
              </a:tr>
              <a:tr h="402336">
                <a:tc>
                  <a:txBody>
                    <a:bodyPr/>
                    <a:lstStyle/>
                    <a:p>
                      <a:pPr algn="l"/>
                      <a:r>
                        <a:rPr sz="1100" b="0">
                          <a:solidFill>
                            <a:srgbClr val="23313C"/>
                          </a:solidFill>
                          <a:latin typeface="Meiryo"/>
                          <a:ea typeface="Meiryo"/>
                          <a:cs typeface="Meiryo"/>
                        </a:rPr>
                        <a:t>+ 深層監督 3段</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0.6654</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+0.002</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0.6412</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+0.016</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1.573</a:t>
                      </a:r>
                    </a:p>
                  </a:txBody>
                  <a:tcPr marL="64008" marR="64008" marT="18288" marB="18288" anchor="ctr">
                    <a:solidFill>
                      <a:srgbClr val="FFFFFF"/>
                    </a:solidFill>
                  </a:tcPr>
                </a:tc>
                <a:extLst>
                  <a:ext uri="{0D108BD9-81ED-4DB2-BD59-A6C34878D82A}">
                    <a16:rowId xmlns:a16="http://schemas.microsoft.com/office/drawing/2014/main" val="10003"/>
                  </a:ext>
                </a:extLst>
              </a:tr>
              <a:tr h="402336">
                <a:tc>
                  <a:txBody>
                    <a:bodyPr/>
                    <a:lstStyle/>
                    <a:p>
                      <a:pPr algn="l"/>
                      <a:r>
                        <a:rPr sz="1100" b="0">
                          <a:solidFill>
                            <a:srgbClr val="23313C"/>
                          </a:solidFill>
                          <a:latin typeface="Meiryo"/>
                          <a:ea typeface="Meiryo"/>
                          <a:cs typeface="Meiryo"/>
                        </a:rPr>
                        <a:t>+ 監督Attention</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0.6671</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+0.004</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0.6449</a:t>
                      </a:r>
                    </a:p>
                  </a:txBody>
                  <a:tcPr marL="64008" marR="64008" marT="18288" marB="18288" anchor="ctr">
                    <a:solidFill>
                      <a:srgbClr val="F1F0E8"/>
                    </a:solidFill>
                  </a:tcPr>
                </a:tc>
                <a:tc>
                  <a:txBody>
                    <a:bodyPr/>
                    <a:lstStyle/>
                    <a:p>
                      <a:pPr algn="r"/>
                      <a:r>
                        <a:rPr sz="1100" b="1">
                          <a:solidFill>
                            <a:srgbClr val="3D6B4A"/>
                          </a:solidFill>
                          <a:latin typeface="Meiryo"/>
                          <a:ea typeface="Meiryo"/>
                          <a:cs typeface="Meiryo"/>
                        </a:rPr>
                        <a:t>+0.020</a:t>
                      </a:r>
                    </a:p>
                  </a:txBody>
                  <a:tcPr marL="64008" marR="64008" marT="18288" marB="18288" anchor="ctr">
                    <a:solidFill>
                      <a:srgbClr val="F1F0E8"/>
                    </a:solidFill>
                  </a:tcPr>
                </a:tc>
                <a:tc>
                  <a:txBody>
                    <a:bodyPr/>
                    <a:lstStyle/>
                    <a:p>
                      <a:pPr algn="r"/>
                      <a:r>
                        <a:rPr sz="1100" b="1">
                          <a:solidFill>
                            <a:srgbClr val="B85042"/>
                          </a:solidFill>
                          <a:latin typeface="Meiryo"/>
                          <a:ea typeface="Meiryo"/>
                          <a:cs typeface="Meiryo"/>
                        </a:rPr>
                        <a:t>1.706</a:t>
                      </a:r>
                    </a:p>
                  </a:txBody>
                  <a:tcPr marL="64008" marR="64008" marT="18288" marB="18288" anchor="ctr">
                    <a:solidFill>
                      <a:srgbClr val="F1F0E8"/>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66928" y="4133087"/>
            <a:ext cx="5532120" cy="1463040"/>
          </a:xfrm>
          <a:prstGeom prst="rect">
            <a:avLst/>
          </a:prstGeom>
          <a:noFill/>
        </p:spPr>
        <p:txBody>
          <a:bodyPr wrap="square" lIns="0" tIns="0" rIns="0" bIns="0">
            <a:spAutoFit/>
          </a:bodyPr>
          <a:lstStyle/>
          <a:p>
            <a:pPr algn="l">
              <a:lnSpc>
                <a:spcPct val="150000"/>
              </a:lnSpc>
            </a:pPr>
            <a:r>
              <a:rPr sz="1400" b="1">
                <a:solidFill>
                  <a:srgbClr val="3D6B4A"/>
                </a:solidFill>
                <a:latin typeface="Meiryo"/>
                <a:ea typeface="Meiryo"/>
                <a:cs typeface="Meiryo"/>
              </a:rPr>
              <a:t>効いた：100〜3000px の見逃しが減る</a:t>
            </a:r>
          </a:p>
          <a:p>
            <a:pPr algn="l">
              <a:lnSpc>
                <a:spcPct val="150000"/>
              </a:lnSpc>
            </a:pPr>
            <a:r>
              <a:rPr sz="1200" b="0">
                <a:solidFill>
                  <a:srgbClr val="4A5A68"/>
                </a:solidFill>
                <a:latin typeface="Meiryo"/>
                <a:ea typeface="Meiryo"/>
                <a:cs typeface="Meiryo"/>
              </a:rPr>
              <a:t>監督を入れた段の解像度（64×64）で表現できるサイズに効く。100〜3000px で見逃しが計 −71箇所。50px 以下は 4×4 画素しかなく届かない。</a:t>
            </a:r>
          </a:p>
        </p:txBody>
      </p:sp>
      <p:sp>
        <p:nvSpPr>
          <p:cNvPr id="8" name="TextBox 7"/>
          <p:cNvSpPr txBox="1"/>
          <p:nvPr/>
        </p:nvSpPr>
        <p:spPr>
          <a:xfrm>
            <a:off x="6327648" y="4133087"/>
            <a:ext cx="5297119" cy="1463040"/>
          </a:xfrm>
          <a:prstGeom prst="rect">
            <a:avLst/>
          </a:prstGeom>
          <a:noFill/>
        </p:spPr>
        <p:txBody>
          <a:bodyPr wrap="square" lIns="0" tIns="0" rIns="0" bIns="0">
            <a:spAutoFit/>
          </a:bodyPr>
          <a:lstStyle/>
          <a:p>
            <a:pPr algn="l">
              <a:lnSpc>
                <a:spcPct val="150000"/>
              </a:lnSpc>
            </a:pPr>
            <a:r>
              <a:rPr sz="1400" b="1">
                <a:solidFill>
                  <a:srgbClr val="B85042"/>
                </a:solidFill>
                <a:latin typeface="Meiryo"/>
                <a:ea typeface="Meiryo"/>
                <a:cs typeface="Meiryo"/>
              </a:rPr>
              <a:t>悪化した：予測が塗り広がる</a:t>
            </a:r>
          </a:p>
          <a:p>
            <a:pPr algn="l">
              <a:lnSpc>
                <a:spcPct val="150000"/>
              </a:lnSpc>
            </a:pPr>
            <a:r>
              <a:rPr sz="1200" b="0">
                <a:solidFill>
                  <a:srgbClr val="4A5A68"/>
                </a:solidFill>
                <a:latin typeface="Meiryo"/>
                <a:ea typeface="Meiryo"/>
                <a:cs typeface="Meiryo"/>
              </a:rPr>
              <a:t>変調が x×(1+sigmoid) の残差型なので増幅方向にしか働かない。予測面積比 1.512→1.706。箇所F は稼げるが面積Precision を落とす。</a:t>
            </a:r>
          </a:p>
        </p:txBody>
      </p:sp>
      <p:sp>
        <p:nvSpPr>
          <p:cNvPr id="9" name="TextBox 8"/>
          <p:cNvSpPr txBox="1"/>
          <p:nvPr/>
        </p:nvSpPr>
        <p:spPr>
          <a:xfrm>
            <a:off x="566928" y="5669280"/>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段を3つに増やすと、1段版で効いていた改善がむしろ失われた。λ=0.5 を段数で割ったため 64×64 への配分が 0.5→0.167 に薄まったから。段を増やすなら総圧力も増やす必要がある。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第3章 ④</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仕組み — ASPP で受容野を広げる</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19</a:t>
            </a:r>
          </a:p>
        </p:txBody>
      </p:sp>
      <p:sp>
        <p:nvSpPr>
          <p:cNvPr id="5" name="TextBox 4"/>
          <p:cNvSpPr txBox="1"/>
          <p:nvPr/>
        </p:nvSpPr>
        <p:spPr>
          <a:xfrm>
            <a:off x="566928" y="1261872"/>
            <a:ext cx="11057839" cy="274320"/>
          </a:xfrm>
          <a:prstGeom prst="rect">
            <a:avLst/>
          </a:prstGeom>
          <a:noFill/>
        </p:spPr>
        <p:txBody>
          <a:bodyPr wrap="square" lIns="0" tIns="0" rIns="0" bIns="0">
            <a:spAutoFit/>
          </a:bodyPr>
          <a:lstStyle/>
          <a:p>
            <a:pPr algn="l">
              <a:lnSpc>
                <a:spcPct val="145000"/>
              </a:lnSpc>
            </a:pPr>
            <a:r>
              <a:rPr sz="1250" b="0">
                <a:solidFill>
                  <a:srgbClr val="4A5A68"/>
                </a:solidFill>
                <a:latin typeface="Meiryo"/>
                <a:ea typeface="Meiryo"/>
                <a:cs typeface="Meiryo"/>
              </a:rPr>
              <a:t>補助ヘッドは Conv 3×3 だけで受容野は 26.9 m。飛び飛びに見る畳み込みを並べる。</a:t>
            </a:r>
          </a:p>
        </p:txBody>
      </p:sp>
      <p:sp>
        <p:nvSpPr>
          <p:cNvPr id="6" name="Rounded Rectangle 5"/>
          <p:cNvSpPr/>
          <p:nvPr/>
        </p:nvSpPr>
        <p:spPr>
          <a:xfrm>
            <a:off x="566928" y="2825496"/>
            <a:ext cx="1600200" cy="566928"/>
          </a:xfrm>
          <a:prstGeom prst="roundRect">
            <a:avLst>
              <a:gd name="adj" fmla="val 10000"/>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50" b="0">
                <a:solidFill>
                  <a:srgbClr val="FFFFFF"/>
                </a:solidFill>
                <a:latin typeface="Meiryo"/>
                <a:ea typeface="Meiryo"/>
                <a:cs typeface="Meiryo"/>
              </a:rPr>
              <a:t>skip2</a:t>
            </a:r>
          </a:p>
          <a:p>
            <a:pPr algn="ctr">
              <a:lnSpc>
                <a:spcPct val="125000"/>
              </a:lnSpc>
            </a:pPr>
            <a:r>
              <a:rPr sz="1050" b="0">
                <a:solidFill>
                  <a:srgbClr val="FFFFFF"/>
                </a:solidFill>
                <a:latin typeface="Meiryo"/>
                <a:ea typeface="Meiryo"/>
                <a:cs typeface="Meiryo"/>
              </a:rPr>
              <a:t>64×64</a:t>
            </a:r>
          </a:p>
        </p:txBody>
      </p:sp>
      <p:sp>
        <p:nvSpPr>
          <p:cNvPr id="7" name="Rounded Rectangle 6"/>
          <p:cNvSpPr/>
          <p:nvPr/>
        </p:nvSpPr>
        <p:spPr>
          <a:xfrm>
            <a:off x="2852928" y="1865376"/>
            <a:ext cx="2148840" cy="438912"/>
          </a:xfrm>
          <a:prstGeom prst="roundRect">
            <a:avLst>
              <a:gd name="adj" fmla="val 10000"/>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FFFFFF"/>
                </a:solidFill>
                <a:latin typeface="Meiryo"/>
                <a:ea typeface="Meiryo"/>
                <a:cs typeface="Meiryo"/>
              </a:rPr>
              <a:t>1×1</a:t>
            </a:r>
          </a:p>
        </p:txBody>
      </p:sp>
      <p:sp>
        <p:nvSpPr>
          <p:cNvPr id="8" name="TextBox 7"/>
          <p:cNvSpPr txBox="1"/>
          <p:nvPr/>
        </p:nvSpPr>
        <p:spPr>
          <a:xfrm>
            <a:off x="5111496" y="1965960"/>
            <a:ext cx="868680" cy="237744"/>
          </a:xfrm>
          <a:prstGeom prst="rect">
            <a:avLst/>
          </a:prstGeom>
          <a:noFill/>
        </p:spPr>
        <p:txBody>
          <a:bodyPr wrap="square" lIns="0" tIns="0" rIns="0" bIns="0">
            <a:spAutoFit/>
          </a:bodyPr>
          <a:lstStyle/>
          <a:p>
            <a:pPr algn="l"/>
            <a:r>
              <a:rPr sz="1050" b="0">
                <a:solidFill>
                  <a:srgbClr val="23313C"/>
                </a:solidFill>
                <a:latin typeface="Meiryo"/>
                <a:ea typeface="Meiryo"/>
                <a:cs typeface="Meiryo"/>
              </a:rPr>
              <a:t>9 m</a:t>
            </a:r>
          </a:p>
        </p:txBody>
      </p:sp>
      <p:cxnSp>
        <p:nvCxnSpPr>
          <p:cNvPr id="9" name="Connector 8"/>
          <p:cNvCxnSpPr/>
          <p:nvPr/>
        </p:nvCxnSpPr>
        <p:spPr>
          <a:xfrm flipV="1">
            <a:off x="2167128" y="2084832"/>
            <a:ext cx="685800" cy="1024128"/>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07608" y="2084832"/>
            <a:ext cx="868680" cy="1024128"/>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52928" y="2377440"/>
            <a:ext cx="2148840" cy="438912"/>
          </a:xfrm>
          <a:prstGeom prst="roundRect">
            <a:avLst>
              <a:gd name="adj" fmla="val 10000"/>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FFFFFF"/>
                </a:solidFill>
                <a:latin typeface="Meiryo"/>
                <a:ea typeface="Meiryo"/>
                <a:cs typeface="Meiryo"/>
              </a:rPr>
              <a:t>3×3 d=2</a:t>
            </a:r>
          </a:p>
        </p:txBody>
      </p:sp>
      <p:sp>
        <p:nvSpPr>
          <p:cNvPr id="12" name="TextBox 11"/>
          <p:cNvSpPr txBox="1"/>
          <p:nvPr/>
        </p:nvSpPr>
        <p:spPr>
          <a:xfrm>
            <a:off x="5111496" y="2478024"/>
            <a:ext cx="868680" cy="237744"/>
          </a:xfrm>
          <a:prstGeom prst="rect">
            <a:avLst/>
          </a:prstGeom>
          <a:noFill/>
        </p:spPr>
        <p:txBody>
          <a:bodyPr wrap="square" lIns="0" tIns="0" rIns="0" bIns="0">
            <a:spAutoFit/>
          </a:bodyPr>
          <a:lstStyle/>
          <a:p>
            <a:pPr algn="l"/>
            <a:r>
              <a:rPr sz="1050" b="0">
                <a:solidFill>
                  <a:srgbClr val="23313C"/>
                </a:solidFill>
                <a:latin typeface="Meiryo"/>
                <a:ea typeface="Meiryo"/>
                <a:cs typeface="Meiryo"/>
              </a:rPr>
              <a:t>45 m</a:t>
            </a:r>
          </a:p>
        </p:txBody>
      </p:sp>
      <p:cxnSp>
        <p:nvCxnSpPr>
          <p:cNvPr id="13" name="Connector 12"/>
          <p:cNvCxnSpPr/>
          <p:nvPr/>
        </p:nvCxnSpPr>
        <p:spPr>
          <a:xfrm flipV="1">
            <a:off x="2167128" y="2596896"/>
            <a:ext cx="685800" cy="512064"/>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007608" y="2596896"/>
            <a:ext cx="868680" cy="512064"/>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52928" y="2889504"/>
            <a:ext cx="2148840" cy="438912"/>
          </a:xfrm>
          <a:prstGeom prst="roundRect">
            <a:avLst>
              <a:gd name="adj" fmla="val 10000"/>
            </a:avLst>
          </a:prstGeom>
          <a:solidFill>
            <a:srgbClr val="3D6B4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FFFFFF"/>
                </a:solidFill>
                <a:latin typeface="Meiryo"/>
                <a:ea typeface="Meiryo"/>
                <a:cs typeface="Meiryo"/>
              </a:rPr>
              <a:t>3×3 d=4</a:t>
            </a:r>
          </a:p>
        </p:txBody>
      </p:sp>
      <p:sp>
        <p:nvSpPr>
          <p:cNvPr id="16" name="TextBox 15"/>
          <p:cNvSpPr txBox="1"/>
          <p:nvPr/>
        </p:nvSpPr>
        <p:spPr>
          <a:xfrm>
            <a:off x="5111496" y="2990088"/>
            <a:ext cx="868680" cy="237744"/>
          </a:xfrm>
          <a:prstGeom prst="rect">
            <a:avLst/>
          </a:prstGeom>
          <a:noFill/>
        </p:spPr>
        <p:txBody>
          <a:bodyPr wrap="square" lIns="0" tIns="0" rIns="0" bIns="0">
            <a:spAutoFit/>
          </a:bodyPr>
          <a:lstStyle/>
          <a:p>
            <a:pPr algn="l"/>
            <a:r>
              <a:rPr sz="1050" b="1">
                <a:solidFill>
                  <a:srgbClr val="3D6B4A"/>
                </a:solidFill>
                <a:latin typeface="Meiryo"/>
                <a:ea typeface="Meiryo"/>
                <a:cs typeface="Meiryo"/>
              </a:rPr>
              <a:t>81 m</a:t>
            </a:r>
          </a:p>
        </p:txBody>
      </p:sp>
      <p:cxnSp>
        <p:nvCxnSpPr>
          <p:cNvPr id="17" name="Connector 16"/>
          <p:cNvCxnSpPr/>
          <p:nvPr/>
        </p:nvCxnSpPr>
        <p:spPr>
          <a:xfrm>
            <a:off x="2167128" y="3108960"/>
            <a:ext cx="685800"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007608" y="3108960"/>
            <a:ext cx="868680"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852928" y="3401568"/>
            <a:ext cx="2148840" cy="438912"/>
          </a:xfrm>
          <a:prstGeom prst="roundRect">
            <a:avLst>
              <a:gd name="adj" fmla="val 10000"/>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FFFFFF"/>
                </a:solidFill>
                <a:latin typeface="Meiryo"/>
                <a:ea typeface="Meiryo"/>
                <a:cs typeface="Meiryo"/>
              </a:rPr>
              <a:t>3×3 d=8</a:t>
            </a:r>
          </a:p>
        </p:txBody>
      </p:sp>
      <p:sp>
        <p:nvSpPr>
          <p:cNvPr id="20" name="TextBox 19"/>
          <p:cNvSpPr txBox="1"/>
          <p:nvPr/>
        </p:nvSpPr>
        <p:spPr>
          <a:xfrm>
            <a:off x="5111496" y="3502152"/>
            <a:ext cx="868680" cy="237744"/>
          </a:xfrm>
          <a:prstGeom prst="rect">
            <a:avLst/>
          </a:prstGeom>
          <a:noFill/>
        </p:spPr>
        <p:txBody>
          <a:bodyPr wrap="square" lIns="0" tIns="0" rIns="0" bIns="0">
            <a:spAutoFit/>
          </a:bodyPr>
          <a:lstStyle/>
          <a:p>
            <a:pPr algn="l"/>
            <a:r>
              <a:rPr sz="1050" b="0">
                <a:solidFill>
                  <a:srgbClr val="23313C"/>
                </a:solidFill>
                <a:latin typeface="Meiryo"/>
                <a:ea typeface="Meiryo"/>
                <a:cs typeface="Meiryo"/>
              </a:rPr>
              <a:t>152 m</a:t>
            </a:r>
          </a:p>
        </p:txBody>
      </p:sp>
      <p:cxnSp>
        <p:nvCxnSpPr>
          <p:cNvPr id="21" name="Connector 20"/>
          <p:cNvCxnSpPr/>
          <p:nvPr/>
        </p:nvCxnSpPr>
        <p:spPr>
          <a:xfrm>
            <a:off x="2167128" y="3108960"/>
            <a:ext cx="685800" cy="512064"/>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6007608" y="3108960"/>
            <a:ext cx="868680" cy="512064"/>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852928" y="3913632"/>
            <a:ext cx="2148840" cy="438912"/>
          </a:xfrm>
          <a:prstGeom prst="roundRect">
            <a:avLst>
              <a:gd name="adj" fmla="val 10000"/>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FFFFFF"/>
                </a:solidFill>
                <a:latin typeface="Meiryo"/>
                <a:ea typeface="Meiryo"/>
                <a:cs typeface="Meiryo"/>
              </a:rPr>
              <a:t>大域プーリング</a:t>
            </a:r>
          </a:p>
        </p:txBody>
      </p:sp>
      <p:sp>
        <p:nvSpPr>
          <p:cNvPr id="24" name="TextBox 23"/>
          <p:cNvSpPr txBox="1"/>
          <p:nvPr/>
        </p:nvSpPr>
        <p:spPr>
          <a:xfrm>
            <a:off x="5111496" y="4014216"/>
            <a:ext cx="868680" cy="237744"/>
          </a:xfrm>
          <a:prstGeom prst="rect">
            <a:avLst/>
          </a:prstGeom>
          <a:noFill/>
        </p:spPr>
        <p:txBody>
          <a:bodyPr wrap="square" lIns="0" tIns="0" rIns="0" bIns="0">
            <a:spAutoFit/>
          </a:bodyPr>
          <a:lstStyle/>
          <a:p>
            <a:pPr algn="l"/>
            <a:r>
              <a:rPr sz="1050" b="0">
                <a:solidFill>
                  <a:srgbClr val="23313C"/>
                </a:solidFill>
                <a:latin typeface="Meiryo"/>
                <a:ea typeface="Meiryo"/>
                <a:cs typeface="Meiryo"/>
              </a:rPr>
              <a:t>573 m</a:t>
            </a:r>
          </a:p>
        </p:txBody>
      </p:sp>
      <p:cxnSp>
        <p:nvCxnSpPr>
          <p:cNvPr id="25" name="Connector 24"/>
          <p:cNvCxnSpPr/>
          <p:nvPr/>
        </p:nvCxnSpPr>
        <p:spPr>
          <a:xfrm>
            <a:off x="2167128" y="3108960"/>
            <a:ext cx="685800" cy="1024128"/>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6007608" y="3108960"/>
            <a:ext cx="868680" cy="1024128"/>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047488" y="1591056"/>
            <a:ext cx="1005840" cy="237744"/>
          </a:xfrm>
          <a:prstGeom prst="rect">
            <a:avLst/>
          </a:prstGeom>
          <a:noFill/>
        </p:spPr>
        <p:txBody>
          <a:bodyPr wrap="square" lIns="0" tIns="0" rIns="0" bIns="0">
            <a:spAutoFit/>
          </a:bodyPr>
          <a:lstStyle/>
          <a:p>
            <a:pPr algn="ctr"/>
            <a:r>
              <a:rPr sz="950" b="0">
                <a:solidFill>
                  <a:srgbClr val="4A5A68"/>
                </a:solidFill>
                <a:latin typeface="Meiryo"/>
                <a:ea typeface="Meiryo"/>
                <a:cs typeface="Meiryo"/>
              </a:rPr>
              <a:t>見える範囲</a:t>
            </a:r>
          </a:p>
        </p:txBody>
      </p:sp>
      <p:sp>
        <p:nvSpPr>
          <p:cNvPr id="28" name="Rounded Rectangle 27"/>
          <p:cNvSpPr/>
          <p:nvPr/>
        </p:nvSpPr>
        <p:spPr>
          <a:xfrm>
            <a:off x="6876288" y="2825496"/>
            <a:ext cx="1463040" cy="566928"/>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50" b="0">
                <a:solidFill>
                  <a:srgbClr val="23313C"/>
                </a:solidFill>
                <a:latin typeface="Meiryo"/>
                <a:ea typeface="Meiryo"/>
                <a:cs typeface="Meiryo"/>
              </a:rPr>
              <a:t>連結</a:t>
            </a:r>
          </a:p>
        </p:txBody>
      </p:sp>
      <p:cxnSp>
        <p:nvCxnSpPr>
          <p:cNvPr id="29" name="Connector 28"/>
          <p:cNvCxnSpPr/>
          <p:nvPr/>
        </p:nvCxnSpPr>
        <p:spPr>
          <a:xfrm>
            <a:off x="8339327" y="3108960"/>
            <a:ext cx="548640"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887967" y="2825496"/>
            <a:ext cx="1463040" cy="566928"/>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950" b="0">
                <a:solidFill>
                  <a:srgbClr val="23313C"/>
                </a:solidFill>
                <a:latin typeface="Meiryo"/>
                <a:ea typeface="Meiryo"/>
                <a:cs typeface="Meiryo"/>
              </a:rPr>
              <a:t>1×1 で</a:t>
            </a:r>
          </a:p>
          <a:p>
            <a:pPr algn="ctr">
              <a:lnSpc>
                <a:spcPct val="125000"/>
              </a:lnSpc>
            </a:pPr>
            <a:r>
              <a:rPr sz="950" b="0">
                <a:solidFill>
                  <a:srgbClr val="23313C"/>
                </a:solidFill>
                <a:latin typeface="Meiryo"/>
                <a:ea typeface="Meiryo"/>
                <a:cs typeface="Meiryo"/>
              </a:rPr>
              <a:t>256ch に戻す</a:t>
            </a:r>
          </a:p>
        </p:txBody>
      </p:sp>
      <p:cxnSp>
        <p:nvCxnSpPr>
          <p:cNvPr id="31" name="Connector 30"/>
          <p:cNvCxnSpPr/>
          <p:nvPr/>
        </p:nvCxnSpPr>
        <p:spPr>
          <a:xfrm>
            <a:off x="10351007" y="3108960"/>
            <a:ext cx="548641"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899648" y="2825496"/>
            <a:ext cx="722376" cy="566928"/>
          </a:xfrm>
          <a:prstGeom prst="roundRect">
            <a:avLst>
              <a:gd name="adj" fmla="val 10000"/>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600" b="1">
                <a:solidFill>
                  <a:srgbClr val="FFFFFF"/>
                </a:solidFill>
                <a:latin typeface="Meiryo"/>
                <a:ea typeface="Meiryo"/>
                <a:cs typeface="Meiryo"/>
              </a:rPr>
              <a:t>＋</a:t>
            </a:r>
          </a:p>
        </p:txBody>
      </p:sp>
      <p:sp>
        <p:nvSpPr>
          <p:cNvPr id="33" name="TextBox 32"/>
          <p:cNvSpPr txBox="1"/>
          <p:nvPr/>
        </p:nvSpPr>
        <p:spPr>
          <a:xfrm>
            <a:off x="10076688" y="3438144"/>
            <a:ext cx="2194560" cy="237744"/>
          </a:xfrm>
          <a:prstGeom prst="rect">
            <a:avLst/>
          </a:prstGeom>
          <a:noFill/>
        </p:spPr>
        <p:txBody>
          <a:bodyPr wrap="square" lIns="0" tIns="0" rIns="0" bIns="0">
            <a:spAutoFit/>
          </a:bodyPr>
          <a:lstStyle/>
          <a:p>
            <a:pPr algn="ctr"/>
            <a:r>
              <a:rPr sz="950" b="0">
                <a:solidFill>
                  <a:srgbClr val="4A5A68"/>
                </a:solidFill>
                <a:latin typeface="Meiryo"/>
                <a:ea typeface="Meiryo"/>
                <a:cs typeface="Meiryo"/>
              </a:rPr>
              <a:t>残差で skip2 に足す</a:t>
            </a:r>
          </a:p>
        </p:txBody>
      </p:sp>
      <p:sp>
        <p:nvSpPr>
          <p:cNvPr id="34" name="Rounded Rectangle 33"/>
          <p:cNvSpPr/>
          <p:nvPr/>
        </p:nvSpPr>
        <p:spPr>
          <a:xfrm>
            <a:off x="566928" y="4645152"/>
            <a:ext cx="5532120" cy="1078992"/>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41247" y="4809744"/>
            <a:ext cx="4983480" cy="274320"/>
          </a:xfrm>
          <a:prstGeom prst="rect">
            <a:avLst/>
          </a:prstGeom>
          <a:noFill/>
        </p:spPr>
        <p:txBody>
          <a:bodyPr wrap="square" lIns="0" tIns="0" rIns="0" bIns="0">
            <a:spAutoFit/>
          </a:bodyPr>
          <a:lstStyle/>
          <a:p>
            <a:pPr algn="l"/>
            <a:r>
              <a:rPr sz="1250" b="1">
                <a:solidFill>
                  <a:srgbClr val="23313C"/>
                </a:solidFill>
                <a:latin typeface="Meiryo"/>
                <a:ea typeface="Meiryo"/>
                <a:cs typeface="Meiryo"/>
              </a:rPr>
              <a:t>なぜ dilation なのか</a:t>
            </a:r>
          </a:p>
        </p:txBody>
      </p:sp>
      <p:sp>
        <p:nvSpPr>
          <p:cNvPr id="36" name="TextBox 35"/>
          <p:cNvSpPr txBox="1"/>
          <p:nvPr/>
        </p:nvSpPr>
        <p:spPr>
          <a:xfrm>
            <a:off x="841247" y="5138928"/>
            <a:ext cx="4983480" cy="475488"/>
          </a:xfrm>
          <a:prstGeom prst="rect">
            <a:avLst/>
          </a:prstGeom>
          <a:noFill/>
        </p:spPr>
        <p:txBody>
          <a:bodyPr wrap="square" lIns="0" tIns="0" rIns="0" bIns="0">
            <a:spAutoFit/>
          </a:bodyPr>
          <a:lstStyle/>
          <a:p>
            <a:pPr algn="l">
              <a:lnSpc>
                <a:spcPct val="150000"/>
              </a:lnSpc>
            </a:pPr>
            <a:r>
              <a:rPr sz="1100" b="0">
                <a:solidFill>
                  <a:srgbClr val="4A5A68"/>
                </a:solidFill>
                <a:latin typeface="Meiryo"/>
                <a:ea typeface="Meiryo"/>
                <a:cs typeface="Meiryo"/>
              </a:rPr>
              <a:t>プーリングで広げると解像度が落ちる。dilation なら 64×64 のまま取れる。</a:t>
            </a:r>
          </a:p>
        </p:txBody>
      </p:sp>
      <p:sp>
        <p:nvSpPr>
          <p:cNvPr id="37" name="Rounded Rectangle 36"/>
          <p:cNvSpPr/>
          <p:nvPr/>
        </p:nvSpPr>
        <p:spPr>
          <a:xfrm>
            <a:off x="6327648" y="4645152"/>
            <a:ext cx="5297119" cy="1078992"/>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6601968" y="4809744"/>
            <a:ext cx="4748479" cy="274320"/>
          </a:xfrm>
          <a:prstGeom prst="rect">
            <a:avLst/>
          </a:prstGeom>
          <a:noFill/>
        </p:spPr>
        <p:txBody>
          <a:bodyPr wrap="square" lIns="0" tIns="0" rIns="0" bIns="0">
            <a:spAutoFit/>
          </a:bodyPr>
          <a:lstStyle/>
          <a:p>
            <a:pPr algn="l"/>
            <a:r>
              <a:rPr sz="1250" b="1">
                <a:solidFill>
                  <a:srgbClr val="3D6B4A"/>
                </a:solidFill>
                <a:latin typeface="Meiryo"/>
                <a:ea typeface="Meiryo"/>
                <a:cs typeface="Meiryo"/>
              </a:rPr>
              <a:t>81 m を強調している理由</a:t>
            </a:r>
          </a:p>
        </p:txBody>
      </p:sp>
      <p:sp>
        <p:nvSpPr>
          <p:cNvPr id="39" name="TextBox 38"/>
          <p:cNvSpPr txBox="1"/>
          <p:nvPr/>
        </p:nvSpPr>
        <p:spPr>
          <a:xfrm>
            <a:off x="6601968" y="5138928"/>
            <a:ext cx="4748479" cy="475488"/>
          </a:xfrm>
          <a:prstGeom prst="rect">
            <a:avLst/>
          </a:prstGeom>
          <a:noFill/>
        </p:spPr>
        <p:txBody>
          <a:bodyPr wrap="square" lIns="0" tIns="0" rIns="0" bIns="0">
            <a:spAutoFit/>
          </a:bodyPr>
          <a:lstStyle/>
          <a:p>
            <a:pPr algn="l">
              <a:lnSpc>
                <a:spcPct val="150000"/>
              </a:lnSpc>
            </a:pPr>
            <a:r>
              <a:rPr sz="1100" b="0">
                <a:solidFill>
                  <a:srgbClr val="4A5A68"/>
                </a:solidFill>
                <a:latin typeface="Meiryo"/>
                <a:ea typeface="Meiryo"/>
                <a:cs typeface="Meiryo"/>
              </a:rPr>
              <a:t>箇所の典型サイズ（中央値 328px）が約 81 m 四方。d=4 の枝がそこを見る。</a:t>
            </a:r>
          </a:p>
        </p:txBody>
      </p:sp>
      <p:sp>
        <p:nvSpPr>
          <p:cNvPr id="40" name="TextBox 39"/>
          <p:cNvSpPr txBox="1"/>
          <p:nvPr/>
        </p:nvSpPr>
        <p:spPr>
          <a:xfrm>
            <a:off x="566928" y="5943600"/>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TransUNet の大域文脈はボトルネック（8×8）にあり、解像度を失ったあとに足している。dilation は解像度を保ったまま取るので別物。</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第3章 ⑤</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結果 — ASPP は補助ヘッドだけを劇的に良くした</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20</a:t>
            </a:r>
          </a:p>
        </p:txBody>
      </p:sp>
      <p:sp>
        <p:nvSpPr>
          <p:cNvPr id="5" name="TextBox 4"/>
          <p:cNvSpPr txBox="1"/>
          <p:nvPr/>
        </p:nvSpPr>
        <p:spPr>
          <a:xfrm>
            <a:off x="566928" y="1316736"/>
            <a:ext cx="11057839" cy="713232"/>
          </a:xfrm>
          <a:prstGeom prst="rect">
            <a:avLst/>
          </a:prstGeom>
          <a:noFill/>
        </p:spPr>
        <p:txBody>
          <a:bodyPr wrap="square" lIns="0" tIns="0" rIns="0" bIns="0">
            <a:spAutoFit/>
          </a:bodyPr>
          <a:lstStyle/>
          <a:p>
            <a:pPr algn="l">
              <a:lnSpc>
                <a:spcPct val="150000"/>
              </a:lnSpc>
            </a:pPr>
            <a:r>
              <a:rPr sz="1300" b="0">
                <a:solidFill>
                  <a:srgbClr val="4A5A68"/>
                </a:solidFill>
                <a:latin typeface="Meiryo"/>
                <a:ea typeface="Meiryo"/>
                <a:cs typeface="Meiryo"/>
              </a:rPr>
              <a:t>補助ヘッドは Conv 3×3 だけで、64×64 での受容野は 26.9 m しかない。典型的な箇所は1辺 81 m なので届いていない。dilation 1/2/4/8 と大域プーリングを足した。</a:t>
            </a:r>
          </a:p>
        </p:txBody>
      </p:sp>
      <p:graphicFrame>
        <p:nvGraphicFramePr>
          <p:cNvPr id="6" name="Table 5"/>
          <p:cNvGraphicFramePr>
            <a:graphicFrameLocks noGrp="1"/>
          </p:cNvGraphicFramePr>
          <p:nvPr/>
        </p:nvGraphicFramePr>
        <p:xfrm>
          <a:off x="566928" y="2139696"/>
          <a:ext cx="5532120" cy="1078992"/>
        </p:xfrm>
        <a:graphic>
          <a:graphicData uri="http://schemas.openxmlformats.org/drawingml/2006/table">
            <a:tbl>
              <a:tblPr>
                <a:tableStyleId>{5C22544A-7EE6-4342-B048-85BDC9FD1C3A}</a:tableStyleId>
              </a:tblPr>
              <a:tblGrid>
                <a:gridCol w="17830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347472">
                <a:tc>
                  <a:txBody>
                    <a:bodyPr/>
                    <a:lstStyle/>
                    <a:p>
                      <a:pPr algn="l"/>
                      <a:endParaRP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受容野</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Recall</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Precision</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F値</a:t>
                      </a:r>
                    </a:p>
                  </a:txBody>
                  <a:tcPr marL="64008" marR="64008" marT="18288" marB="18288" anchor="ctr">
                    <a:solidFill>
                      <a:srgbClr val="23313C"/>
                    </a:solidFill>
                  </a:tcPr>
                </a:tc>
                <a:extLst>
                  <a:ext uri="{0D108BD9-81ED-4DB2-BD59-A6C34878D82A}">
                    <a16:rowId xmlns:a16="http://schemas.microsoft.com/office/drawing/2014/main" val="10000"/>
                  </a:ext>
                </a:extLst>
              </a:tr>
              <a:tr h="365760">
                <a:tc>
                  <a:txBody>
                    <a:bodyPr/>
                    <a:lstStyle/>
                    <a:p>
                      <a:pPr algn="l"/>
                      <a:r>
                        <a:rPr sz="1100" b="0">
                          <a:solidFill>
                            <a:srgbClr val="23313C"/>
                          </a:solidFill>
                          <a:latin typeface="Meiryo"/>
                          <a:ea typeface="Meiryo"/>
                          <a:cs typeface="Meiryo"/>
                        </a:rPr>
                        <a:t>深層監督のみ</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26.9 m</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0.6200</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0.5367</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0.5754</a:t>
                      </a:r>
                    </a:p>
                  </a:txBody>
                  <a:tcPr marL="64008" marR="64008" marT="18288" marB="18288" anchor="ctr">
                    <a:solidFill>
                      <a:srgbClr val="FFFFFF"/>
                    </a:solidFill>
                  </a:tcPr>
                </a:tc>
                <a:extLst>
                  <a:ext uri="{0D108BD9-81ED-4DB2-BD59-A6C34878D82A}">
                    <a16:rowId xmlns:a16="http://schemas.microsoft.com/office/drawing/2014/main" val="10001"/>
                  </a:ext>
                </a:extLst>
              </a:tr>
              <a:tr h="365760">
                <a:tc>
                  <a:txBody>
                    <a:bodyPr/>
                    <a:lstStyle/>
                    <a:p>
                      <a:pPr algn="l"/>
                      <a:r>
                        <a:rPr sz="1100" b="0">
                          <a:solidFill>
                            <a:srgbClr val="23313C"/>
                          </a:solidFill>
                          <a:latin typeface="Meiryo"/>
                          <a:ea typeface="Meiryo"/>
                          <a:cs typeface="Meiryo"/>
                        </a:rPr>
                        <a:t>+ ASPP</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573 m まで</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0.7139</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0.6759</a:t>
                      </a:r>
                    </a:p>
                  </a:txBody>
                  <a:tcPr marL="64008" marR="64008" marT="18288" marB="18288" anchor="ctr">
                    <a:solidFill>
                      <a:srgbClr val="F1F0E8"/>
                    </a:solidFill>
                  </a:tcPr>
                </a:tc>
                <a:tc>
                  <a:txBody>
                    <a:bodyPr/>
                    <a:lstStyle/>
                    <a:p>
                      <a:pPr algn="r"/>
                      <a:r>
                        <a:rPr sz="1100" b="1">
                          <a:solidFill>
                            <a:srgbClr val="3D6B4A"/>
                          </a:solidFill>
                          <a:latin typeface="Meiryo"/>
                          <a:ea typeface="Meiryo"/>
                          <a:cs typeface="Meiryo"/>
                        </a:rPr>
                        <a:t>0.6944</a:t>
                      </a:r>
                    </a:p>
                  </a:txBody>
                  <a:tcPr marL="64008" marR="64008" marT="18288" marB="18288" anchor="ctr">
                    <a:solidFill>
                      <a:srgbClr val="F1F0E8"/>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566928" y="3291840"/>
            <a:ext cx="5532120" cy="365760"/>
          </a:xfrm>
          <a:prstGeom prst="rect">
            <a:avLst/>
          </a:prstGeom>
          <a:noFill/>
        </p:spPr>
        <p:txBody>
          <a:bodyPr wrap="square" lIns="0" tIns="0" rIns="0" bIns="0">
            <a:spAutoFit/>
          </a:bodyPr>
          <a:lstStyle/>
          <a:p>
            <a:pPr algn="l"/>
            <a:r>
              <a:rPr sz="1100" b="0">
                <a:solidFill>
                  <a:srgbClr val="4A5A68"/>
                </a:solidFill>
                <a:latin typeface="Meiryo"/>
                <a:ea typeface="Meiryo"/>
                <a:cs typeface="Meiryo"/>
              </a:rPr>
              <a:t>補助ヘッド単体の性能（64×64 の存在マップ）</a:t>
            </a:r>
          </a:p>
        </p:txBody>
      </p:sp>
      <p:sp>
        <p:nvSpPr>
          <p:cNvPr id="8" name="Rounded Rectangle 7"/>
          <p:cNvSpPr/>
          <p:nvPr/>
        </p:nvSpPr>
        <p:spPr>
          <a:xfrm>
            <a:off x="6327648" y="2139696"/>
            <a:ext cx="5297119" cy="1481328"/>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601968" y="2322576"/>
            <a:ext cx="4748479" cy="310896"/>
          </a:xfrm>
          <a:prstGeom prst="rect">
            <a:avLst/>
          </a:prstGeom>
          <a:noFill/>
        </p:spPr>
        <p:txBody>
          <a:bodyPr wrap="square" lIns="0" tIns="0" rIns="0" bIns="0">
            <a:spAutoFit/>
          </a:bodyPr>
          <a:lstStyle/>
          <a:p>
            <a:pPr algn="l"/>
            <a:r>
              <a:rPr sz="1450" b="1">
                <a:solidFill>
                  <a:srgbClr val="B85042"/>
                </a:solidFill>
                <a:latin typeface="Meiryo"/>
                <a:ea typeface="Meiryo"/>
                <a:cs typeface="Meiryo"/>
              </a:rPr>
              <a:t>ところが本体の出力は変わらない</a:t>
            </a:r>
          </a:p>
        </p:txBody>
      </p:sp>
      <p:sp>
        <p:nvSpPr>
          <p:cNvPr id="10" name="TextBox 9"/>
          <p:cNvSpPr txBox="1"/>
          <p:nvPr/>
        </p:nvSpPr>
        <p:spPr>
          <a:xfrm>
            <a:off x="6601968" y="2724912"/>
            <a:ext cx="4748479" cy="777240"/>
          </a:xfrm>
          <a:prstGeom prst="rect">
            <a:avLst/>
          </a:prstGeom>
          <a:noFill/>
        </p:spPr>
        <p:txBody>
          <a:bodyPr wrap="square" lIns="0" tIns="0" rIns="0" bIns="0">
            <a:spAutoFit/>
          </a:bodyPr>
          <a:lstStyle/>
          <a:p>
            <a:pPr algn="l">
              <a:lnSpc>
                <a:spcPct val="160000"/>
              </a:lnSpc>
            </a:pPr>
            <a:r>
              <a:rPr sz="1300" b="1">
                <a:solidFill>
                  <a:srgbClr val="23313C"/>
                </a:solidFill>
                <a:latin typeface="Meiryo"/>
                <a:ea typeface="Meiryo"/>
                <a:cs typeface="Meiryo"/>
              </a:rPr>
              <a:t>補助ヘッド　F +0.119</a:t>
            </a:r>
          </a:p>
          <a:p>
            <a:pPr algn="l">
              <a:lnSpc>
                <a:spcPct val="160000"/>
              </a:lnSpc>
            </a:pPr>
            <a:r>
              <a:rPr sz="1300" b="1">
                <a:solidFill>
                  <a:srgbClr val="23313C"/>
                </a:solidFill>
                <a:latin typeface="Meiryo"/>
                <a:ea typeface="Meiryo"/>
                <a:cs typeface="Meiryo"/>
              </a:rPr>
              <a:t>本体の出力　面積F +0.009 のみ</a:t>
            </a:r>
          </a:p>
        </p:txBody>
      </p:sp>
      <p:sp>
        <p:nvSpPr>
          <p:cNvPr id="11" name="TextBox 10"/>
          <p:cNvSpPr txBox="1"/>
          <p:nvPr/>
        </p:nvSpPr>
        <p:spPr>
          <a:xfrm>
            <a:off x="566928" y="3877056"/>
            <a:ext cx="3657600" cy="548640"/>
          </a:xfrm>
          <a:prstGeom prst="rect">
            <a:avLst/>
          </a:prstGeom>
          <a:noFill/>
        </p:spPr>
        <p:txBody>
          <a:bodyPr wrap="square" lIns="0" tIns="0" rIns="0" bIns="0">
            <a:spAutoFit/>
          </a:bodyPr>
          <a:lstStyle/>
          <a:p>
            <a:pPr algn="l"/>
            <a:r>
              <a:rPr sz="3400" b="1">
                <a:solidFill>
                  <a:srgbClr val="3D6B4A"/>
                </a:solidFill>
                <a:latin typeface="Meiryo"/>
                <a:ea typeface="Meiryo"/>
                <a:cs typeface="Meiryo"/>
              </a:rPr>
              <a:t>+0.119</a:t>
            </a:r>
          </a:p>
        </p:txBody>
      </p:sp>
      <p:sp>
        <p:nvSpPr>
          <p:cNvPr id="12" name="TextBox 11"/>
          <p:cNvSpPr txBox="1"/>
          <p:nvPr/>
        </p:nvSpPr>
        <p:spPr>
          <a:xfrm>
            <a:off x="566928" y="4407408"/>
            <a:ext cx="3657600" cy="548640"/>
          </a:xfrm>
          <a:prstGeom prst="rect">
            <a:avLst/>
          </a:prstGeom>
          <a:noFill/>
        </p:spPr>
        <p:txBody>
          <a:bodyPr wrap="square" lIns="0" tIns="0" rIns="0" bIns="0">
            <a:spAutoFit/>
          </a:bodyPr>
          <a:lstStyle/>
          <a:p>
            <a:pPr algn="l">
              <a:lnSpc>
                <a:spcPct val="130000"/>
              </a:lnSpc>
            </a:pPr>
            <a:r>
              <a:rPr sz="1150" b="0">
                <a:solidFill>
                  <a:srgbClr val="4A5A68"/>
                </a:solidFill>
                <a:latin typeface="Meiryo"/>
                <a:ea typeface="Meiryo"/>
                <a:cs typeface="Meiryo"/>
              </a:rPr>
              <a:t>補助ヘッド単体の改善</a:t>
            </a:r>
          </a:p>
        </p:txBody>
      </p:sp>
      <p:sp>
        <p:nvSpPr>
          <p:cNvPr id="13" name="TextBox 12"/>
          <p:cNvSpPr txBox="1"/>
          <p:nvPr/>
        </p:nvSpPr>
        <p:spPr>
          <a:xfrm>
            <a:off x="4407408" y="3877056"/>
            <a:ext cx="3657600" cy="548640"/>
          </a:xfrm>
          <a:prstGeom prst="rect">
            <a:avLst/>
          </a:prstGeom>
          <a:noFill/>
        </p:spPr>
        <p:txBody>
          <a:bodyPr wrap="square" lIns="0" tIns="0" rIns="0" bIns="0">
            <a:spAutoFit/>
          </a:bodyPr>
          <a:lstStyle/>
          <a:p>
            <a:pPr algn="l"/>
            <a:r>
              <a:rPr sz="3400" b="1">
                <a:solidFill>
                  <a:srgbClr val="B85042"/>
                </a:solidFill>
                <a:latin typeface="Meiryo"/>
                <a:ea typeface="Meiryo"/>
                <a:cs typeface="Meiryo"/>
              </a:rPr>
              <a:t>+0.009</a:t>
            </a:r>
          </a:p>
        </p:txBody>
      </p:sp>
      <p:sp>
        <p:nvSpPr>
          <p:cNvPr id="14" name="TextBox 13"/>
          <p:cNvSpPr txBox="1"/>
          <p:nvPr/>
        </p:nvSpPr>
        <p:spPr>
          <a:xfrm>
            <a:off x="4407408" y="4407408"/>
            <a:ext cx="3657600" cy="548640"/>
          </a:xfrm>
          <a:prstGeom prst="rect">
            <a:avLst/>
          </a:prstGeom>
          <a:noFill/>
        </p:spPr>
        <p:txBody>
          <a:bodyPr wrap="square" lIns="0" tIns="0" rIns="0" bIns="0">
            <a:spAutoFit/>
          </a:bodyPr>
          <a:lstStyle/>
          <a:p>
            <a:pPr algn="l">
              <a:lnSpc>
                <a:spcPct val="130000"/>
              </a:lnSpc>
            </a:pPr>
            <a:r>
              <a:rPr sz="1150" b="0">
                <a:solidFill>
                  <a:srgbClr val="4A5A68"/>
                </a:solidFill>
                <a:latin typeface="Meiryo"/>
                <a:ea typeface="Meiryo"/>
                <a:cs typeface="Meiryo"/>
              </a:rPr>
              <a:t>本体出力の改善</a:t>
            </a:r>
          </a:p>
        </p:txBody>
      </p:sp>
      <p:sp>
        <p:nvSpPr>
          <p:cNvPr id="15" name="TextBox 14"/>
          <p:cNvSpPr txBox="1"/>
          <p:nvPr/>
        </p:nvSpPr>
        <p:spPr>
          <a:xfrm>
            <a:off x="8247888" y="3877056"/>
            <a:ext cx="3657600" cy="548640"/>
          </a:xfrm>
          <a:prstGeom prst="rect">
            <a:avLst/>
          </a:prstGeom>
          <a:noFill/>
        </p:spPr>
        <p:txBody>
          <a:bodyPr wrap="square" lIns="0" tIns="0" rIns="0" bIns="0">
            <a:spAutoFit/>
          </a:bodyPr>
          <a:lstStyle/>
          <a:p>
            <a:pPr algn="l"/>
            <a:r>
              <a:rPr sz="3400" b="1">
                <a:solidFill>
                  <a:srgbClr val="23313C"/>
                </a:solidFill>
                <a:latin typeface="Meiryo"/>
                <a:ea typeface="Meiryo"/>
                <a:cs typeface="Meiryo"/>
              </a:rPr>
              <a:t>13倍</a:t>
            </a:r>
          </a:p>
        </p:txBody>
      </p:sp>
      <p:sp>
        <p:nvSpPr>
          <p:cNvPr id="16" name="TextBox 15"/>
          <p:cNvSpPr txBox="1"/>
          <p:nvPr/>
        </p:nvSpPr>
        <p:spPr>
          <a:xfrm>
            <a:off x="8247888" y="4407408"/>
            <a:ext cx="3657600" cy="548640"/>
          </a:xfrm>
          <a:prstGeom prst="rect">
            <a:avLst/>
          </a:prstGeom>
          <a:noFill/>
        </p:spPr>
        <p:txBody>
          <a:bodyPr wrap="square" lIns="0" tIns="0" rIns="0" bIns="0">
            <a:spAutoFit/>
          </a:bodyPr>
          <a:lstStyle/>
          <a:p>
            <a:pPr algn="l">
              <a:lnSpc>
                <a:spcPct val="130000"/>
              </a:lnSpc>
            </a:pPr>
            <a:r>
              <a:rPr sz="1150" b="0">
                <a:solidFill>
                  <a:srgbClr val="4A5A68"/>
                </a:solidFill>
                <a:latin typeface="Meiryo"/>
                <a:ea typeface="Meiryo"/>
                <a:cs typeface="Meiryo"/>
              </a:rPr>
              <a:t>見合わない差</a:t>
            </a:r>
          </a:p>
        </p:txBody>
      </p:sp>
      <p:sp>
        <p:nvSpPr>
          <p:cNvPr id="17" name="Rounded Rectangle 16"/>
          <p:cNvSpPr/>
          <p:nvPr/>
        </p:nvSpPr>
        <p:spPr>
          <a:xfrm>
            <a:off x="566928" y="5084064"/>
            <a:ext cx="11057839" cy="841248"/>
          </a:xfrm>
          <a:prstGeom prst="roundRect">
            <a:avLst>
              <a:gd name="adj" fmla="val 6000"/>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77824" y="5084064"/>
            <a:ext cx="10436047" cy="841248"/>
          </a:xfrm>
          <a:prstGeom prst="rect">
            <a:avLst/>
          </a:prstGeom>
          <a:noFill/>
        </p:spPr>
        <p:txBody>
          <a:bodyPr wrap="square" lIns="0" tIns="0" rIns="0" bIns="0" anchor="ctr">
            <a:spAutoFit/>
          </a:bodyPr>
          <a:lstStyle/>
          <a:p>
            <a:pPr algn="l">
              <a:lnSpc>
                <a:spcPct val="140000"/>
              </a:lnSpc>
            </a:pPr>
            <a:r>
              <a:rPr sz="1400" b="1">
                <a:solidFill>
                  <a:srgbClr val="A7BEAE"/>
                </a:solidFill>
                <a:latin typeface="Meiryo"/>
                <a:ea typeface="Meiryo"/>
                <a:cs typeface="Meiryo"/>
              </a:rPr>
              <a:t>結論 </a:t>
            </a:r>
            <a:r>
              <a:rPr sz="1400" b="1">
                <a:solidFill>
                  <a:srgbClr val="FFFFFF"/>
                </a:solidFill>
                <a:latin typeface="Meiryo"/>
                <a:ea typeface="Meiryo"/>
                <a:cs typeface="Meiryo"/>
              </a:rPr>
              <a:t>スキップ接続の質を上げても、デコーダはそれを使わない。</a:t>
            </a:r>
            <a:r>
              <a:rPr sz="1400" b="0">
                <a:solidFill>
                  <a:srgbClr val="FFFFFF"/>
                </a:solidFill>
                <a:latin typeface="Meiryo"/>
                <a:ea typeface="Meiryo"/>
                <a:cs typeface="Meiryo"/>
              </a:rPr>
              <a:t>「文脈不足」という診断は正しかったが、文脈を足す場所が間違っていた。</a:t>
            </a:r>
          </a:p>
        </p:txBody>
      </p:sp>
      <p:sp>
        <p:nvSpPr>
          <p:cNvPr id="19" name="TextBox 18"/>
          <p:cNvSpPr txBox="1"/>
          <p:nvPr/>
        </p:nvSpPr>
        <p:spPr>
          <a:xfrm>
            <a:off x="566928" y="6080760"/>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逆方向からも確かめた。補助ヘッドの予測を本体出力に OR で統合すると、箇所Precision が 0.750 → 0.300 に崩壊した。信号はあるが鋭くない。</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第3章 ⑥</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仕組み — ボトルネックの解像度を上げる（出力ストライド）</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21</a:t>
            </a:r>
          </a:p>
        </p:txBody>
      </p:sp>
      <p:sp>
        <p:nvSpPr>
          <p:cNvPr id="5" name="TextBox 4"/>
          <p:cNvSpPr txBox="1"/>
          <p:nvPr/>
        </p:nvSpPr>
        <p:spPr>
          <a:xfrm>
            <a:off x="566928" y="1261872"/>
            <a:ext cx="11057839" cy="402336"/>
          </a:xfrm>
          <a:prstGeom prst="rect">
            <a:avLst/>
          </a:prstGeom>
          <a:noFill/>
        </p:spPr>
        <p:txBody>
          <a:bodyPr wrap="square" lIns="0" tIns="0" rIns="0" bIns="0">
            <a:spAutoFit/>
          </a:bodyPr>
          <a:lstStyle/>
          <a:p>
            <a:pPr algn="l">
              <a:lnSpc>
                <a:spcPct val="145000"/>
              </a:lnSpc>
            </a:pPr>
            <a:r>
              <a:rPr sz="1250" b="0">
                <a:solidFill>
                  <a:srgbClr val="4A5A68"/>
                </a:solidFill>
                <a:latin typeface="Meiryo"/>
                <a:ea typeface="Meiryo"/>
                <a:cs typeface="Meiryo"/>
              </a:rPr>
              <a:t>ボトルネックは 8×8 で、1画素が 71.7 m ある。300px 以下の箇所はここで1画素未満になる。プーリングを1段抜いて 16×16 で計算する。</a:t>
            </a:r>
          </a:p>
        </p:txBody>
      </p:sp>
      <p:sp>
        <p:nvSpPr>
          <p:cNvPr id="6" name="TextBox 5"/>
          <p:cNvSpPr txBox="1"/>
          <p:nvPr/>
        </p:nvSpPr>
        <p:spPr>
          <a:xfrm>
            <a:off x="566928" y="2084832"/>
            <a:ext cx="1417320" cy="274320"/>
          </a:xfrm>
          <a:prstGeom prst="rect">
            <a:avLst/>
          </a:prstGeom>
          <a:noFill/>
        </p:spPr>
        <p:txBody>
          <a:bodyPr wrap="square" lIns="0" tIns="0" rIns="0" bIns="0">
            <a:spAutoFit/>
          </a:bodyPr>
          <a:lstStyle/>
          <a:p>
            <a:pPr algn="l"/>
            <a:r>
              <a:rPr sz="1100" b="1">
                <a:solidFill>
                  <a:srgbClr val="23313C"/>
                </a:solidFill>
                <a:latin typeface="Meiryo"/>
                <a:ea typeface="Meiryo"/>
                <a:cs typeface="Meiryo"/>
              </a:rPr>
              <a:t>従来</a:t>
            </a:r>
          </a:p>
        </p:txBody>
      </p:sp>
      <p:sp>
        <p:nvSpPr>
          <p:cNvPr id="7" name="Rounded Rectangle 6"/>
          <p:cNvSpPr/>
          <p:nvPr/>
        </p:nvSpPr>
        <p:spPr>
          <a:xfrm>
            <a:off x="2121408" y="1956816"/>
            <a:ext cx="1554480" cy="512064"/>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950" b="0">
                <a:solidFill>
                  <a:srgbClr val="23313C"/>
                </a:solidFill>
                <a:latin typeface="Meiryo"/>
                <a:ea typeface="Meiryo"/>
                <a:cs typeface="Meiryo"/>
              </a:rPr>
              <a:t>128×128</a:t>
            </a:r>
          </a:p>
          <a:p>
            <a:pPr algn="ctr">
              <a:lnSpc>
                <a:spcPct val="125000"/>
              </a:lnSpc>
            </a:pPr>
            <a:r>
              <a:rPr sz="950" b="0">
                <a:solidFill>
                  <a:srgbClr val="23313C"/>
                </a:solidFill>
                <a:latin typeface="Meiryo"/>
                <a:ea typeface="Meiryo"/>
                <a:cs typeface="Meiryo"/>
              </a:rPr>
              <a:t>4.5 m</a:t>
            </a:r>
          </a:p>
        </p:txBody>
      </p:sp>
      <p:sp>
        <p:nvSpPr>
          <p:cNvPr id="8" name="Rounded Rectangle 7"/>
          <p:cNvSpPr/>
          <p:nvPr/>
        </p:nvSpPr>
        <p:spPr>
          <a:xfrm>
            <a:off x="4041648" y="1956816"/>
            <a:ext cx="1554480" cy="512064"/>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950" b="0">
                <a:solidFill>
                  <a:srgbClr val="23313C"/>
                </a:solidFill>
                <a:latin typeface="Meiryo"/>
                <a:ea typeface="Meiryo"/>
                <a:cs typeface="Meiryo"/>
              </a:rPr>
              <a:t>64×64</a:t>
            </a:r>
          </a:p>
          <a:p>
            <a:pPr algn="ctr">
              <a:lnSpc>
                <a:spcPct val="125000"/>
              </a:lnSpc>
            </a:pPr>
            <a:r>
              <a:rPr sz="950" b="0">
                <a:solidFill>
                  <a:srgbClr val="23313C"/>
                </a:solidFill>
                <a:latin typeface="Meiryo"/>
                <a:ea typeface="Meiryo"/>
                <a:cs typeface="Meiryo"/>
              </a:rPr>
              <a:t>9.0 m</a:t>
            </a:r>
          </a:p>
        </p:txBody>
      </p:sp>
      <p:cxnSp>
        <p:nvCxnSpPr>
          <p:cNvPr id="9" name="Connector 8"/>
          <p:cNvCxnSpPr/>
          <p:nvPr/>
        </p:nvCxnSpPr>
        <p:spPr>
          <a:xfrm>
            <a:off x="3675887" y="2212848"/>
            <a:ext cx="365761"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657600" y="1719072"/>
            <a:ext cx="402336" cy="237744"/>
          </a:xfrm>
          <a:prstGeom prst="rect">
            <a:avLst/>
          </a:prstGeom>
          <a:noFill/>
        </p:spPr>
        <p:txBody>
          <a:bodyPr wrap="square" lIns="0" tIns="0" rIns="0" bIns="0">
            <a:spAutoFit/>
          </a:bodyPr>
          <a:lstStyle/>
          <a:p>
            <a:pPr algn="ctr"/>
            <a:r>
              <a:rPr sz="900" b="0">
                <a:solidFill>
                  <a:srgbClr val="4A5A68"/>
                </a:solidFill>
                <a:latin typeface="Meiryo"/>
                <a:ea typeface="Meiryo"/>
                <a:cs typeface="Meiryo"/>
              </a:rPr>
              <a:t>↓</a:t>
            </a:r>
          </a:p>
        </p:txBody>
      </p:sp>
      <p:sp>
        <p:nvSpPr>
          <p:cNvPr id="11" name="Rounded Rectangle 10"/>
          <p:cNvSpPr/>
          <p:nvPr/>
        </p:nvSpPr>
        <p:spPr>
          <a:xfrm>
            <a:off x="5961888" y="1956816"/>
            <a:ext cx="1554480" cy="512064"/>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950" b="0">
                <a:solidFill>
                  <a:srgbClr val="23313C"/>
                </a:solidFill>
                <a:latin typeface="Meiryo"/>
                <a:ea typeface="Meiryo"/>
                <a:cs typeface="Meiryo"/>
              </a:rPr>
              <a:t>32×32</a:t>
            </a:r>
          </a:p>
          <a:p>
            <a:pPr algn="ctr">
              <a:lnSpc>
                <a:spcPct val="125000"/>
              </a:lnSpc>
            </a:pPr>
            <a:r>
              <a:rPr sz="950" b="0">
                <a:solidFill>
                  <a:srgbClr val="23313C"/>
                </a:solidFill>
                <a:latin typeface="Meiryo"/>
                <a:ea typeface="Meiryo"/>
                <a:cs typeface="Meiryo"/>
              </a:rPr>
              <a:t>17.9 m</a:t>
            </a:r>
          </a:p>
        </p:txBody>
      </p:sp>
      <p:cxnSp>
        <p:nvCxnSpPr>
          <p:cNvPr id="12" name="Connector 11"/>
          <p:cNvCxnSpPr/>
          <p:nvPr/>
        </p:nvCxnSpPr>
        <p:spPr>
          <a:xfrm>
            <a:off x="5596127" y="2212848"/>
            <a:ext cx="365761"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577840" y="1719072"/>
            <a:ext cx="402336" cy="237744"/>
          </a:xfrm>
          <a:prstGeom prst="rect">
            <a:avLst/>
          </a:prstGeom>
          <a:noFill/>
        </p:spPr>
        <p:txBody>
          <a:bodyPr wrap="square" lIns="0" tIns="0" rIns="0" bIns="0">
            <a:spAutoFit/>
          </a:bodyPr>
          <a:lstStyle/>
          <a:p>
            <a:pPr algn="ctr"/>
            <a:r>
              <a:rPr sz="900" b="0">
                <a:solidFill>
                  <a:srgbClr val="4A5A68"/>
                </a:solidFill>
                <a:latin typeface="Meiryo"/>
                <a:ea typeface="Meiryo"/>
                <a:cs typeface="Meiryo"/>
              </a:rPr>
              <a:t>↓</a:t>
            </a:r>
          </a:p>
        </p:txBody>
      </p:sp>
      <p:sp>
        <p:nvSpPr>
          <p:cNvPr id="14" name="Rounded Rectangle 13"/>
          <p:cNvSpPr/>
          <p:nvPr/>
        </p:nvSpPr>
        <p:spPr>
          <a:xfrm>
            <a:off x="7882128" y="1956816"/>
            <a:ext cx="1554480" cy="512064"/>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950" b="0">
                <a:solidFill>
                  <a:srgbClr val="23313C"/>
                </a:solidFill>
                <a:latin typeface="Meiryo"/>
                <a:ea typeface="Meiryo"/>
                <a:cs typeface="Meiryo"/>
              </a:rPr>
              <a:t>16×16</a:t>
            </a:r>
          </a:p>
          <a:p>
            <a:pPr algn="ctr">
              <a:lnSpc>
                <a:spcPct val="125000"/>
              </a:lnSpc>
            </a:pPr>
            <a:r>
              <a:rPr sz="950" b="0">
                <a:solidFill>
                  <a:srgbClr val="23313C"/>
                </a:solidFill>
                <a:latin typeface="Meiryo"/>
                <a:ea typeface="Meiryo"/>
                <a:cs typeface="Meiryo"/>
              </a:rPr>
              <a:t>35.8 m</a:t>
            </a:r>
          </a:p>
        </p:txBody>
      </p:sp>
      <p:cxnSp>
        <p:nvCxnSpPr>
          <p:cNvPr id="15" name="Connector 14"/>
          <p:cNvCxnSpPr/>
          <p:nvPr/>
        </p:nvCxnSpPr>
        <p:spPr>
          <a:xfrm>
            <a:off x="7516368" y="2212848"/>
            <a:ext cx="365760"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498080" y="1719072"/>
            <a:ext cx="402336" cy="237744"/>
          </a:xfrm>
          <a:prstGeom prst="rect">
            <a:avLst/>
          </a:prstGeom>
          <a:noFill/>
        </p:spPr>
        <p:txBody>
          <a:bodyPr wrap="square" lIns="0" tIns="0" rIns="0" bIns="0">
            <a:spAutoFit/>
          </a:bodyPr>
          <a:lstStyle/>
          <a:p>
            <a:pPr algn="ctr"/>
            <a:r>
              <a:rPr sz="900" b="0">
                <a:solidFill>
                  <a:srgbClr val="4A5A68"/>
                </a:solidFill>
                <a:latin typeface="Meiryo"/>
                <a:ea typeface="Meiryo"/>
                <a:cs typeface="Meiryo"/>
              </a:rPr>
              <a:t>↓</a:t>
            </a:r>
          </a:p>
        </p:txBody>
      </p:sp>
      <p:sp>
        <p:nvSpPr>
          <p:cNvPr id="17" name="Rounded Rectangle 16"/>
          <p:cNvSpPr/>
          <p:nvPr/>
        </p:nvSpPr>
        <p:spPr>
          <a:xfrm>
            <a:off x="9802368" y="1956816"/>
            <a:ext cx="1554480" cy="512064"/>
          </a:xfrm>
          <a:prstGeom prst="roundRect">
            <a:avLst>
              <a:gd name="adj" fmla="val 10000"/>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950" b="0">
                <a:solidFill>
                  <a:srgbClr val="FFFFFF"/>
                </a:solidFill>
                <a:latin typeface="Meiryo"/>
                <a:ea typeface="Meiryo"/>
                <a:cs typeface="Meiryo"/>
              </a:rPr>
              <a:t>8×8</a:t>
            </a:r>
          </a:p>
          <a:p>
            <a:pPr algn="ctr">
              <a:lnSpc>
                <a:spcPct val="125000"/>
              </a:lnSpc>
            </a:pPr>
            <a:r>
              <a:rPr sz="950" b="0">
                <a:solidFill>
                  <a:srgbClr val="FFFFFF"/>
                </a:solidFill>
                <a:latin typeface="Meiryo"/>
                <a:ea typeface="Meiryo"/>
                <a:cs typeface="Meiryo"/>
              </a:rPr>
              <a:t>71.7 m</a:t>
            </a:r>
          </a:p>
        </p:txBody>
      </p:sp>
      <p:cxnSp>
        <p:nvCxnSpPr>
          <p:cNvPr id="18" name="Connector 17"/>
          <p:cNvCxnSpPr/>
          <p:nvPr/>
        </p:nvCxnSpPr>
        <p:spPr>
          <a:xfrm>
            <a:off x="9436608" y="2212848"/>
            <a:ext cx="365760"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418320" y="1719072"/>
            <a:ext cx="402336" cy="237744"/>
          </a:xfrm>
          <a:prstGeom prst="rect">
            <a:avLst/>
          </a:prstGeom>
          <a:noFill/>
        </p:spPr>
        <p:txBody>
          <a:bodyPr wrap="square" lIns="0" tIns="0" rIns="0" bIns="0">
            <a:spAutoFit/>
          </a:bodyPr>
          <a:lstStyle/>
          <a:p>
            <a:pPr algn="ctr"/>
            <a:r>
              <a:rPr sz="900" b="0">
                <a:solidFill>
                  <a:srgbClr val="4A5A68"/>
                </a:solidFill>
                <a:latin typeface="Meiryo"/>
                <a:ea typeface="Meiryo"/>
                <a:cs typeface="Meiryo"/>
              </a:rPr>
              <a:t>↓</a:t>
            </a:r>
          </a:p>
        </p:txBody>
      </p:sp>
      <p:sp>
        <p:nvSpPr>
          <p:cNvPr id="20" name="TextBox 19"/>
          <p:cNvSpPr txBox="1"/>
          <p:nvPr/>
        </p:nvSpPr>
        <p:spPr>
          <a:xfrm>
            <a:off x="2121408" y="2596896"/>
            <a:ext cx="8046720" cy="237744"/>
          </a:xfrm>
          <a:prstGeom prst="rect">
            <a:avLst/>
          </a:prstGeom>
          <a:noFill/>
        </p:spPr>
        <p:txBody>
          <a:bodyPr wrap="square" lIns="0" tIns="0" rIns="0" bIns="0">
            <a:spAutoFit/>
          </a:bodyPr>
          <a:lstStyle/>
          <a:p>
            <a:pPr algn="l"/>
            <a:r>
              <a:rPr sz="950" b="0">
                <a:solidFill>
                  <a:srgbClr val="4A5A68"/>
                </a:solidFill>
                <a:latin typeface="Meiryo"/>
                <a:ea typeface="Meiryo"/>
                <a:cs typeface="Meiryo"/>
              </a:rPr>
              <a:t>プーリング4回（↓ が1回ぶん）</a:t>
            </a:r>
          </a:p>
        </p:txBody>
      </p:sp>
      <p:sp>
        <p:nvSpPr>
          <p:cNvPr id="21" name="TextBox 20"/>
          <p:cNvSpPr txBox="1"/>
          <p:nvPr/>
        </p:nvSpPr>
        <p:spPr>
          <a:xfrm>
            <a:off x="566928" y="3255264"/>
            <a:ext cx="1417320" cy="274320"/>
          </a:xfrm>
          <a:prstGeom prst="rect">
            <a:avLst/>
          </a:prstGeom>
          <a:noFill/>
        </p:spPr>
        <p:txBody>
          <a:bodyPr wrap="square" lIns="0" tIns="0" rIns="0" bIns="0">
            <a:spAutoFit/>
          </a:bodyPr>
          <a:lstStyle/>
          <a:p>
            <a:pPr algn="l"/>
            <a:r>
              <a:rPr sz="1100" b="1">
                <a:solidFill>
                  <a:srgbClr val="23313C"/>
                </a:solidFill>
                <a:latin typeface="Meiryo"/>
                <a:ea typeface="Meiryo"/>
                <a:cs typeface="Meiryo"/>
              </a:rPr>
              <a:t>ストライド8</a:t>
            </a:r>
          </a:p>
        </p:txBody>
      </p:sp>
      <p:sp>
        <p:nvSpPr>
          <p:cNvPr id="22" name="Rounded Rectangle 21"/>
          <p:cNvSpPr/>
          <p:nvPr/>
        </p:nvSpPr>
        <p:spPr>
          <a:xfrm>
            <a:off x="2121408" y="3127248"/>
            <a:ext cx="1554480" cy="512064"/>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950" b="0">
                <a:solidFill>
                  <a:srgbClr val="23313C"/>
                </a:solidFill>
                <a:latin typeface="Meiryo"/>
                <a:ea typeface="Meiryo"/>
                <a:cs typeface="Meiryo"/>
              </a:rPr>
              <a:t>128×128</a:t>
            </a:r>
          </a:p>
          <a:p>
            <a:pPr algn="ctr">
              <a:lnSpc>
                <a:spcPct val="125000"/>
              </a:lnSpc>
            </a:pPr>
            <a:r>
              <a:rPr sz="950" b="0">
                <a:solidFill>
                  <a:srgbClr val="23313C"/>
                </a:solidFill>
                <a:latin typeface="Meiryo"/>
                <a:ea typeface="Meiryo"/>
                <a:cs typeface="Meiryo"/>
              </a:rPr>
              <a:t>4.5 m</a:t>
            </a:r>
          </a:p>
        </p:txBody>
      </p:sp>
      <p:sp>
        <p:nvSpPr>
          <p:cNvPr id="23" name="Rounded Rectangle 22"/>
          <p:cNvSpPr/>
          <p:nvPr/>
        </p:nvSpPr>
        <p:spPr>
          <a:xfrm>
            <a:off x="4041648" y="3127248"/>
            <a:ext cx="1554480" cy="512064"/>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950" b="0">
                <a:solidFill>
                  <a:srgbClr val="23313C"/>
                </a:solidFill>
                <a:latin typeface="Meiryo"/>
                <a:ea typeface="Meiryo"/>
                <a:cs typeface="Meiryo"/>
              </a:rPr>
              <a:t>64×64</a:t>
            </a:r>
          </a:p>
          <a:p>
            <a:pPr algn="ctr">
              <a:lnSpc>
                <a:spcPct val="125000"/>
              </a:lnSpc>
            </a:pPr>
            <a:r>
              <a:rPr sz="950" b="0">
                <a:solidFill>
                  <a:srgbClr val="23313C"/>
                </a:solidFill>
                <a:latin typeface="Meiryo"/>
                <a:ea typeface="Meiryo"/>
                <a:cs typeface="Meiryo"/>
              </a:rPr>
              <a:t>9.0 m</a:t>
            </a:r>
          </a:p>
        </p:txBody>
      </p:sp>
      <p:cxnSp>
        <p:nvCxnSpPr>
          <p:cNvPr id="24" name="Connector 23"/>
          <p:cNvCxnSpPr/>
          <p:nvPr/>
        </p:nvCxnSpPr>
        <p:spPr>
          <a:xfrm>
            <a:off x="3675887" y="3383280"/>
            <a:ext cx="365761"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57600" y="2889504"/>
            <a:ext cx="402336" cy="237744"/>
          </a:xfrm>
          <a:prstGeom prst="rect">
            <a:avLst/>
          </a:prstGeom>
          <a:noFill/>
        </p:spPr>
        <p:txBody>
          <a:bodyPr wrap="square" lIns="0" tIns="0" rIns="0" bIns="0">
            <a:spAutoFit/>
          </a:bodyPr>
          <a:lstStyle/>
          <a:p>
            <a:pPr algn="ctr"/>
            <a:r>
              <a:rPr sz="900" b="0">
                <a:solidFill>
                  <a:srgbClr val="4A5A68"/>
                </a:solidFill>
                <a:latin typeface="Meiryo"/>
                <a:ea typeface="Meiryo"/>
                <a:cs typeface="Meiryo"/>
              </a:rPr>
              <a:t>↓</a:t>
            </a:r>
          </a:p>
        </p:txBody>
      </p:sp>
      <p:sp>
        <p:nvSpPr>
          <p:cNvPr id="26" name="Rounded Rectangle 25"/>
          <p:cNvSpPr/>
          <p:nvPr/>
        </p:nvSpPr>
        <p:spPr>
          <a:xfrm>
            <a:off x="5961888" y="3127248"/>
            <a:ext cx="1554480" cy="512064"/>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950" b="0">
                <a:solidFill>
                  <a:srgbClr val="23313C"/>
                </a:solidFill>
                <a:latin typeface="Meiryo"/>
                <a:ea typeface="Meiryo"/>
                <a:cs typeface="Meiryo"/>
              </a:rPr>
              <a:t>32×32</a:t>
            </a:r>
          </a:p>
          <a:p>
            <a:pPr algn="ctr">
              <a:lnSpc>
                <a:spcPct val="125000"/>
              </a:lnSpc>
            </a:pPr>
            <a:r>
              <a:rPr sz="950" b="0">
                <a:solidFill>
                  <a:srgbClr val="23313C"/>
                </a:solidFill>
                <a:latin typeface="Meiryo"/>
                <a:ea typeface="Meiryo"/>
                <a:cs typeface="Meiryo"/>
              </a:rPr>
              <a:t>17.9 m</a:t>
            </a:r>
          </a:p>
        </p:txBody>
      </p:sp>
      <p:cxnSp>
        <p:nvCxnSpPr>
          <p:cNvPr id="27" name="Connector 26"/>
          <p:cNvCxnSpPr/>
          <p:nvPr/>
        </p:nvCxnSpPr>
        <p:spPr>
          <a:xfrm>
            <a:off x="5596127" y="3383280"/>
            <a:ext cx="365761"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577840" y="2889504"/>
            <a:ext cx="402336" cy="237744"/>
          </a:xfrm>
          <a:prstGeom prst="rect">
            <a:avLst/>
          </a:prstGeom>
          <a:noFill/>
        </p:spPr>
        <p:txBody>
          <a:bodyPr wrap="square" lIns="0" tIns="0" rIns="0" bIns="0">
            <a:spAutoFit/>
          </a:bodyPr>
          <a:lstStyle/>
          <a:p>
            <a:pPr algn="ctr"/>
            <a:r>
              <a:rPr sz="900" b="0">
                <a:solidFill>
                  <a:srgbClr val="4A5A68"/>
                </a:solidFill>
                <a:latin typeface="Meiryo"/>
                <a:ea typeface="Meiryo"/>
                <a:cs typeface="Meiryo"/>
              </a:rPr>
              <a:t>↓</a:t>
            </a:r>
          </a:p>
        </p:txBody>
      </p:sp>
      <p:sp>
        <p:nvSpPr>
          <p:cNvPr id="29" name="Rounded Rectangle 28"/>
          <p:cNvSpPr/>
          <p:nvPr/>
        </p:nvSpPr>
        <p:spPr>
          <a:xfrm>
            <a:off x="7882128" y="3127248"/>
            <a:ext cx="1554480" cy="512064"/>
          </a:xfrm>
          <a:prstGeom prst="roundRect">
            <a:avLst>
              <a:gd name="adj" fmla="val 10000"/>
            </a:avLst>
          </a:prstGeom>
          <a:solidFill>
            <a:srgbClr val="3D6B4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950" b="0">
                <a:solidFill>
                  <a:srgbClr val="FFFFFF"/>
                </a:solidFill>
                <a:latin typeface="Meiryo"/>
                <a:ea typeface="Meiryo"/>
                <a:cs typeface="Meiryo"/>
              </a:rPr>
              <a:t>16×16</a:t>
            </a:r>
          </a:p>
          <a:p>
            <a:pPr algn="ctr">
              <a:lnSpc>
                <a:spcPct val="125000"/>
              </a:lnSpc>
            </a:pPr>
            <a:r>
              <a:rPr sz="950" b="0">
                <a:solidFill>
                  <a:srgbClr val="FFFFFF"/>
                </a:solidFill>
                <a:latin typeface="Meiryo"/>
                <a:ea typeface="Meiryo"/>
                <a:cs typeface="Meiryo"/>
              </a:rPr>
              <a:t>35.8 m</a:t>
            </a:r>
          </a:p>
        </p:txBody>
      </p:sp>
      <p:cxnSp>
        <p:nvCxnSpPr>
          <p:cNvPr id="30" name="Connector 29"/>
          <p:cNvCxnSpPr/>
          <p:nvPr/>
        </p:nvCxnSpPr>
        <p:spPr>
          <a:xfrm>
            <a:off x="7516368" y="3383280"/>
            <a:ext cx="365760" cy="0"/>
          </a:xfrm>
          <a:prstGeom prst="line">
            <a:avLst/>
          </a:prstGeom>
          <a:ln w="15875">
            <a:solidFill>
              <a:srgbClr val="4A5A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498080" y="2889504"/>
            <a:ext cx="402336" cy="237744"/>
          </a:xfrm>
          <a:prstGeom prst="rect">
            <a:avLst/>
          </a:prstGeom>
          <a:noFill/>
        </p:spPr>
        <p:txBody>
          <a:bodyPr wrap="square" lIns="0" tIns="0" rIns="0" bIns="0">
            <a:spAutoFit/>
          </a:bodyPr>
          <a:lstStyle/>
          <a:p>
            <a:pPr algn="ctr"/>
            <a:r>
              <a:rPr sz="900" b="0">
                <a:solidFill>
                  <a:srgbClr val="4A5A68"/>
                </a:solidFill>
                <a:latin typeface="Meiryo"/>
                <a:ea typeface="Meiryo"/>
                <a:cs typeface="Meiryo"/>
              </a:rPr>
              <a:t>↓</a:t>
            </a:r>
          </a:p>
        </p:txBody>
      </p:sp>
      <p:sp>
        <p:nvSpPr>
          <p:cNvPr id="32" name="TextBox 31"/>
          <p:cNvSpPr txBox="1"/>
          <p:nvPr/>
        </p:nvSpPr>
        <p:spPr>
          <a:xfrm>
            <a:off x="9482328" y="3255264"/>
            <a:ext cx="2377440" cy="274320"/>
          </a:xfrm>
          <a:prstGeom prst="rect">
            <a:avLst/>
          </a:prstGeom>
          <a:noFill/>
        </p:spPr>
        <p:txBody>
          <a:bodyPr wrap="square" lIns="0" tIns="0" rIns="0" bIns="0">
            <a:spAutoFit/>
          </a:bodyPr>
          <a:lstStyle/>
          <a:p>
            <a:pPr algn="l"/>
            <a:r>
              <a:rPr sz="1100" b="1">
                <a:solidFill>
                  <a:srgbClr val="3D6B4A"/>
                </a:solidFill>
                <a:latin typeface="Meiryo"/>
                <a:ea typeface="Meiryo"/>
                <a:cs typeface="Meiryo"/>
              </a:rPr>
              <a:t>← pool4 を通さない</a:t>
            </a:r>
          </a:p>
        </p:txBody>
      </p:sp>
      <p:sp>
        <p:nvSpPr>
          <p:cNvPr id="33" name="Rounded Rectangle 32"/>
          <p:cNvSpPr/>
          <p:nvPr/>
        </p:nvSpPr>
        <p:spPr>
          <a:xfrm>
            <a:off x="566928" y="4041648"/>
            <a:ext cx="11057839" cy="128016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877824" y="4224528"/>
            <a:ext cx="10436047" cy="274320"/>
          </a:xfrm>
          <a:prstGeom prst="rect">
            <a:avLst/>
          </a:prstGeom>
          <a:noFill/>
        </p:spPr>
        <p:txBody>
          <a:bodyPr wrap="square" lIns="0" tIns="0" rIns="0" bIns="0">
            <a:spAutoFit/>
          </a:bodyPr>
          <a:lstStyle/>
          <a:p>
            <a:pPr algn="l"/>
            <a:r>
              <a:rPr sz="1300" b="1">
                <a:solidFill>
                  <a:srgbClr val="23313C"/>
                </a:solidFill>
                <a:latin typeface="Meiryo"/>
                <a:ea typeface="Meiryo"/>
                <a:cs typeface="Meiryo"/>
              </a:rPr>
              <a:t>ただし、そのままでは受容野が半分になる</a:t>
            </a:r>
          </a:p>
        </p:txBody>
      </p:sp>
      <p:sp>
        <p:nvSpPr>
          <p:cNvPr id="35" name="TextBox 34"/>
          <p:cNvSpPr txBox="1"/>
          <p:nvPr/>
        </p:nvSpPr>
        <p:spPr>
          <a:xfrm>
            <a:off x="877824" y="4572000"/>
            <a:ext cx="10436047" cy="640080"/>
          </a:xfrm>
          <a:prstGeom prst="rect">
            <a:avLst/>
          </a:prstGeom>
          <a:noFill/>
        </p:spPr>
        <p:txBody>
          <a:bodyPr wrap="square" lIns="0" tIns="0" rIns="0" bIns="0">
            <a:spAutoFit/>
          </a:bodyPr>
          <a:lstStyle/>
          <a:p>
            <a:pPr algn="l">
              <a:lnSpc>
                <a:spcPct val="150000"/>
              </a:lnSpc>
            </a:pPr>
            <a:r>
              <a:rPr sz="1150" b="0">
                <a:solidFill>
                  <a:srgbClr val="4A5A68"/>
                </a:solidFill>
                <a:latin typeface="Meiryo"/>
                <a:ea typeface="Meiryo"/>
                <a:cs typeface="Meiryo"/>
              </a:rPr>
              <a:t>ボトルネックの畳み込みに dilation=2 を入れて補う（8×8 での 5画素 = 358 m → 16×16 で dilation 2 の 9画素 = 323 m）。もう 16×16 なので up4 の逆畳み込みは不要になり、チャネルを半分にする 1×1 に置き換える。</a:t>
            </a:r>
          </a:p>
        </p:txBody>
      </p:sp>
      <p:sp>
        <p:nvSpPr>
          <p:cNvPr id="36" name="TextBox 35"/>
          <p:cNvSpPr txBox="1"/>
          <p:nvPr/>
        </p:nvSpPr>
        <p:spPr>
          <a:xfrm>
            <a:off x="566928" y="5504688"/>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メモリは約4倍になる。出力ストライド4（32×32）も実装したが、ストライド8 が出発点を超えなかったので学習は保留している。</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第3章 ⑦</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結果 — ボトルネックの解像度を上げる</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22</a:t>
            </a:r>
          </a:p>
        </p:txBody>
      </p:sp>
      <p:sp>
        <p:nvSpPr>
          <p:cNvPr id="5" name="TextBox 4"/>
          <p:cNvSpPr txBox="1"/>
          <p:nvPr/>
        </p:nvSpPr>
        <p:spPr>
          <a:xfrm>
            <a:off x="566928" y="1335024"/>
            <a:ext cx="11057839" cy="749808"/>
          </a:xfrm>
          <a:prstGeom prst="rect">
            <a:avLst/>
          </a:prstGeom>
          <a:noFill/>
        </p:spPr>
        <p:txBody>
          <a:bodyPr wrap="square" lIns="0" tIns="0" rIns="0" bIns="0">
            <a:spAutoFit/>
          </a:bodyPr>
          <a:lstStyle/>
          <a:p>
            <a:pPr algn="l">
              <a:lnSpc>
                <a:spcPct val="150000"/>
              </a:lnSpc>
            </a:pPr>
            <a:r>
              <a:rPr sz="1300" b="0">
                <a:solidFill>
                  <a:srgbClr val="4A5A68"/>
                </a:solidFill>
                <a:latin typeface="Meiryo"/>
                <a:ea typeface="Meiryo"/>
                <a:cs typeface="Meiryo"/>
              </a:rPr>
              <a:t>ASPP の結果から「デコーダが信用しているのはボトルネック経路のほうだ」と読んだ。ならばボトルネックの解像度を上げれば効くはず。pool4 を通さず 8×8（71.7 m/画素）ではなく 16×16（35.8 m/画素）で計算し、受容野は dilation=2 で補った。</a:t>
            </a:r>
          </a:p>
        </p:txBody>
      </p:sp>
      <p:graphicFrame>
        <p:nvGraphicFramePr>
          <p:cNvPr id="6" name="Table 5"/>
          <p:cNvGraphicFramePr>
            <a:graphicFrameLocks noGrp="1"/>
          </p:cNvGraphicFramePr>
          <p:nvPr/>
        </p:nvGraphicFramePr>
        <p:xfrm>
          <a:off x="566928" y="2304288"/>
          <a:ext cx="11064240" cy="1517904"/>
        </p:xfrm>
        <a:graphic>
          <a:graphicData uri="http://schemas.openxmlformats.org/drawingml/2006/table">
            <a:tbl>
              <a:tblPr>
                <a:tableStyleId>{5C22544A-7EE6-4342-B048-85BDC9FD1C3A}</a:tableStyleId>
              </a:tblPr>
              <a:tblGrid>
                <a:gridCol w="38404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365760">
                <a:tc>
                  <a:txBody>
                    <a:bodyPr/>
                    <a:lstStyle/>
                    <a:p>
                      <a:pPr algn="l"/>
                      <a:r>
                        <a:rPr sz="1100" b="1">
                          <a:solidFill>
                            <a:srgbClr val="FFFFFF"/>
                          </a:solidFill>
                          <a:latin typeface="Meiryo"/>
                          <a:ea typeface="Meiryo"/>
                          <a:cs typeface="Meiryo"/>
                        </a:rPr>
                        <a:t>施策</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面積F</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bg10 比</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箇所F</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bg10 比</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TP=0 タイル</a:t>
                      </a:r>
                    </a:p>
                  </a:txBody>
                  <a:tcPr marL="64008" marR="64008" marT="18288" marB="18288" anchor="ctr">
                    <a:solidFill>
                      <a:srgbClr val="23313C"/>
                    </a:solidFill>
                  </a:tcPr>
                </a:tc>
                <a:extLst>
                  <a:ext uri="{0D108BD9-81ED-4DB2-BD59-A6C34878D82A}">
                    <a16:rowId xmlns:a16="http://schemas.microsoft.com/office/drawing/2014/main" val="10000"/>
                  </a:ext>
                </a:extLst>
              </a:tr>
              <a:tr h="384048">
                <a:tc>
                  <a:txBody>
                    <a:bodyPr/>
                    <a:lstStyle/>
                    <a:p>
                      <a:pPr algn="l"/>
                      <a:r>
                        <a:rPr sz="1100" b="0">
                          <a:solidFill>
                            <a:srgbClr val="23313C"/>
                          </a:solidFill>
                          <a:latin typeface="Meiryo"/>
                          <a:ea typeface="Meiryo"/>
                          <a:cs typeface="Meiryo"/>
                        </a:rPr>
                        <a:t>bg10</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0.6636</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0.6252</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a:t>
                      </a:r>
                    </a:p>
                  </a:txBody>
                  <a:tcPr marL="64008" marR="64008" marT="18288" marB="18288" anchor="ctr">
                    <a:solidFill>
                      <a:srgbClr val="FFFFFF"/>
                    </a:solidFill>
                  </a:tcPr>
                </a:tc>
                <a:extLst>
                  <a:ext uri="{0D108BD9-81ED-4DB2-BD59-A6C34878D82A}">
                    <a16:rowId xmlns:a16="http://schemas.microsoft.com/office/drawing/2014/main" val="10001"/>
                  </a:ext>
                </a:extLst>
              </a:tr>
              <a:tr h="384048">
                <a:tc>
                  <a:txBody>
                    <a:bodyPr/>
                    <a:lstStyle/>
                    <a:p>
                      <a:pPr algn="l"/>
                      <a:r>
                        <a:rPr sz="1100" b="0">
                          <a:solidFill>
                            <a:srgbClr val="23313C"/>
                          </a:solidFill>
                          <a:latin typeface="Meiryo"/>
                          <a:ea typeface="Meiryo"/>
                          <a:cs typeface="Meiryo"/>
                        </a:rPr>
                        <a:t>+ ASPP（スキップ側）</a:t>
                      </a:r>
                    </a:p>
                  </a:txBody>
                  <a:tcPr marL="64008" marR="64008" marT="18288" marB="18288" anchor="ctr">
                    <a:solidFill>
                      <a:srgbClr val="F1F0E8"/>
                    </a:solidFill>
                  </a:tcPr>
                </a:tc>
                <a:tc>
                  <a:txBody>
                    <a:bodyPr/>
                    <a:lstStyle/>
                    <a:p>
                      <a:pPr algn="r"/>
                      <a:r>
                        <a:rPr sz="1100" b="1">
                          <a:solidFill>
                            <a:srgbClr val="3D6B4A"/>
                          </a:solidFill>
                          <a:latin typeface="Meiryo"/>
                          <a:ea typeface="Meiryo"/>
                          <a:cs typeface="Meiryo"/>
                        </a:rPr>
                        <a:t>0.6730</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+0.009</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0.6327</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+0.008</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287枚（最少）</a:t>
                      </a:r>
                    </a:p>
                  </a:txBody>
                  <a:tcPr marL="64008" marR="64008" marT="18288" marB="18288" anchor="ctr">
                    <a:solidFill>
                      <a:srgbClr val="F1F0E8"/>
                    </a:solidFill>
                  </a:tcPr>
                </a:tc>
                <a:extLst>
                  <a:ext uri="{0D108BD9-81ED-4DB2-BD59-A6C34878D82A}">
                    <a16:rowId xmlns:a16="http://schemas.microsoft.com/office/drawing/2014/main" val="10002"/>
                  </a:ext>
                </a:extLst>
              </a:tr>
              <a:tr h="384048">
                <a:tc>
                  <a:txBody>
                    <a:bodyPr/>
                    <a:lstStyle/>
                    <a:p>
                      <a:pPr algn="l"/>
                      <a:r>
                        <a:rPr sz="1100" b="0">
                          <a:solidFill>
                            <a:srgbClr val="23313C"/>
                          </a:solidFill>
                          <a:latin typeface="Meiryo"/>
                          <a:ea typeface="Meiryo"/>
                          <a:cs typeface="Meiryo"/>
                        </a:rPr>
                        <a:t>+ ASPP + ストライド8</a:t>
                      </a:r>
                    </a:p>
                  </a:txBody>
                  <a:tcPr marL="64008" marR="64008" marT="18288" marB="18288" anchor="ctr">
                    <a:solidFill>
                      <a:srgbClr val="FFFFFF"/>
                    </a:solidFill>
                  </a:tcPr>
                </a:tc>
                <a:tc>
                  <a:txBody>
                    <a:bodyPr/>
                    <a:lstStyle/>
                    <a:p>
                      <a:pPr algn="r"/>
                      <a:r>
                        <a:rPr sz="1100" b="1">
                          <a:solidFill>
                            <a:srgbClr val="B85042"/>
                          </a:solidFill>
                          <a:latin typeface="Meiryo"/>
                          <a:ea typeface="Meiryo"/>
                          <a:cs typeface="Meiryo"/>
                        </a:rPr>
                        <a:t>0.6706</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+0.007</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0.6394</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+0.014</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a:t>
                      </a:r>
                    </a:p>
                  </a:txBody>
                  <a:tcPr marL="64008" marR="64008"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566928" y="3931920"/>
            <a:ext cx="11057839" cy="1572768"/>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77824" y="4151376"/>
            <a:ext cx="10436047" cy="310896"/>
          </a:xfrm>
          <a:prstGeom prst="rect">
            <a:avLst/>
          </a:prstGeom>
          <a:noFill/>
        </p:spPr>
        <p:txBody>
          <a:bodyPr wrap="square" lIns="0" tIns="0" rIns="0" bIns="0">
            <a:spAutoFit/>
          </a:bodyPr>
          <a:lstStyle/>
          <a:p>
            <a:pPr algn="l"/>
            <a:r>
              <a:rPr sz="1500" b="1">
                <a:solidFill>
                  <a:srgbClr val="B85042"/>
                </a:solidFill>
                <a:latin typeface="Meiryo"/>
                <a:ea typeface="Meiryo"/>
                <a:cs typeface="Meiryo"/>
              </a:rPr>
              <a:t>読みは支持されなかった</a:t>
            </a:r>
          </a:p>
        </p:txBody>
      </p:sp>
      <p:sp>
        <p:nvSpPr>
          <p:cNvPr id="9" name="TextBox 8"/>
          <p:cNvSpPr txBox="1"/>
          <p:nvPr/>
        </p:nvSpPr>
        <p:spPr>
          <a:xfrm>
            <a:off x="877824" y="4572000"/>
            <a:ext cx="10436047" cy="777240"/>
          </a:xfrm>
          <a:prstGeom prst="rect">
            <a:avLst/>
          </a:prstGeom>
          <a:noFill/>
        </p:spPr>
        <p:txBody>
          <a:bodyPr wrap="square" lIns="0" tIns="0" rIns="0" bIns="0">
            <a:spAutoFit/>
          </a:bodyPr>
          <a:lstStyle/>
          <a:p>
            <a:pPr algn="l">
              <a:lnSpc>
                <a:spcPct val="155000"/>
              </a:lnSpc>
            </a:pPr>
            <a:r>
              <a:rPr sz="1250" b="0">
                <a:solidFill>
                  <a:srgbClr val="4A5A68"/>
                </a:solidFill>
                <a:latin typeface="Meiryo"/>
                <a:ea typeface="Meiryo"/>
                <a:cs typeface="Meiryo"/>
              </a:rPr>
              <a:t>解像度を2倍にしても、スキップ側に ASPP を入れただけの条件（+0.009）を面積Fで超えない（+0.007）。前ページとあわせると、スキップ側もボトルネック側も律速ではないことになる。</a:t>
            </a:r>
          </a:p>
        </p:txBody>
      </p:sp>
      <p:sp>
        <p:nvSpPr>
          <p:cNvPr id="10" name="TextBox 9"/>
          <p:cNvSpPr txBox="1"/>
          <p:nvPr/>
        </p:nvSpPr>
        <p:spPr>
          <a:xfrm>
            <a:off x="566928" y="5760720"/>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ここで「U-Net のどの層を触っても動かない」ことが見えてきた。触った場所はエンコーダ・スキップ・ボトルネック・デコーダへの入力・損失・入力データの6か所。</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第3章 ⑧</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仕組み — 全スケール結合（実装済み・未学習）</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23</a:t>
            </a:r>
          </a:p>
        </p:txBody>
      </p:sp>
      <p:sp>
        <p:nvSpPr>
          <p:cNvPr id="5" name="TextBox 4"/>
          <p:cNvSpPr txBox="1"/>
          <p:nvPr/>
        </p:nvSpPr>
        <p:spPr>
          <a:xfrm>
            <a:off x="566928" y="1261872"/>
            <a:ext cx="11057839" cy="402336"/>
          </a:xfrm>
          <a:prstGeom prst="rect">
            <a:avLst/>
          </a:prstGeom>
          <a:noFill/>
        </p:spPr>
        <p:txBody>
          <a:bodyPr wrap="square" lIns="0" tIns="0" rIns="0" bIns="0">
            <a:spAutoFit/>
          </a:bodyPr>
          <a:lstStyle/>
          <a:p>
            <a:pPr algn="l">
              <a:lnSpc>
                <a:spcPct val="145000"/>
              </a:lnSpc>
            </a:pPr>
            <a:r>
              <a:rPr sz="1250" b="0">
                <a:solidFill>
                  <a:srgbClr val="4A5A68"/>
                </a:solidFill>
                <a:latin typeface="Meiryo"/>
                <a:ea typeface="Meiryo"/>
                <a:cs typeface="Meiryo"/>
              </a:rPr>
              <a:t>ここまでは「スキップに何を足すか」を変えてきた。最後に「どう渡すか」を変える。UNet3+ の考え方で、デコーダの各段が全解像度のスキップを受け取る。</a:t>
            </a:r>
          </a:p>
        </p:txBody>
      </p:sp>
      <p:sp>
        <p:nvSpPr>
          <p:cNvPr id="6" name="Rounded Rectangle 5"/>
          <p:cNvSpPr/>
          <p:nvPr/>
        </p:nvSpPr>
        <p:spPr>
          <a:xfrm>
            <a:off x="1325880" y="1828800"/>
            <a:ext cx="1737360" cy="457200"/>
          </a:xfrm>
          <a:prstGeom prst="roundRect">
            <a:avLst>
              <a:gd name="adj" fmla="val 10000"/>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FFFFFF"/>
                </a:solidFill>
                <a:latin typeface="Meiryo"/>
                <a:ea typeface="Meiryo"/>
                <a:cs typeface="Meiryo"/>
              </a:rPr>
              <a:t>128×128</a:t>
            </a:r>
          </a:p>
        </p:txBody>
      </p:sp>
      <p:sp>
        <p:nvSpPr>
          <p:cNvPr id="7" name="Rounded Rectangle 6"/>
          <p:cNvSpPr/>
          <p:nvPr/>
        </p:nvSpPr>
        <p:spPr>
          <a:xfrm>
            <a:off x="1325880" y="3456432"/>
            <a:ext cx="1737360" cy="457200"/>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23313C"/>
                </a:solidFill>
                <a:latin typeface="Meiryo"/>
                <a:ea typeface="Meiryo"/>
                <a:cs typeface="Meiryo"/>
              </a:rPr>
              <a:t>128×128</a:t>
            </a:r>
          </a:p>
        </p:txBody>
      </p:sp>
      <p:sp>
        <p:nvSpPr>
          <p:cNvPr id="8" name="Rounded Rectangle 7"/>
          <p:cNvSpPr/>
          <p:nvPr/>
        </p:nvSpPr>
        <p:spPr>
          <a:xfrm>
            <a:off x="3429000" y="1828800"/>
            <a:ext cx="1737360" cy="457200"/>
          </a:xfrm>
          <a:prstGeom prst="roundRect">
            <a:avLst>
              <a:gd name="adj" fmla="val 10000"/>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FFFFFF"/>
                </a:solidFill>
                <a:latin typeface="Meiryo"/>
                <a:ea typeface="Meiryo"/>
                <a:cs typeface="Meiryo"/>
              </a:rPr>
              <a:t>64×64</a:t>
            </a:r>
          </a:p>
        </p:txBody>
      </p:sp>
      <p:sp>
        <p:nvSpPr>
          <p:cNvPr id="9" name="Rounded Rectangle 8"/>
          <p:cNvSpPr/>
          <p:nvPr/>
        </p:nvSpPr>
        <p:spPr>
          <a:xfrm>
            <a:off x="3429000" y="3456432"/>
            <a:ext cx="1737360" cy="457200"/>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23313C"/>
                </a:solidFill>
                <a:latin typeface="Meiryo"/>
                <a:ea typeface="Meiryo"/>
                <a:cs typeface="Meiryo"/>
              </a:rPr>
              <a:t>64×64</a:t>
            </a:r>
          </a:p>
        </p:txBody>
      </p:sp>
      <p:sp>
        <p:nvSpPr>
          <p:cNvPr id="10" name="Rounded Rectangle 9"/>
          <p:cNvSpPr/>
          <p:nvPr/>
        </p:nvSpPr>
        <p:spPr>
          <a:xfrm>
            <a:off x="5532120" y="1828800"/>
            <a:ext cx="1737360" cy="457200"/>
          </a:xfrm>
          <a:prstGeom prst="roundRect">
            <a:avLst>
              <a:gd name="adj" fmla="val 10000"/>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FFFFFF"/>
                </a:solidFill>
                <a:latin typeface="Meiryo"/>
                <a:ea typeface="Meiryo"/>
                <a:cs typeface="Meiryo"/>
              </a:rPr>
              <a:t>32×32</a:t>
            </a:r>
          </a:p>
        </p:txBody>
      </p:sp>
      <p:sp>
        <p:nvSpPr>
          <p:cNvPr id="11" name="Rounded Rectangle 10"/>
          <p:cNvSpPr/>
          <p:nvPr/>
        </p:nvSpPr>
        <p:spPr>
          <a:xfrm>
            <a:off x="5532120" y="3456432"/>
            <a:ext cx="1737360" cy="457200"/>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23313C"/>
                </a:solidFill>
                <a:latin typeface="Meiryo"/>
                <a:ea typeface="Meiryo"/>
                <a:cs typeface="Meiryo"/>
              </a:rPr>
              <a:t>32×32</a:t>
            </a:r>
          </a:p>
        </p:txBody>
      </p:sp>
      <p:sp>
        <p:nvSpPr>
          <p:cNvPr id="12" name="Rounded Rectangle 11"/>
          <p:cNvSpPr/>
          <p:nvPr/>
        </p:nvSpPr>
        <p:spPr>
          <a:xfrm>
            <a:off x="7635240" y="1828800"/>
            <a:ext cx="1737360" cy="457200"/>
          </a:xfrm>
          <a:prstGeom prst="roundRect">
            <a:avLst>
              <a:gd name="adj" fmla="val 10000"/>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FFFFFF"/>
                </a:solidFill>
                <a:latin typeface="Meiryo"/>
                <a:ea typeface="Meiryo"/>
                <a:cs typeface="Meiryo"/>
              </a:rPr>
              <a:t>16×16</a:t>
            </a:r>
          </a:p>
        </p:txBody>
      </p:sp>
      <p:sp>
        <p:nvSpPr>
          <p:cNvPr id="13" name="Rounded Rectangle 12"/>
          <p:cNvSpPr/>
          <p:nvPr/>
        </p:nvSpPr>
        <p:spPr>
          <a:xfrm>
            <a:off x="7635240" y="3456432"/>
            <a:ext cx="1737360" cy="457200"/>
          </a:xfrm>
          <a:prstGeom prst="roundRect">
            <a:avLst>
              <a:gd name="adj" fmla="val 10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23313C"/>
                </a:solidFill>
                <a:latin typeface="Meiryo"/>
                <a:ea typeface="Meiryo"/>
                <a:cs typeface="Meiryo"/>
              </a:rPr>
              <a:t>16×16</a:t>
            </a:r>
          </a:p>
        </p:txBody>
      </p:sp>
      <p:sp>
        <p:nvSpPr>
          <p:cNvPr id="14" name="TextBox 13"/>
          <p:cNvSpPr txBox="1"/>
          <p:nvPr/>
        </p:nvSpPr>
        <p:spPr>
          <a:xfrm>
            <a:off x="566928" y="1920240"/>
            <a:ext cx="731520" cy="274320"/>
          </a:xfrm>
          <a:prstGeom prst="rect">
            <a:avLst/>
          </a:prstGeom>
          <a:noFill/>
        </p:spPr>
        <p:txBody>
          <a:bodyPr wrap="square" lIns="0" tIns="0" rIns="0" bIns="0">
            <a:spAutoFit/>
          </a:bodyPr>
          <a:lstStyle/>
          <a:p>
            <a:pPr algn="l"/>
            <a:r>
              <a:rPr sz="1000" b="1">
                <a:solidFill>
                  <a:srgbClr val="23313C"/>
                </a:solidFill>
                <a:latin typeface="Meiryo"/>
                <a:ea typeface="Meiryo"/>
                <a:cs typeface="Meiryo"/>
              </a:rPr>
              <a:t>スキップ</a:t>
            </a:r>
          </a:p>
        </p:txBody>
      </p:sp>
      <p:sp>
        <p:nvSpPr>
          <p:cNvPr id="15" name="TextBox 14"/>
          <p:cNvSpPr txBox="1"/>
          <p:nvPr/>
        </p:nvSpPr>
        <p:spPr>
          <a:xfrm>
            <a:off x="566928" y="3547872"/>
            <a:ext cx="731520" cy="274320"/>
          </a:xfrm>
          <a:prstGeom prst="rect">
            <a:avLst/>
          </a:prstGeom>
          <a:noFill/>
        </p:spPr>
        <p:txBody>
          <a:bodyPr wrap="square" lIns="0" tIns="0" rIns="0" bIns="0">
            <a:spAutoFit/>
          </a:bodyPr>
          <a:lstStyle/>
          <a:p>
            <a:pPr algn="l"/>
            <a:r>
              <a:rPr sz="1000" b="1">
                <a:solidFill>
                  <a:srgbClr val="23313C"/>
                </a:solidFill>
                <a:latin typeface="Meiryo"/>
                <a:ea typeface="Meiryo"/>
                <a:cs typeface="Meiryo"/>
              </a:rPr>
              <a:t>デコーダ</a:t>
            </a:r>
          </a:p>
        </p:txBody>
      </p:sp>
      <p:sp>
        <p:nvSpPr>
          <p:cNvPr id="16" name="Rounded Rectangle 15"/>
          <p:cNvSpPr/>
          <p:nvPr/>
        </p:nvSpPr>
        <p:spPr>
          <a:xfrm>
            <a:off x="9692640" y="1828800"/>
            <a:ext cx="1920240" cy="457200"/>
          </a:xfrm>
          <a:prstGeom prst="roundRect">
            <a:avLst>
              <a:gd name="adj" fmla="val 10000"/>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900" b="0">
                <a:solidFill>
                  <a:srgbClr val="FFFFFF"/>
                </a:solidFill>
                <a:latin typeface="Meiryo"/>
                <a:ea typeface="Meiryo"/>
                <a:cs typeface="Meiryo"/>
              </a:rPr>
              <a:t>ボトルネック 8×8</a:t>
            </a:r>
          </a:p>
        </p:txBody>
      </p:sp>
      <p:cxnSp>
        <p:nvCxnSpPr>
          <p:cNvPr id="17" name="Connector 16"/>
          <p:cNvCxnSpPr/>
          <p:nvPr/>
        </p:nvCxnSpPr>
        <p:spPr>
          <a:xfrm>
            <a:off x="2194560" y="2286000"/>
            <a:ext cx="0" cy="1133856"/>
          </a:xfrm>
          <a:prstGeom prst="line">
            <a:avLst/>
          </a:prstGeom>
          <a:ln w="12700">
            <a:solidFill>
              <a:srgbClr val="4A5A6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297680" y="2286000"/>
            <a:ext cx="0" cy="1133856"/>
          </a:xfrm>
          <a:prstGeom prst="line">
            <a:avLst/>
          </a:prstGeom>
          <a:ln w="12700">
            <a:solidFill>
              <a:srgbClr val="4A5A6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400800" y="2286000"/>
            <a:ext cx="0" cy="1133856"/>
          </a:xfrm>
          <a:prstGeom prst="line">
            <a:avLst/>
          </a:prstGeom>
          <a:ln w="12700">
            <a:solidFill>
              <a:srgbClr val="4A5A6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503919" y="2286000"/>
            <a:ext cx="0" cy="1133856"/>
          </a:xfrm>
          <a:prstGeom prst="line">
            <a:avLst/>
          </a:prstGeom>
          <a:ln w="12700">
            <a:solidFill>
              <a:srgbClr val="4A5A6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194560" y="2286000"/>
            <a:ext cx="2103120" cy="1133856"/>
          </a:xfrm>
          <a:prstGeom prst="line">
            <a:avLst/>
          </a:prstGeom>
          <a:ln w="19050">
            <a:solidFill>
              <a:srgbClr val="B8504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4297680" y="2286000"/>
            <a:ext cx="2103120" cy="1133856"/>
          </a:xfrm>
          <a:prstGeom prst="line">
            <a:avLst/>
          </a:prstGeom>
          <a:ln w="19050">
            <a:solidFill>
              <a:srgbClr val="B8504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4297680" y="2286000"/>
            <a:ext cx="4206239" cy="1133856"/>
          </a:xfrm>
          <a:prstGeom prst="line">
            <a:avLst/>
          </a:prstGeom>
          <a:ln w="19050">
            <a:solidFill>
              <a:srgbClr val="B8504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4297680" y="2286000"/>
            <a:ext cx="6355080" cy="1133856"/>
          </a:xfrm>
          <a:prstGeom prst="line">
            <a:avLst/>
          </a:prstGeom>
          <a:ln w="19050">
            <a:solidFill>
              <a:srgbClr val="B8504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4078224"/>
            <a:ext cx="5029200" cy="274320"/>
          </a:xfrm>
          <a:prstGeom prst="rect">
            <a:avLst/>
          </a:prstGeom>
          <a:noFill/>
        </p:spPr>
        <p:txBody>
          <a:bodyPr wrap="square" lIns="0" tIns="0" rIns="0" bIns="0">
            <a:spAutoFit/>
          </a:bodyPr>
          <a:lstStyle/>
          <a:p>
            <a:pPr algn="l"/>
            <a:r>
              <a:rPr sz="1100" b="0">
                <a:solidFill>
                  <a:srgbClr val="4A5A68"/>
                </a:solidFill>
                <a:latin typeface="Meiryo"/>
                <a:ea typeface="Meiryo"/>
                <a:cs typeface="Meiryo"/>
              </a:rPr>
              <a:t>細い点線＝従来（同じ解像度のスキップだけ）</a:t>
            </a:r>
          </a:p>
        </p:txBody>
      </p:sp>
      <p:sp>
        <p:nvSpPr>
          <p:cNvPr id="26" name="TextBox 25"/>
          <p:cNvSpPr txBox="1"/>
          <p:nvPr/>
        </p:nvSpPr>
        <p:spPr>
          <a:xfrm>
            <a:off x="5779008" y="4078224"/>
            <a:ext cx="5845759" cy="274320"/>
          </a:xfrm>
          <a:prstGeom prst="rect">
            <a:avLst/>
          </a:prstGeom>
          <a:noFill/>
        </p:spPr>
        <p:txBody>
          <a:bodyPr wrap="square" lIns="0" tIns="0" rIns="0" bIns="0">
            <a:spAutoFit/>
          </a:bodyPr>
          <a:lstStyle/>
          <a:p>
            <a:pPr algn="l"/>
            <a:r>
              <a:rPr sz="1100" b="1">
                <a:solidFill>
                  <a:srgbClr val="B85042"/>
                </a:solidFill>
                <a:latin typeface="Meiryo"/>
                <a:ea typeface="Meiryo"/>
                <a:cs typeface="Meiryo"/>
              </a:rPr>
              <a:t>太い赤線＝全スケール結合。</a:t>
            </a:r>
            <a:r>
              <a:rPr sz="1100" b="0">
                <a:solidFill>
                  <a:srgbClr val="4A5A68"/>
                </a:solidFill>
                <a:latin typeface="Meiryo"/>
                <a:ea typeface="Meiryo"/>
                <a:cs typeface="Meiryo"/>
              </a:rPr>
              <a:t>64×64 の段が他の全解像度も受け取る</a:t>
            </a:r>
          </a:p>
        </p:txBody>
      </p:sp>
      <p:graphicFrame>
        <p:nvGraphicFramePr>
          <p:cNvPr id="27" name="Table 26"/>
          <p:cNvGraphicFramePr>
            <a:graphicFrameLocks noGrp="1"/>
          </p:cNvGraphicFramePr>
          <p:nvPr/>
        </p:nvGraphicFramePr>
        <p:xfrm>
          <a:off x="566928" y="4498848"/>
          <a:ext cx="11055096" cy="1517904"/>
        </p:xfrm>
        <a:graphic>
          <a:graphicData uri="http://schemas.openxmlformats.org/drawingml/2006/table">
            <a:tbl>
              <a:tblPr>
                <a:tableStyleId>{5C22544A-7EE6-4342-B048-85BDC9FD1C3A}</a:tableStyleId>
              </a:tblPr>
              <a:tblGrid>
                <a:gridCol w="38404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368296">
                  <a:extLst>
                    <a:ext uri="{9D8B030D-6E8A-4147-A177-3AD203B41FA5}">
                      <a16:colId xmlns:a16="http://schemas.microsoft.com/office/drawing/2014/main" val="20003"/>
                    </a:ext>
                  </a:extLst>
                </a:gridCol>
              </a:tblGrid>
              <a:tr h="310896">
                <a:tc>
                  <a:txBody>
                    <a:bodyPr/>
                    <a:lstStyle/>
                    <a:p>
                      <a:pPr algn="l"/>
                      <a:endParaRP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パラメータ</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batch 32 の VRAM</a:t>
                      </a:r>
                    </a:p>
                  </a:txBody>
                  <a:tcPr marL="64008" marR="64008" marT="18288" marB="18288" anchor="ctr">
                    <a:solidFill>
                      <a:srgbClr val="23313C"/>
                    </a:solidFill>
                  </a:tcPr>
                </a:tc>
                <a:tc>
                  <a:txBody>
                    <a:bodyPr/>
                    <a:lstStyle/>
                    <a:p>
                      <a:pPr algn="l"/>
                      <a:r>
                        <a:rPr sz="1100" b="1">
                          <a:solidFill>
                            <a:srgbClr val="FFFFFF"/>
                          </a:solidFill>
                          <a:latin typeface="Meiryo"/>
                          <a:ea typeface="Meiryo"/>
                          <a:cs typeface="Meiryo"/>
                        </a:rPr>
                        <a:t>状態</a:t>
                      </a:r>
                    </a:p>
                  </a:txBody>
                  <a:tcPr marL="64008" marR="64008" marT="18288" marB="18288" anchor="ctr">
                    <a:solidFill>
                      <a:srgbClr val="23313C"/>
                    </a:solidFill>
                  </a:tcPr>
                </a:tc>
                <a:extLst>
                  <a:ext uri="{0D108BD9-81ED-4DB2-BD59-A6C34878D82A}">
                    <a16:rowId xmlns:a16="http://schemas.microsoft.com/office/drawing/2014/main" val="10000"/>
                  </a:ext>
                </a:extLst>
              </a:tr>
              <a:tr h="301752">
                <a:tc>
                  <a:txBody>
                    <a:bodyPr/>
                    <a:lstStyle/>
                    <a:p>
                      <a:pPr algn="l"/>
                      <a:r>
                        <a:rPr sz="1100" b="0">
                          <a:solidFill>
                            <a:srgbClr val="23313C"/>
                          </a:solidFill>
                          <a:latin typeface="Meiryo"/>
                          <a:ea typeface="Meiryo"/>
                          <a:cs typeface="Meiryo"/>
                        </a:rPr>
                        <a:t>ベース（2枝 U-Net）</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43.58M</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a:t>
                      </a:r>
                    </a:p>
                  </a:txBody>
                  <a:tcPr marL="64008" marR="64008" marT="18288" marB="18288" anchor="ctr">
                    <a:solidFill>
                      <a:srgbClr val="FFFFFF"/>
                    </a:solidFill>
                  </a:tcPr>
                </a:tc>
                <a:tc>
                  <a:txBody>
                    <a:bodyPr/>
                    <a:lstStyle/>
                    <a:p>
                      <a:pPr algn="l"/>
                      <a:r>
                        <a:rPr sz="1100" b="0">
                          <a:solidFill>
                            <a:srgbClr val="23313C"/>
                          </a:solidFill>
                          <a:latin typeface="Meiryo"/>
                          <a:ea typeface="Meiryo"/>
                          <a:cs typeface="Meiryo"/>
                        </a:rPr>
                        <a:t>学習・評価済み</a:t>
                      </a:r>
                    </a:p>
                  </a:txBody>
                  <a:tcPr marL="64008" marR="64008" marT="18288" marB="18288" anchor="ctr">
                    <a:solidFill>
                      <a:srgbClr val="FFFFFF"/>
                    </a:solidFill>
                  </a:tcPr>
                </a:tc>
                <a:extLst>
                  <a:ext uri="{0D108BD9-81ED-4DB2-BD59-A6C34878D82A}">
                    <a16:rowId xmlns:a16="http://schemas.microsoft.com/office/drawing/2014/main" val="10001"/>
                  </a:ext>
                </a:extLst>
              </a:tr>
              <a:tr h="301752">
                <a:tc>
                  <a:txBody>
                    <a:bodyPr/>
                    <a:lstStyle/>
                    <a:p>
                      <a:pPr algn="l"/>
                      <a:r>
                        <a:rPr sz="1100" b="0">
                          <a:solidFill>
                            <a:srgbClr val="23313C"/>
                          </a:solidFill>
                          <a:latin typeface="Meiryo"/>
                          <a:ea typeface="Meiryo"/>
                          <a:cs typeface="Meiryo"/>
                        </a:rPr>
                        <a:t>全スケール結合</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52.66M</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9.26 GB</a:t>
                      </a:r>
                    </a:p>
                  </a:txBody>
                  <a:tcPr marL="64008" marR="64008" marT="18288" marB="18288" anchor="ctr">
                    <a:solidFill>
                      <a:srgbClr val="F1F0E8"/>
                    </a:solidFill>
                  </a:tcPr>
                </a:tc>
                <a:tc>
                  <a:txBody>
                    <a:bodyPr/>
                    <a:lstStyle/>
                    <a:p>
                      <a:pPr algn="l"/>
                      <a:r>
                        <a:rPr sz="1100" b="0">
                          <a:solidFill>
                            <a:srgbClr val="23313C"/>
                          </a:solidFill>
                          <a:latin typeface="Meiryo"/>
                          <a:ea typeface="Meiryo"/>
                          <a:cs typeface="Meiryo"/>
                        </a:rPr>
                        <a:t>未学習</a:t>
                      </a:r>
                    </a:p>
                  </a:txBody>
                  <a:tcPr marL="64008" marR="64008" marT="18288" marB="18288" anchor="ctr">
                    <a:solidFill>
                      <a:srgbClr val="F1F0E8"/>
                    </a:solidFill>
                  </a:tcPr>
                </a:tc>
                <a:extLst>
                  <a:ext uri="{0D108BD9-81ED-4DB2-BD59-A6C34878D82A}">
                    <a16:rowId xmlns:a16="http://schemas.microsoft.com/office/drawing/2014/main" val="10002"/>
                  </a:ext>
                </a:extLst>
              </a:tr>
              <a:tr h="301752">
                <a:tc>
                  <a:txBody>
                    <a:bodyPr/>
                    <a:lstStyle/>
                    <a:p>
                      <a:pPr algn="l"/>
                      <a:r>
                        <a:rPr sz="1100" b="0">
                          <a:solidFill>
                            <a:srgbClr val="23313C"/>
                          </a:solidFill>
                          <a:latin typeface="Meiryo"/>
                          <a:ea typeface="Meiryo"/>
                          <a:cs typeface="Meiryo"/>
                        </a:rPr>
                        <a:t>＋ ブランチ別監督</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52.81M</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9.39 GB</a:t>
                      </a:r>
                    </a:p>
                  </a:txBody>
                  <a:tcPr marL="64008" marR="64008" marT="18288" marB="18288" anchor="ctr">
                    <a:solidFill>
                      <a:srgbClr val="FFFFFF"/>
                    </a:solidFill>
                  </a:tcPr>
                </a:tc>
                <a:tc>
                  <a:txBody>
                    <a:bodyPr/>
                    <a:lstStyle/>
                    <a:p>
                      <a:pPr algn="l"/>
                      <a:r>
                        <a:rPr sz="1100" b="0">
                          <a:solidFill>
                            <a:srgbClr val="23313C"/>
                          </a:solidFill>
                          <a:latin typeface="Meiryo"/>
                          <a:ea typeface="Meiryo"/>
                          <a:cs typeface="Meiryo"/>
                        </a:rPr>
                        <a:t>未学習</a:t>
                      </a:r>
                    </a:p>
                  </a:txBody>
                  <a:tcPr marL="64008" marR="64008" marT="18288" marB="18288" anchor="ctr">
                    <a:solidFill>
                      <a:srgbClr val="FFFFFF"/>
                    </a:solidFill>
                  </a:tcPr>
                </a:tc>
                <a:extLst>
                  <a:ext uri="{0D108BD9-81ED-4DB2-BD59-A6C34878D82A}">
                    <a16:rowId xmlns:a16="http://schemas.microsoft.com/office/drawing/2014/main" val="10003"/>
                  </a:ext>
                </a:extLst>
              </a:tr>
              <a:tr h="301752">
                <a:tc>
                  <a:txBody>
                    <a:bodyPr/>
                    <a:lstStyle/>
                    <a:p>
                      <a:pPr algn="l"/>
                      <a:r>
                        <a:rPr sz="1100" b="0">
                          <a:solidFill>
                            <a:srgbClr val="23313C"/>
                          </a:solidFill>
                          <a:latin typeface="Meiryo"/>
                          <a:ea typeface="Meiryo"/>
                          <a:cs typeface="Meiryo"/>
                        </a:rPr>
                        <a:t>＋ ブランチ別 ASPP</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53.36M</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10.58 GB</a:t>
                      </a:r>
                    </a:p>
                  </a:txBody>
                  <a:tcPr marL="64008" marR="64008" marT="18288" marB="18288" anchor="ctr">
                    <a:solidFill>
                      <a:srgbClr val="F1F0E8"/>
                    </a:solidFill>
                  </a:tcPr>
                </a:tc>
                <a:tc>
                  <a:txBody>
                    <a:bodyPr/>
                    <a:lstStyle/>
                    <a:p>
                      <a:pPr algn="l"/>
                      <a:r>
                        <a:rPr sz="1100" b="0">
                          <a:solidFill>
                            <a:srgbClr val="23313C"/>
                          </a:solidFill>
                          <a:latin typeface="Meiryo"/>
                          <a:ea typeface="Meiryo"/>
                          <a:cs typeface="Meiryo"/>
                        </a:rPr>
                        <a:t>未学習</a:t>
                      </a:r>
                    </a:p>
                  </a:txBody>
                  <a:tcPr marL="64008" marR="64008" marT="18288" marB="18288" anchor="ctr">
                    <a:solidFill>
                      <a:srgbClr val="F1F0E8"/>
                    </a:solidFill>
                  </a:tcPr>
                </a:tc>
                <a:extLst>
                  <a:ext uri="{0D108BD9-81ED-4DB2-BD59-A6C34878D82A}">
                    <a16:rowId xmlns:a16="http://schemas.microsoft.com/office/drawing/2014/main" val="10004"/>
                  </a:ext>
                </a:extLst>
              </a:tr>
            </a:tbl>
          </a:graphicData>
        </a:graphic>
      </p:graphicFrame>
      <p:sp>
        <p:nvSpPr>
          <p:cNvPr id="28" name="TextBox 27"/>
          <p:cNvSpPr txBox="1"/>
          <p:nvPr/>
        </p:nvSpPr>
        <p:spPr>
          <a:xfrm>
            <a:off x="566928" y="6144768"/>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浅い段は縮小、深い段は拡大してから渡す。畳み込みの順番を誤ると1ステップ 24.6 秒かかった。</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第3章 ⑨</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損失関数 — 小さい箇所を重く扱う</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24</a:t>
            </a:r>
          </a:p>
        </p:txBody>
      </p:sp>
      <p:sp>
        <p:nvSpPr>
          <p:cNvPr id="5" name="TextBox 4"/>
          <p:cNvSpPr txBox="1"/>
          <p:nvPr/>
        </p:nvSpPr>
        <p:spPr>
          <a:xfrm>
            <a:off x="566928" y="1335024"/>
            <a:ext cx="11057839" cy="512064"/>
          </a:xfrm>
          <a:prstGeom prst="rect">
            <a:avLst/>
          </a:prstGeom>
          <a:noFill/>
        </p:spPr>
        <p:txBody>
          <a:bodyPr wrap="square" lIns="0" tIns="0" rIns="0" bIns="0">
            <a:spAutoFit/>
          </a:bodyPr>
          <a:lstStyle/>
          <a:p>
            <a:pPr algn="l">
              <a:lnSpc>
                <a:spcPct val="150000"/>
              </a:lnSpc>
            </a:pPr>
            <a:r>
              <a:rPr sz="1300" b="0">
                <a:solidFill>
                  <a:srgbClr val="4A5A68"/>
                </a:solidFill>
                <a:latin typeface="Meiryo"/>
                <a:ea typeface="Meiryo"/>
                <a:cs typeface="Meiryo"/>
              </a:rPr>
              <a:t>画素で平均を取ると、小さい箇所は大きい箇所に比べて 8.45倍 過小評価される。箇所ごとに重みの総和が揃うよう正規化した損失（p で強さを調整）を実装した。</a:t>
            </a:r>
          </a:p>
        </p:txBody>
      </p:sp>
      <p:graphicFrame>
        <p:nvGraphicFramePr>
          <p:cNvPr id="6" name="Chart 5"/>
          <p:cNvGraphicFramePr>
            <a:graphicFrameLocks noGrp="1"/>
          </p:cNvGraphicFramePr>
          <p:nvPr/>
        </p:nvGraphicFramePr>
        <p:xfrm>
          <a:off x="566928" y="1956816"/>
          <a:ext cx="5532120" cy="3017520"/>
        </p:xfrm>
        <a:graphic>
          <a:graphicData uri="http://schemas.openxmlformats.org/drawingml/2006/chart">
            <c:chart xmlns:c="http://schemas.openxmlformats.org/drawingml/2006/chart" xmlns:r="http://schemas.openxmlformats.org/officeDocument/2006/relationships" r:id="rId2"/>
          </a:graphicData>
        </a:graphic>
      </p:graphicFrame>
      <p:sp>
        <p:nvSpPr>
          <p:cNvPr id="7" name="Rounded Rectangle 6"/>
          <p:cNvSpPr/>
          <p:nvPr/>
        </p:nvSpPr>
        <p:spPr>
          <a:xfrm>
            <a:off x="6327648" y="1956816"/>
            <a:ext cx="5297119" cy="301752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601968" y="2176272"/>
            <a:ext cx="4748479" cy="310896"/>
          </a:xfrm>
          <a:prstGeom prst="rect">
            <a:avLst/>
          </a:prstGeom>
          <a:noFill/>
        </p:spPr>
        <p:txBody>
          <a:bodyPr wrap="square" lIns="0" tIns="0" rIns="0" bIns="0">
            <a:spAutoFit/>
          </a:bodyPr>
          <a:lstStyle/>
          <a:p>
            <a:pPr algn="l"/>
            <a:r>
              <a:rPr sz="1450" b="1">
                <a:solidFill>
                  <a:srgbClr val="B85042"/>
                </a:solidFill>
                <a:latin typeface="Meiryo"/>
                <a:ea typeface="Meiryo"/>
                <a:cs typeface="Meiryo"/>
              </a:rPr>
              <a:t>非単調 — 機構が効いていない証拠</a:t>
            </a:r>
          </a:p>
        </p:txBody>
      </p:sp>
      <p:sp>
        <p:nvSpPr>
          <p:cNvPr id="9" name="TextBox 8"/>
          <p:cNvSpPr txBox="1"/>
          <p:nvPr/>
        </p:nvSpPr>
        <p:spPr>
          <a:xfrm>
            <a:off x="6601968" y="2615184"/>
            <a:ext cx="4748479" cy="2194560"/>
          </a:xfrm>
          <a:prstGeom prst="rect">
            <a:avLst/>
          </a:prstGeom>
          <a:noFill/>
        </p:spPr>
        <p:txBody>
          <a:bodyPr wrap="square" lIns="0" tIns="0" rIns="0" bIns="0">
            <a:spAutoFit/>
          </a:bodyPr>
          <a:lstStyle/>
          <a:p>
            <a:pPr algn="l">
              <a:lnSpc>
                <a:spcPct val="155000"/>
              </a:lnSpc>
            </a:pPr>
            <a:r>
              <a:rPr sz="1200" b="0">
                <a:solidFill>
                  <a:srgbClr val="4A5A68"/>
                </a:solidFill>
                <a:latin typeface="Meiryo"/>
                <a:ea typeface="Meiryo"/>
                <a:cs typeface="Meiryo"/>
              </a:rPr>
              <a:t>強くすれば単調に上がるはずが、p=1.0 では出発点より下がる。</a:t>
            </a:r>
          </a:p>
          <a:p>
            <a:pPr algn="l">
              <a:lnSpc>
                <a:spcPct val="155000"/>
              </a:lnSpc>
            </a:pPr>
            <a:endParaRPr sz="1200" b="0">
              <a:solidFill>
                <a:srgbClr val="4A5A68"/>
              </a:solidFill>
              <a:latin typeface="Meiryo"/>
              <a:ea typeface="Meiryo"/>
              <a:cs typeface="Meiryo"/>
            </a:endParaRPr>
          </a:p>
          <a:p>
            <a:pPr algn="l">
              <a:lnSpc>
                <a:spcPct val="155000"/>
              </a:lnSpc>
            </a:pPr>
            <a:r>
              <a:rPr sz="1200" b="0">
                <a:solidFill>
                  <a:srgbClr val="4A5A68"/>
                </a:solidFill>
                <a:latin typeface="Meiryo"/>
                <a:ea typeface="Meiryo"/>
                <a:cs typeface="Meiryo"/>
              </a:rPr>
              <a:t>理由：被覆0.5 を落ちた箇所の 69.4% は「1画素も出ていない」状態で、ロジットが負に張り付き勾配が飽和している。重みを8倍しても勾配は0のまま。</a:t>
            </a:r>
          </a:p>
          <a:p>
            <a:pPr algn="l">
              <a:lnSpc>
                <a:spcPct val="155000"/>
              </a:lnSpc>
            </a:pPr>
            <a:endParaRPr sz="1200" b="0">
              <a:solidFill>
                <a:srgbClr val="4A5A68"/>
              </a:solidFill>
              <a:latin typeface="Meiryo"/>
              <a:ea typeface="Meiryo"/>
              <a:cs typeface="Meiryo"/>
            </a:endParaRPr>
          </a:p>
          <a:p>
            <a:pPr algn="l">
              <a:lnSpc>
                <a:spcPct val="155000"/>
              </a:lnSpc>
            </a:pPr>
            <a:r>
              <a:rPr sz="1200" b="0">
                <a:solidFill>
                  <a:srgbClr val="4A5A68"/>
                </a:solidFill>
                <a:latin typeface="Meiryo"/>
                <a:ea typeface="Meiryo"/>
                <a:cs typeface="Meiryo"/>
              </a:rPr>
              <a:t>重み付けが届くのは「あと少しで当たる画素」だけで、それは全体の 5.9% しかない。</a:t>
            </a:r>
          </a:p>
        </p:txBody>
      </p:sp>
      <p:sp>
        <p:nvSpPr>
          <p:cNvPr id="10" name="TextBox 9"/>
          <p:cNvSpPr txBox="1"/>
          <p:nvPr/>
        </p:nvSpPr>
        <p:spPr>
          <a:xfrm>
            <a:off x="566928" y="5266944"/>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p=1.0 は「現状の過小評価 8.45倍 をちょうど打ち消す」設定として選んだのに悪化した。設計の意図どおりに動かない場合、機構より先に勾配が届いているかを見るべきだった。</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第3章 ⑩</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背景タイルを学習に混ぜる（bg_ratio）</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25</a:t>
            </a:r>
          </a:p>
        </p:txBody>
      </p:sp>
      <p:sp>
        <p:nvSpPr>
          <p:cNvPr id="5" name="TextBox 4"/>
          <p:cNvSpPr txBox="1"/>
          <p:nvPr/>
        </p:nvSpPr>
        <p:spPr>
          <a:xfrm>
            <a:off x="566928" y="1335024"/>
            <a:ext cx="11057839" cy="512064"/>
          </a:xfrm>
          <a:prstGeom prst="rect">
            <a:avLst/>
          </a:prstGeom>
          <a:noFill/>
        </p:spPr>
        <p:txBody>
          <a:bodyPr wrap="square" lIns="0" tIns="0" rIns="0" bIns="0">
            <a:spAutoFit/>
          </a:bodyPr>
          <a:lstStyle/>
          <a:p>
            <a:pPr algn="l">
              <a:lnSpc>
                <a:spcPct val="150000"/>
              </a:lnSpc>
            </a:pPr>
            <a:r>
              <a:rPr sz="1300" b="0">
                <a:solidFill>
                  <a:srgbClr val="4A5A68"/>
                </a:solidFill>
                <a:latin typeface="Meiryo"/>
                <a:ea typeface="Meiryo"/>
                <a:cs typeface="Meiryo"/>
              </a:rPr>
              <a:t>従来は警戒区域を含むタイルだけで学習していた。実運用では背景が 61% を占めるので、背景タイルを1割混ぜて「出さないこと」も学ばせた。</a:t>
            </a:r>
          </a:p>
        </p:txBody>
      </p:sp>
      <p:graphicFrame>
        <p:nvGraphicFramePr>
          <p:cNvPr id="6" name="Table 5"/>
          <p:cNvGraphicFramePr>
            <a:graphicFrameLocks noGrp="1"/>
          </p:cNvGraphicFramePr>
          <p:nvPr/>
        </p:nvGraphicFramePr>
        <p:xfrm>
          <a:off x="566928" y="2011680"/>
          <a:ext cx="11055096" cy="1572768"/>
        </p:xfrm>
        <a:graphic>
          <a:graphicData uri="http://schemas.openxmlformats.org/drawingml/2006/table">
            <a:tbl>
              <a:tblPr>
                <a:tableStyleId>{5C22544A-7EE6-4342-B048-85BDC9FD1C3A}</a:tableStyleId>
              </a:tblPr>
              <a:tblGrid>
                <a:gridCol w="36576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3008376">
                  <a:extLst>
                    <a:ext uri="{9D8B030D-6E8A-4147-A177-3AD203B41FA5}">
                      <a16:colId xmlns:a16="http://schemas.microsoft.com/office/drawing/2014/main" val="20003"/>
                    </a:ext>
                  </a:extLst>
                </a:gridCol>
              </a:tblGrid>
              <a:tr h="365760">
                <a:tc>
                  <a:txBody>
                    <a:bodyPr/>
                    <a:lstStyle/>
                    <a:p>
                      <a:pPr algn="l"/>
                      <a:endParaRP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広島 面積F</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広島 箇所F</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島根 背景での過検出画素</a:t>
                      </a:r>
                    </a:p>
                  </a:txBody>
                  <a:tcPr marL="64008" marR="64008" marT="18288" marB="18288" anchor="ctr">
                    <a:solidFill>
                      <a:srgbClr val="23313C"/>
                    </a:solidFill>
                  </a:tcPr>
                </a:tc>
                <a:extLst>
                  <a:ext uri="{0D108BD9-81ED-4DB2-BD59-A6C34878D82A}">
                    <a16:rowId xmlns:a16="http://schemas.microsoft.com/office/drawing/2014/main" val="10000"/>
                  </a:ext>
                </a:extLst>
              </a:tr>
              <a:tr h="402336">
                <a:tc>
                  <a:txBody>
                    <a:bodyPr/>
                    <a:lstStyle/>
                    <a:p>
                      <a:pPr algn="l"/>
                      <a:r>
                        <a:rPr sz="1100" b="0">
                          <a:solidFill>
                            <a:srgbClr val="23313C"/>
                          </a:solidFill>
                          <a:latin typeface="Meiryo"/>
                          <a:ea typeface="Meiryo"/>
                          <a:cs typeface="Meiryo"/>
                        </a:rPr>
                        <a:t>bg_ratio = 0（従来）</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0.6727</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0.6506</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2,234,652</a:t>
                      </a:r>
                    </a:p>
                  </a:txBody>
                  <a:tcPr marL="64008" marR="64008" marT="18288" marB="18288" anchor="ctr">
                    <a:solidFill>
                      <a:srgbClr val="FFFFFF"/>
                    </a:solidFill>
                  </a:tcPr>
                </a:tc>
                <a:extLst>
                  <a:ext uri="{0D108BD9-81ED-4DB2-BD59-A6C34878D82A}">
                    <a16:rowId xmlns:a16="http://schemas.microsoft.com/office/drawing/2014/main" val="10001"/>
                  </a:ext>
                </a:extLst>
              </a:tr>
              <a:tr h="402336">
                <a:tc>
                  <a:txBody>
                    <a:bodyPr/>
                    <a:lstStyle/>
                    <a:p>
                      <a:pPr algn="l"/>
                      <a:r>
                        <a:rPr sz="1100" b="0">
                          <a:solidFill>
                            <a:srgbClr val="23313C"/>
                          </a:solidFill>
                          <a:latin typeface="Meiryo"/>
                          <a:ea typeface="Meiryo"/>
                          <a:cs typeface="Meiryo"/>
                        </a:rPr>
                        <a:t>bg_ratio = 0.1</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0.6636</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0.6252</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2,016,145</a:t>
                      </a:r>
                    </a:p>
                  </a:txBody>
                  <a:tcPr marL="64008" marR="64008" marT="18288" marB="18288" anchor="ctr">
                    <a:solidFill>
                      <a:srgbClr val="F1F0E8"/>
                    </a:solidFill>
                  </a:tcPr>
                </a:tc>
                <a:extLst>
                  <a:ext uri="{0D108BD9-81ED-4DB2-BD59-A6C34878D82A}">
                    <a16:rowId xmlns:a16="http://schemas.microsoft.com/office/drawing/2014/main" val="10002"/>
                  </a:ext>
                </a:extLst>
              </a:tr>
              <a:tr h="402336">
                <a:tc>
                  <a:txBody>
                    <a:bodyPr/>
                    <a:lstStyle/>
                    <a:p>
                      <a:pPr algn="l"/>
                      <a:r>
                        <a:rPr sz="1100" b="0">
                          <a:solidFill>
                            <a:srgbClr val="23313C"/>
                          </a:solidFill>
                          <a:latin typeface="Meiryo"/>
                          <a:ea typeface="Meiryo"/>
                          <a:cs typeface="Meiryo"/>
                        </a:rPr>
                        <a:t>差</a:t>
                      </a:r>
                    </a:p>
                  </a:txBody>
                  <a:tcPr marL="64008" marR="64008" marT="18288" marB="18288" anchor="ctr">
                    <a:solidFill>
                      <a:srgbClr val="FFFFFF"/>
                    </a:solidFill>
                  </a:tcPr>
                </a:tc>
                <a:tc>
                  <a:txBody>
                    <a:bodyPr/>
                    <a:lstStyle/>
                    <a:p>
                      <a:pPr algn="r"/>
                      <a:r>
                        <a:rPr sz="1100" b="1">
                          <a:solidFill>
                            <a:srgbClr val="B85042"/>
                          </a:solidFill>
                          <a:latin typeface="Meiryo"/>
                          <a:ea typeface="Meiryo"/>
                          <a:cs typeface="Meiryo"/>
                        </a:rPr>
                        <a:t>−0.009</a:t>
                      </a:r>
                    </a:p>
                  </a:txBody>
                  <a:tcPr marL="64008" marR="64008" marT="18288" marB="18288" anchor="ctr">
                    <a:solidFill>
                      <a:srgbClr val="FFFFFF"/>
                    </a:solidFill>
                  </a:tcPr>
                </a:tc>
                <a:tc>
                  <a:txBody>
                    <a:bodyPr/>
                    <a:lstStyle/>
                    <a:p>
                      <a:pPr algn="r"/>
                      <a:r>
                        <a:rPr sz="1100" b="1">
                          <a:solidFill>
                            <a:srgbClr val="B85042"/>
                          </a:solidFill>
                          <a:latin typeface="Meiryo"/>
                          <a:ea typeface="Meiryo"/>
                          <a:cs typeface="Meiryo"/>
                        </a:rPr>
                        <a:t>−0.025</a:t>
                      </a:r>
                    </a:p>
                  </a:txBody>
                  <a:tcPr marL="64008" marR="64008" marT="18288" marB="18288" anchor="ctr">
                    <a:solidFill>
                      <a:srgbClr val="FFFFFF"/>
                    </a:solidFill>
                  </a:tcPr>
                </a:tc>
                <a:tc>
                  <a:txBody>
                    <a:bodyPr/>
                    <a:lstStyle/>
                    <a:p>
                      <a:pPr algn="r"/>
                      <a:r>
                        <a:rPr sz="1100" b="1">
                          <a:solidFill>
                            <a:srgbClr val="3D6B4A"/>
                          </a:solidFill>
                          <a:latin typeface="Meiryo"/>
                          <a:ea typeface="Meiryo"/>
                          <a:cs typeface="Meiryo"/>
                        </a:rPr>
                        <a:t>−218,507</a:t>
                      </a:r>
                    </a:p>
                  </a:txBody>
                  <a:tcPr marL="64008" marR="64008"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566928" y="3621024"/>
            <a:ext cx="5532120" cy="178308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41247" y="3840480"/>
            <a:ext cx="4983480" cy="310896"/>
          </a:xfrm>
          <a:prstGeom prst="rect">
            <a:avLst/>
          </a:prstGeom>
          <a:noFill/>
        </p:spPr>
        <p:txBody>
          <a:bodyPr wrap="square" lIns="0" tIns="0" rIns="0" bIns="0">
            <a:spAutoFit/>
          </a:bodyPr>
          <a:lstStyle/>
          <a:p>
            <a:pPr algn="l"/>
            <a:r>
              <a:rPr sz="1450" b="1">
                <a:solidFill>
                  <a:srgbClr val="23313C"/>
                </a:solidFill>
                <a:latin typeface="Meiryo"/>
                <a:ea typeface="Meiryo"/>
                <a:cs typeface="Meiryo"/>
              </a:rPr>
              <a:t>狙いは達成、でも F値は下がる</a:t>
            </a:r>
          </a:p>
        </p:txBody>
      </p:sp>
      <p:sp>
        <p:nvSpPr>
          <p:cNvPr id="9" name="TextBox 8"/>
          <p:cNvSpPr txBox="1"/>
          <p:nvPr/>
        </p:nvSpPr>
        <p:spPr>
          <a:xfrm>
            <a:off x="841247" y="4279392"/>
            <a:ext cx="4983480" cy="1005840"/>
          </a:xfrm>
          <a:prstGeom prst="rect">
            <a:avLst/>
          </a:prstGeom>
          <a:noFill/>
        </p:spPr>
        <p:txBody>
          <a:bodyPr wrap="square" lIns="0" tIns="0" rIns="0" bIns="0">
            <a:spAutoFit/>
          </a:bodyPr>
          <a:lstStyle/>
          <a:p>
            <a:pPr algn="l">
              <a:lnSpc>
                <a:spcPct val="155000"/>
              </a:lnSpc>
            </a:pPr>
            <a:r>
              <a:rPr sz="1200" b="0">
                <a:solidFill>
                  <a:srgbClr val="4A5A68"/>
                </a:solidFill>
                <a:latin typeface="Meiryo"/>
                <a:ea typeface="Meiryo"/>
                <a:cs typeface="Meiryo"/>
              </a:rPr>
              <a:t>背景での過検出は確かに減った。しかし「棄却を学ぶ」ことと「警戒区域を当てる」ことはトレードオフで、後者が下がった。</a:t>
            </a:r>
          </a:p>
        </p:txBody>
      </p:sp>
      <p:sp>
        <p:nvSpPr>
          <p:cNvPr id="10" name="Rounded Rectangle 9"/>
          <p:cNvSpPr/>
          <p:nvPr/>
        </p:nvSpPr>
        <p:spPr>
          <a:xfrm>
            <a:off x="6327648" y="3621024"/>
            <a:ext cx="5297119" cy="178308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601968" y="3840480"/>
            <a:ext cx="4748479" cy="310896"/>
          </a:xfrm>
          <a:prstGeom prst="rect">
            <a:avLst/>
          </a:prstGeom>
          <a:noFill/>
        </p:spPr>
        <p:txBody>
          <a:bodyPr wrap="square" lIns="0" tIns="0" rIns="0" bIns="0">
            <a:spAutoFit/>
          </a:bodyPr>
          <a:lstStyle/>
          <a:p>
            <a:pPr algn="l"/>
            <a:r>
              <a:rPr sz="1450" b="1">
                <a:solidFill>
                  <a:srgbClr val="B85042"/>
                </a:solidFill>
                <a:latin typeface="Meiryo"/>
                <a:ea typeface="Meiryo"/>
                <a:cs typeface="Meiryo"/>
              </a:rPr>
              <a:t>副作用：薄く広がる方向に変わった</a:t>
            </a:r>
          </a:p>
        </p:txBody>
      </p:sp>
      <p:sp>
        <p:nvSpPr>
          <p:cNvPr id="12" name="TextBox 11"/>
          <p:cNvSpPr txBox="1"/>
          <p:nvPr/>
        </p:nvSpPr>
        <p:spPr>
          <a:xfrm>
            <a:off x="6601968" y="4279392"/>
            <a:ext cx="4748479" cy="1005840"/>
          </a:xfrm>
          <a:prstGeom prst="rect">
            <a:avLst/>
          </a:prstGeom>
          <a:noFill/>
        </p:spPr>
        <p:txBody>
          <a:bodyPr wrap="square" lIns="0" tIns="0" rIns="0" bIns="0">
            <a:spAutoFit/>
          </a:bodyPr>
          <a:lstStyle/>
          <a:p>
            <a:pPr algn="l">
              <a:lnSpc>
                <a:spcPct val="155000"/>
              </a:lnSpc>
            </a:pPr>
            <a:r>
              <a:rPr sz="1200" b="0">
                <a:solidFill>
                  <a:srgbClr val="4A5A68"/>
                </a:solidFill>
                <a:latin typeface="Meiryo"/>
                <a:ea typeface="Meiryo"/>
                <a:cs typeface="Meiryo"/>
              </a:rPr>
              <a:t>誤検出の画素数は減ったが、誤検出が出てしまうタイル数は島根で 3,848 → 5,456枚に増えた。</a:t>
            </a:r>
          </a:p>
        </p:txBody>
      </p:sp>
      <p:sp>
        <p:nvSpPr>
          <p:cNvPr id="13" name="TextBox 12"/>
          <p:cNvSpPr txBox="1"/>
          <p:nvPr/>
        </p:nvSpPr>
        <p:spPr>
          <a:xfrm>
            <a:off x="566928" y="5669280"/>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この条件は後にテスト集合の汚染が見つかり、当初「+0.056 で最大の改善」と報告していた値を全面的に訂正した（第6章）。</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3313C"/>
        </a:solidFill>
        <a:effectLst/>
      </p:bgPr>
    </p:bg>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A7BEAE"/>
                </a:solidFill>
                <a:latin typeface="Meiryo"/>
                <a:ea typeface="Meiryo"/>
                <a:cs typeface="Meiryo"/>
              </a:rPr>
              <a:t>第 4 章</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FFFFFF"/>
                </a:solidFill>
                <a:latin typeface="Meiryo"/>
                <a:ea typeface="Meiryo"/>
                <a:cs typeface="Meiryo"/>
              </a:rPr>
              <a:t>なぜ効かないのかを測った</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A7BEAE"/>
                </a:solidFill>
                <a:latin typeface="Meiryo"/>
                <a:ea typeface="Meiryo"/>
                <a:cs typeface="Meiryo"/>
              </a:rPr>
              <a:t>26</a:t>
            </a:r>
          </a:p>
        </p:txBody>
      </p:sp>
      <p:sp>
        <p:nvSpPr>
          <p:cNvPr id="5" name="TextBox 4"/>
          <p:cNvSpPr txBox="1"/>
          <p:nvPr/>
        </p:nvSpPr>
        <p:spPr>
          <a:xfrm>
            <a:off x="566928" y="2103120"/>
            <a:ext cx="8680399" cy="1371600"/>
          </a:xfrm>
          <a:prstGeom prst="rect">
            <a:avLst/>
          </a:prstGeom>
          <a:noFill/>
        </p:spPr>
        <p:txBody>
          <a:bodyPr wrap="square" lIns="0" tIns="0" rIns="0" bIns="0">
            <a:spAutoFit/>
          </a:bodyPr>
          <a:lstStyle/>
          <a:p>
            <a:pPr algn="l">
              <a:lnSpc>
                <a:spcPct val="160000"/>
              </a:lnSpc>
            </a:pPr>
            <a:r>
              <a:rPr sz="1900" b="0">
                <a:solidFill>
                  <a:srgbClr val="FFFFFF"/>
                </a:solidFill>
                <a:latin typeface="Meiryo"/>
                <a:ea typeface="Meiryo"/>
                <a:cs typeface="Meiryo"/>
              </a:rPr>
              <a:t>8本の構造改良がどれも動かないので、「どこで失敗しているのか」を</a:t>
            </a:r>
          </a:p>
          <a:p>
            <a:pPr algn="l">
              <a:lnSpc>
                <a:spcPct val="160000"/>
              </a:lnSpc>
            </a:pPr>
            <a:r>
              <a:rPr sz="1900" b="0">
                <a:solidFill>
                  <a:srgbClr val="FFFFFF"/>
                </a:solidFill>
                <a:latin typeface="Meiryo"/>
                <a:ea typeface="Meiryo"/>
                <a:cs typeface="Meiryo"/>
              </a:rPr>
              <a:t>タイル単位・層単位で測った。ここが今期いちばんの収穫。</a:t>
            </a:r>
          </a:p>
        </p:txBody>
      </p:sp>
      <p:sp>
        <p:nvSpPr>
          <p:cNvPr id="6" name="TextBox 5"/>
          <p:cNvSpPr txBox="1"/>
          <p:nvPr/>
        </p:nvSpPr>
        <p:spPr>
          <a:xfrm>
            <a:off x="566928" y="4206240"/>
            <a:ext cx="3657600" cy="566928"/>
          </a:xfrm>
          <a:prstGeom prst="rect">
            <a:avLst/>
          </a:prstGeom>
          <a:noFill/>
        </p:spPr>
        <p:txBody>
          <a:bodyPr wrap="square" lIns="0" tIns="0" rIns="0" bIns="0">
            <a:spAutoFit/>
          </a:bodyPr>
          <a:lstStyle/>
          <a:p>
            <a:pPr algn="l"/>
            <a:r>
              <a:rPr sz="3200" b="1">
                <a:solidFill>
                  <a:srgbClr val="A7BEAE"/>
                </a:solidFill>
                <a:latin typeface="Meiryo"/>
                <a:ea typeface="Meiryo"/>
                <a:cs typeface="Meiryo"/>
              </a:rPr>
              <a:t>282枚</a:t>
            </a:r>
          </a:p>
        </p:txBody>
      </p:sp>
      <p:sp>
        <p:nvSpPr>
          <p:cNvPr id="7" name="TextBox 6"/>
          <p:cNvSpPr txBox="1"/>
          <p:nvPr/>
        </p:nvSpPr>
        <p:spPr>
          <a:xfrm>
            <a:off x="566928" y="4882896"/>
            <a:ext cx="3657600" cy="365760"/>
          </a:xfrm>
          <a:prstGeom prst="rect">
            <a:avLst/>
          </a:prstGeom>
          <a:noFill/>
        </p:spPr>
        <p:txBody>
          <a:bodyPr wrap="square" lIns="0" tIns="0" rIns="0" bIns="0">
            <a:spAutoFit/>
          </a:bodyPr>
          <a:lstStyle/>
          <a:p>
            <a:pPr algn="l"/>
            <a:r>
              <a:rPr sz="1350" b="0">
                <a:solidFill>
                  <a:srgbClr val="FFFFFF"/>
                </a:solidFill>
                <a:latin typeface="Meiryo"/>
                <a:ea typeface="Meiryo"/>
                <a:cs typeface="Meiryo"/>
              </a:rPr>
              <a:t>1画素も当てられないタイル</a:t>
            </a:r>
          </a:p>
        </p:txBody>
      </p:sp>
      <p:sp>
        <p:nvSpPr>
          <p:cNvPr id="8" name="TextBox 7"/>
          <p:cNvSpPr txBox="1"/>
          <p:nvPr/>
        </p:nvSpPr>
        <p:spPr>
          <a:xfrm>
            <a:off x="4407408" y="4206240"/>
            <a:ext cx="3657600" cy="566928"/>
          </a:xfrm>
          <a:prstGeom prst="rect">
            <a:avLst/>
          </a:prstGeom>
          <a:noFill/>
        </p:spPr>
        <p:txBody>
          <a:bodyPr wrap="square" lIns="0" tIns="0" rIns="0" bIns="0">
            <a:spAutoFit/>
          </a:bodyPr>
          <a:lstStyle/>
          <a:p>
            <a:pPr algn="l"/>
            <a:r>
              <a:rPr sz="3200" b="1">
                <a:solidFill>
                  <a:srgbClr val="A7BEAE"/>
                </a:solidFill>
                <a:latin typeface="Meiryo"/>
                <a:ea typeface="Meiryo"/>
                <a:cs typeface="Meiryo"/>
              </a:rPr>
              <a:t>61%</a:t>
            </a:r>
          </a:p>
        </p:txBody>
      </p:sp>
      <p:sp>
        <p:nvSpPr>
          <p:cNvPr id="9" name="TextBox 8"/>
          <p:cNvSpPr txBox="1"/>
          <p:nvPr/>
        </p:nvSpPr>
        <p:spPr>
          <a:xfrm>
            <a:off x="4407408" y="4882896"/>
            <a:ext cx="3657600" cy="365760"/>
          </a:xfrm>
          <a:prstGeom prst="rect">
            <a:avLst/>
          </a:prstGeom>
          <a:noFill/>
        </p:spPr>
        <p:txBody>
          <a:bodyPr wrap="square" lIns="0" tIns="0" rIns="0" bIns="0">
            <a:spAutoFit/>
          </a:bodyPr>
          <a:lstStyle/>
          <a:p>
            <a:pPr algn="l"/>
            <a:r>
              <a:rPr sz="1350" b="0">
                <a:solidFill>
                  <a:srgbClr val="FFFFFF"/>
                </a:solidFill>
                <a:latin typeface="Meiryo"/>
                <a:ea typeface="Meiryo"/>
                <a:cs typeface="Meiryo"/>
              </a:rPr>
              <a:t>正解が外周16px帯にある</a:t>
            </a:r>
          </a:p>
        </p:txBody>
      </p:sp>
      <p:sp>
        <p:nvSpPr>
          <p:cNvPr id="10" name="TextBox 9"/>
          <p:cNvSpPr txBox="1"/>
          <p:nvPr/>
        </p:nvSpPr>
        <p:spPr>
          <a:xfrm>
            <a:off x="8247888" y="4206240"/>
            <a:ext cx="3657600" cy="566928"/>
          </a:xfrm>
          <a:prstGeom prst="rect">
            <a:avLst/>
          </a:prstGeom>
          <a:noFill/>
        </p:spPr>
        <p:txBody>
          <a:bodyPr wrap="square" lIns="0" tIns="0" rIns="0" bIns="0">
            <a:spAutoFit/>
          </a:bodyPr>
          <a:lstStyle/>
          <a:p>
            <a:pPr algn="l"/>
            <a:r>
              <a:rPr sz="3200" b="1">
                <a:solidFill>
                  <a:srgbClr val="A7BEAE"/>
                </a:solidFill>
                <a:latin typeface="Meiryo"/>
                <a:ea typeface="Meiryo"/>
                <a:cs typeface="Meiryo"/>
              </a:rPr>
              <a:t>95%</a:t>
            </a:r>
          </a:p>
        </p:txBody>
      </p:sp>
      <p:sp>
        <p:nvSpPr>
          <p:cNvPr id="11" name="TextBox 10"/>
          <p:cNvSpPr txBox="1"/>
          <p:nvPr/>
        </p:nvSpPr>
        <p:spPr>
          <a:xfrm>
            <a:off x="8247888" y="4882896"/>
            <a:ext cx="3657600" cy="365760"/>
          </a:xfrm>
          <a:prstGeom prst="rect">
            <a:avLst/>
          </a:prstGeom>
          <a:noFill/>
        </p:spPr>
        <p:txBody>
          <a:bodyPr wrap="square" lIns="0" tIns="0" rIns="0" bIns="0">
            <a:spAutoFit/>
          </a:bodyPr>
          <a:lstStyle/>
          <a:p>
            <a:pPr algn="l"/>
            <a:r>
              <a:rPr sz="1350" b="0">
                <a:solidFill>
                  <a:srgbClr val="FFFFFF"/>
                </a:solidFill>
                <a:latin typeface="Meiryo"/>
                <a:ea typeface="Meiryo"/>
                <a:cs typeface="Meiryo"/>
              </a:rPr>
              <a:t>3条件のいずれかに該当</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第4章 ①</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まったく当てられないタイルの正体</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27</a:t>
            </a:r>
          </a:p>
        </p:txBody>
      </p:sp>
      <p:sp>
        <p:nvSpPr>
          <p:cNvPr id="5" name="TextBox 4"/>
          <p:cNvSpPr txBox="1"/>
          <p:nvPr/>
        </p:nvSpPr>
        <p:spPr>
          <a:xfrm>
            <a:off x="566928" y="1335024"/>
            <a:ext cx="11057839" cy="457200"/>
          </a:xfrm>
          <a:prstGeom prst="rect">
            <a:avLst/>
          </a:prstGeom>
          <a:noFill/>
        </p:spPr>
        <p:txBody>
          <a:bodyPr wrap="square" lIns="0" tIns="0" rIns="0" bIns="0">
            <a:spAutoFit/>
          </a:bodyPr>
          <a:lstStyle/>
          <a:p>
            <a:pPr algn="l">
              <a:lnSpc>
                <a:spcPct val="150000"/>
              </a:lnSpc>
            </a:pPr>
            <a:r>
              <a:rPr sz="1300" b="0">
                <a:solidFill>
                  <a:srgbClr val="4A5A68"/>
                </a:solidFill>
                <a:latin typeface="Meiryo"/>
                <a:ea typeface="Meiryo"/>
                <a:cs typeface="Meiryo"/>
              </a:rPr>
              <a:t>正解に1画素も重ならないタイル 282枚（2,964枚中 9.5%）の性質を、検出できたタイルと比べた。</a:t>
            </a:r>
          </a:p>
        </p:txBody>
      </p:sp>
      <p:graphicFrame>
        <p:nvGraphicFramePr>
          <p:cNvPr id="6" name="Table 5"/>
          <p:cNvGraphicFramePr>
            <a:graphicFrameLocks noGrp="1"/>
          </p:cNvGraphicFramePr>
          <p:nvPr/>
        </p:nvGraphicFramePr>
        <p:xfrm>
          <a:off x="566928" y="1956816"/>
          <a:ext cx="11055096" cy="1975104"/>
        </p:xfrm>
        <a:graphic>
          <a:graphicData uri="http://schemas.openxmlformats.org/drawingml/2006/table">
            <a:tbl>
              <a:tblPr>
                <a:tableStyleId>{5C22544A-7EE6-4342-B048-85BDC9FD1C3A}</a:tableStyleId>
              </a:tblPr>
              <a:tblGrid>
                <a:gridCol w="53035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825496">
                  <a:extLst>
                    <a:ext uri="{9D8B030D-6E8A-4147-A177-3AD203B41FA5}">
                      <a16:colId xmlns:a16="http://schemas.microsoft.com/office/drawing/2014/main" val="20003"/>
                    </a:ext>
                  </a:extLst>
                </a:gridCol>
              </a:tblGrid>
              <a:tr h="365760">
                <a:tc>
                  <a:txBody>
                    <a:bodyPr/>
                    <a:lstStyle/>
                    <a:p>
                      <a:pPr algn="l"/>
                      <a:r>
                        <a:rPr sz="1100" b="1">
                          <a:solidFill>
                            <a:srgbClr val="FFFFFF"/>
                          </a:solidFill>
                          <a:latin typeface="Meiryo"/>
                          <a:ea typeface="Meiryo"/>
                          <a:cs typeface="Meiryo"/>
                        </a:rPr>
                        <a:t>条件</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枚数</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割合</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検出できたタイルでは</a:t>
                      </a:r>
                    </a:p>
                  </a:txBody>
                  <a:tcPr marL="64008" marR="64008" marT="18288" marB="18288" anchor="ctr">
                    <a:solidFill>
                      <a:srgbClr val="23313C"/>
                    </a:solidFill>
                  </a:tcPr>
                </a:tc>
                <a:extLst>
                  <a:ext uri="{0D108BD9-81ED-4DB2-BD59-A6C34878D82A}">
                    <a16:rowId xmlns:a16="http://schemas.microsoft.com/office/drawing/2014/main" val="10000"/>
                  </a:ext>
                </a:extLst>
              </a:tr>
              <a:tr h="402336">
                <a:tc>
                  <a:txBody>
                    <a:bodyPr/>
                    <a:lstStyle/>
                    <a:p>
                      <a:pPr algn="l"/>
                      <a:r>
                        <a:rPr sz="1100" b="0">
                          <a:solidFill>
                            <a:srgbClr val="23313C"/>
                          </a:solidFill>
                          <a:latin typeface="Meiryo"/>
                          <a:ea typeface="Meiryo"/>
                          <a:cs typeface="Meiryo"/>
                        </a:rPr>
                        <a:t>正解が全部 外周16px帯にある</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172</a:t>
                      </a:r>
                    </a:p>
                  </a:txBody>
                  <a:tcPr marL="64008" marR="64008" marT="18288" marB="18288" anchor="ctr">
                    <a:solidFill>
                      <a:srgbClr val="FFFFFF"/>
                    </a:solidFill>
                  </a:tcPr>
                </a:tc>
                <a:tc>
                  <a:txBody>
                    <a:bodyPr/>
                    <a:lstStyle/>
                    <a:p>
                      <a:pPr algn="r"/>
                      <a:r>
                        <a:rPr sz="1100" b="1">
                          <a:solidFill>
                            <a:srgbClr val="B85042"/>
                          </a:solidFill>
                          <a:latin typeface="Meiryo"/>
                          <a:ea typeface="Meiryo"/>
                          <a:cs typeface="Meiryo"/>
                        </a:rPr>
                        <a:t>61%</a:t>
                      </a:r>
                    </a:p>
                  </a:txBody>
                  <a:tcPr marL="64008" marR="64008" marT="18288" marB="18288" anchor="ctr">
                    <a:solidFill>
                      <a:srgbClr val="FFFFFF"/>
                    </a:solidFill>
                  </a:tcPr>
                </a:tc>
                <a:tc>
                  <a:txBody>
                    <a:bodyPr/>
                    <a:lstStyle/>
                    <a:p>
                      <a:pPr algn="r"/>
                      <a:r>
                        <a:rPr sz="1100" b="1">
                          <a:solidFill>
                            <a:srgbClr val="3D6B4A"/>
                          </a:solidFill>
                          <a:latin typeface="Meiryo"/>
                          <a:ea typeface="Meiryo"/>
                          <a:cs typeface="Meiryo"/>
                        </a:rPr>
                        <a:t>10.7%</a:t>
                      </a:r>
                    </a:p>
                  </a:txBody>
                  <a:tcPr marL="64008" marR="64008" marT="18288" marB="18288" anchor="ctr">
                    <a:solidFill>
                      <a:srgbClr val="FFFFFF"/>
                    </a:solidFill>
                  </a:tcPr>
                </a:tc>
                <a:extLst>
                  <a:ext uri="{0D108BD9-81ED-4DB2-BD59-A6C34878D82A}">
                    <a16:rowId xmlns:a16="http://schemas.microsoft.com/office/drawing/2014/main" val="10001"/>
                  </a:ext>
                </a:extLst>
              </a:tr>
              <a:tr h="402336">
                <a:tc>
                  <a:txBody>
                    <a:bodyPr/>
                    <a:lstStyle/>
                    <a:p>
                      <a:pPr algn="l"/>
                      <a:r>
                        <a:rPr sz="1100" b="0">
                          <a:solidFill>
                            <a:srgbClr val="23313C"/>
                          </a:solidFill>
                          <a:latin typeface="Meiryo"/>
                          <a:ea typeface="Meiryo"/>
                          <a:cs typeface="Meiryo"/>
                        </a:rPr>
                        <a:t>傾斜コントラストが負（正解の方が緩斜面）</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169</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60%</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50.9%</a:t>
                      </a:r>
                    </a:p>
                  </a:txBody>
                  <a:tcPr marL="64008" marR="64008" marT="18288" marB="18288" anchor="ctr">
                    <a:solidFill>
                      <a:srgbClr val="F1F0E8"/>
                    </a:solidFill>
                  </a:tcPr>
                </a:tc>
                <a:extLst>
                  <a:ext uri="{0D108BD9-81ED-4DB2-BD59-A6C34878D82A}">
                    <a16:rowId xmlns:a16="http://schemas.microsoft.com/office/drawing/2014/main" val="10002"/>
                  </a:ext>
                </a:extLst>
              </a:tr>
              <a:tr h="402336">
                <a:tc>
                  <a:txBody>
                    <a:bodyPr/>
                    <a:lstStyle/>
                    <a:p>
                      <a:pPr algn="l"/>
                      <a:r>
                        <a:rPr sz="1100" b="0">
                          <a:solidFill>
                            <a:srgbClr val="23313C"/>
                          </a:solidFill>
                          <a:latin typeface="Meiryo"/>
                          <a:ea typeface="Meiryo"/>
                          <a:cs typeface="Meiryo"/>
                        </a:rPr>
                        <a:t>小さい（平均 300px 未満）</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235</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83%</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a:t>
                      </a:r>
                    </a:p>
                  </a:txBody>
                  <a:tcPr marL="64008" marR="64008" marT="18288" marB="18288" anchor="ctr">
                    <a:solidFill>
                      <a:srgbClr val="FFFFFF"/>
                    </a:solidFill>
                  </a:tcPr>
                </a:tc>
                <a:extLst>
                  <a:ext uri="{0D108BD9-81ED-4DB2-BD59-A6C34878D82A}">
                    <a16:rowId xmlns:a16="http://schemas.microsoft.com/office/drawing/2014/main" val="10003"/>
                  </a:ext>
                </a:extLst>
              </a:tr>
              <a:tr h="402336">
                <a:tc>
                  <a:txBody>
                    <a:bodyPr/>
                    <a:lstStyle/>
                    <a:p>
                      <a:pPr algn="l"/>
                      <a:r>
                        <a:rPr sz="1100" b="0">
                          <a:solidFill>
                            <a:srgbClr val="23313C"/>
                          </a:solidFill>
                          <a:latin typeface="Meiryo"/>
                          <a:ea typeface="Meiryo"/>
                          <a:cs typeface="Meiryo"/>
                        </a:rPr>
                        <a:t>いずれかに該当</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268</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95%</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a:t>
                      </a:r>
                    </a:p>
                  </a:txBody>
                  <a:tcPr marL="64008" marR="64008" marT="18288" marB="18288" anchor="ctr">
                    <a:solidFill>
                      <a:srgbClr val="F1F0E8"/>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66928" y="3785615"/>
            <a:ext cx="5532120" cy="1554480"/>
          </a:xfrm>
          <a:prstGeom prst="rect">
            <a:avLst/>
          </a:prstGeom>
          <a:noFill/>
        </p:spPr>
        <p:txBody>
          <a:bodyPr wrap="square" lIns="0" tIns="0" rIns="0" bIns="0">
            <a:spAutoFit/>
          </a:bodyPr>
          <a:lstStyle/>
          <a:p>
            <a:pPr algn="l">
              <a:lnSpc>
                <a:spcPct val="150000"/>
              </a:lnSpc>
            </a:pPr>
            <a:r>
              <a:rPr sz="1450" b="1">
                <a:solidFill>
                  <a:srgbClr val="B85042"/>
                </a:solidFill>
                <a:latin typeface="Meiryo"/>
                <a:ea typeface="Meiryo"/>
                <a:cs typeface="Meiryo"/>
              </a:rPr>
              <a:t>① タイルの切り方の問題</a:t>
            </a:r>
          </a:p>
          <a:p>
            <a:pPr algn="l">
              <a:lnSpc>
                <a:spcPct val="150000"/>
              </a:lnSpc>
            </a:pPr>
            <a:r>
              <a:rPr sz="1200" b="0">
                <a:solidFill>
                  <a:srgbClr val="4A5A68"/>
                </a:solidFill>
                <a:latin typeface="Meiryo"/>
                <a:ea typeface="Meiryo"/>
                <a:cs typeface="Meiryo"/>
              </a:rPr>
              <a:t>61% は正解がタイルの外周16px帯にしかない。検出できたタイルでは 10.7% なので、6倍の偏り。箇所が隣のタイルにまたがって切れている。</a:t>
            </a:r>
          </a:p>
        </p:txBody>
      </p:sp>
      <p:sp>
        <p:nvSpPr>
          <p:cNvPr id="8" name="TextBox 7"/>
          <p:cNvSpPr txBox="1"/>
          <p:nvPr/>
        </p:nvSpPr>
        <p:spPr>
          <a:xfrm>
            <a:off x="6327648" y="3785615"/>
            <a:ext cx="5297119" cy="1554480"/>
          </a:xfrm>
          <a:prstGeom prst="rect">
            <a:avLst/>
          </a:prstGeom>
          <a:noFill/>
        </p:spPr>
        <p:txBody>
          <a:bodyPr wrap="square" lIns="0" tIns="0" rIns="0" bIns="0">
            <a:spAutoFit/>
          </a:bodyPr>
          <a:lstStyle/>
          <a:p>
            <a:pPr algn="l">
              <a:lnSpc>
                <a:spcPct val="150000"/>
              </a:lnSpc>
            </a:pPr>
            <a:r>
              <a:rPr sz="1450" b="1">
                <a:solidFill>
                  <a:srgbClr val="B85042"/>
                </a:solidFill>
                <a:latin typeface="Meiryo"/>
                <a:ea typeface="Meiryo"/>
                <a:cs typeface="Meiryo"/>
              </a:rPr>
              <a:t>② 入力に答えが無い問題</a:t>
            </a:r>
          </a:p>
          <a:p>
            <a:pPr algn="l">
              <a:lnSpc>
                <a:spcPct val="150000"/>
              </a:lnSpc>
            </a:pPr>
            <a:r>
              <a:rPr sz="1200" b="0">
                <a:solidFill>
                  <a:srgbClr val="4A5A68"/>
                </a:solidFill>
                <a:latin typeface="Meiryo"/>
                <a:ea typeface="Meiryo"/>
                <a:cs typeface="Meiryo"/>
              </a:rPr>
              <a:t>60% は正解領域のほうが周囲より緩斜面（中央値 −1.410°）。地形量からは「ここが危険」と判断できない。</a:t>
            </a:r>
          </a:p>
        </p:txBody>
      </p:sp>
      <p:sp>
        <p:nvSpPr>
          <p:cNvPr id="9" name="Rounded Rectangle 8"/>
          <p:cNvSpPr/>
          <p:nvPr/>
        </p:nvSpPr>
        <p:spPr>
          <a:xfrm>
            <a:off x="566928" y="5532120"/>
            <a:ext cx="11057839" cy="804672"/>
          </a:xfrm>
          <a:prstGeom prst="roundRect">
            <a:avLst>
              <a:gd name="adj" fmla="val 6000"/>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77824" y="5532120"/>
            <a:ext cx="10436047" cy="804672"/>
          </a:xfrm>
          <a:prstGeom prst="rect">
            <a:avLst/>
          </a:prstGeom>
          <a:noFill/>
        </p:spPr>
        <p:txBody>
          <a:bodyPr wrap="square" lIns="0" tIns="0" rIns="0" bIns="0" anchor="ctr">
            <a:spAutoFit/>
          </a:bodyPr>
          <a:lstStyle/>
          <a:p>
            <a:pPr algn="l">
              <a:lnSpc>
                <a:spcPct val="140000"/>
              </a:lnSpc>
            </a:pPr>
            <a:r>
              <a:rPr sz="1450" b="0">
                <a:solidFill>
                  <a:srgbClr val="FFFFFF"/>
                </a:solidFill>
                <a:latin typeface="Meiryo"/>
                <a:ea typeface="Meiryo"/>
                <a:cs typeface="Meiryo"/>
              </a:rPr>
              <a:t>失敗の大半はモデルの表現力不足ではなく、</a:t>
            </a:r>
            <a:r>
              <a:rPr sz="1450" b="1">
                <a:solidFill>
                  <a:srgbClr val="A7BEAE"/>
                </a:solidFill>
                <a:latin typeface="Meiryo"/>
                <a:ea typeface="Meiryo"/>
                <a:cs typeface="Meiryo"/>
              </a:rPr>
              <a:t>問題の与え方（①）と入力の不足（②）</a:t>
            </a:r>
            <a:r>
              <a:rPr sz="1450" b="0">
                <a:solidFill>
                  <a:srgbClr val="FFFFFF"/>
                </a:solidFill>
                <a:latin typeface="Meiryo"/>
                <a:ea typeface="Meiryo"/>
                <a:cs typeface="Meiryo"/>
              </a:rPr>
              <a:t>で説明できる。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第4章 ②</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情報はエンコーダでは失われていない</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28</a:t>
            </a:r>
          </a:p>
        </p:txBody>
      </p:sp>
      <p:sp>
        <p:nvSpPr>
          <p:cNvPr id="5" name="TextBox 4"/>
          <p:cNvSpPr txBox="1"/>
          <p:nvPr/>
        </p:nvSpPr>
        <p:spPr>
          <a:xfrm>
            <a:off x="566928" y="1335024"/>
            <a:ext cx="11057839" cy="694944"/>
          </a:xfrm>
          <a:prstGeom prst="rect">
            <a:avLst/>
          </a:prstGeom>
          <a:noFill/>
        </p:spPr>
        <p:txBody>
          <a:bodyPr wrap="square" lIns="0" tIns="0" rIns="0" bIns="0">
            <a:spAutoFit/>
          </a:bodyPr>
          <a:lstStyle/>
          <a:p>
            <a:pPr algn="l">
              <a:lnSpc>
                <a:spcPct val="150000"/>
              </a:lnSpc>
            </a:pPr>
            <a:r>
              <a:rPr sz="1300" b="0">
                <a:solidFill>
                  <a:srgbClr val="4A5A68"/>
                </a:solidFill>
                <a:latin typeface="Meiryo"/>
                <a:ea typeface="Meiryo"/>
                <a:cs typeface="Meiryo"/>
              </a:rPr>
              <a:t>当初は「最初の CNN やボトルネックで小さい箇所の情報が消えている」と考えていた。各段の活性について、正解領域と周囲のコントラストを測って確かめた。</a:t>
            </a:r>
          </a:p>
        </p:txBody>
      </p:sp>
      <p:graphicFrame>
        <p:nvGraphicFramePr>
          <p:cNvPr id="6" name="Chart 5"/>
          <p:cNvGraphicFramePr>
            <a:graphicFrameLocks noGrp="1"/>
          </p:cNvGraphicFramePr>
          <p:nvPr/>
        </p:nvGraphicFramePr>
        <p:xfrm>
          <a:off x="566928" y="2121408"/>
          <a:ext cx="6035040" cy="292608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566928" y="5120640"/>
            <a:ext cx="6035040" cy="365760"/>
          </a:xfrm>
          <a:prstGeom prst="rect">
            <a:avLst/>
          </a:prstGeom>
          <a:noFill/>
        </p:spPr>
        <p:txBody>
          <a:bodyPr wrap="square" lIns="0" tIns="0" rIns="0" bIns="0">
            <a:spAutoFit/>
          </a:bodyPr>
          <a:lstStyle/>
          <a:p>
            <a:pPr algn="l"/>
            <a:r>
              <a:rPr sz="1100" b="0">
                <a:solidFill>
                  <a:srgbClr val="4A5A68"/>
                </a:solidFill>
                <a:latin typeface="Meiryo"/>
                <a:ea typeface="Meiryo"/>
                <a:cs typeface="Meiryo"/>
              </a:rPr>
              <a:t>1.0 を超えていれば「失敗タイルのほうがコントラストが強い」</a:t>
            </a:r>
          </a:p>
        </p:txBody>
      </p:sp>
      <p:sp>
        <p:nvSpPr>
          <p:cNvPr id="8" name="Rounded Rectangle 7"/>
          <p:cNvSpPr/>
          <p:nvPr/>
        </p:nvSpPr>
        <p:spPr>
          <a:xfrm>
            <a:off x="6830568" y="2121408"/>
            <a:ext cx="4794199" cy="292608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104888" y="2340864"/>
            <a:ext cx="4245559" cy="329184"/>
          </a:xfrm>
          <a:prstGeom prst="rect">
            <a:avLst/>
          </a:prstGeom>
          <a:noFill/>
        </p:spPr>
        <p:txBody>
          <a:bodyPr wrap="square" lIns="0" tIns="0" rIns="0" bIns="0">
            <a:spAutoFit/>
          </a:bodyPr>
          <a:lstStyle/>
          <a:p>
            <a:pPr algn="l"/>
            <a:r>
              <a:rPr sz="1500" b="1">
                <a:solidFill>
                  <a:srgbClr val="B85042"/>
                </a:solidFill>
                <a:latin typeface="Meiryo"/>
                <a:ea typeface="Meiryo"/>
                <a:cs typeface="Meiryo"/>
              </a:rPr>
              <a:t>予想は外れた</a:t>
            </a:r>
          </a:p>
        </p:txBody>
      </p:sp>
      <p:sp>
        <p:nvSpPr>
          <p:cNvPr id="10" name="TextBox 9"/>
          <p:cNvSpPr txBox="1"/>
          <p:nvPr/>
        </p:nvSpPr>
        <p:spPr>
          <a:xfrm>
            <a:off x="7104888" y="2779776"/>
            <a:ext cx="4245559" cy="2011680"/>
          </a:xfrm>
          <a:prstGeom prst="rect">
            <a:avLst/>
          </a:prstGeom>
          <a:noFill/>
        </p:spPr>
        <p:txBody>
          <a:bodyPr wrap="square" lIns="0" tIns="0" rIns="0" bIns="0">
            <a:spAutoFit/>
          </a:bodyPr>
          <a:lstStyle/>
          <a:p>
            <a:pPr algn="l">
              <a:lnSpc>
                <a:spcPct val="160000"/>
              </a:lnSpc>
            </a:pPr>
            <a:r>
              <a:rPr sz="1200" b="0">
                <a:solidFill>
                  <a:srgbClr val="4A5A68"/>
                </a:solidFill>
                <a:latin typeface="Meiryo"/>
                <a:ea typeface="Meiryo"/>
                <a:cs typeface="Meiryo"/>
              </a:rPr>
              <a:t>失敗タイルでも、活性のコントラストは検出できたタイルと同等かむしろ高い（enc2 で1.04倍、enc3 で1.37倍）。</a:t>
            </a:r>
          </a:p>
          <a:p>
            <a:pPr algn="l">
              <a:lnSpc>
                <a:spcPct val="160000"/>
              </a:lnSpc>
            </a:pPr>
            <a:endParaRPr sz="1200" b="0">
              <a:solidFill>
                <a:srgbClr val="4A5A68"/>
              </a:solidFill>
              <a:latin typeface="Meiryo"/>
              <a:ea typeface="Meiryo"/>
              <a:cs typeface="Meiryo"/>
            </a:endParaRPr>
          </a:p>
          <a:p>
            <a:pPr algn="l">
              <a:lnSpc>
                <a:spcPct val="160000"/>
              </a:lnSpc>
            </a:pPr>
            <a:r>
              <a:rPr sz="1200" b="0">
                <a:solidFill>
                  <a:srgbClr val="4A5A68"/>
                </a:solidFill>
                <a:latin typeface="Meiryo"/>
                <a:ea typeface="Meiryo"/>
                <a:cs typeface="Meiryo"/>
              </a:rPr>
              <a:t>エンコーダは「そこに何かある」ことを捉えている。情報が消えているのではなく、デコーダがそれを出力に変換できていない。</a:t>
            </a:r>
          </a:p>
        </p:txBody>
      </p:sp>
      <p:sp>
        <p:nvSpPr>
          <p:cNvPr id="11" name="TextBox 10"/>
          <p:cNvSpPr txBox="1"/>
          <p:nvPr/>
        </p:nvSpPr>
        <p:spPr>
          <a:xfrm>
            <a:off x="566928" y="5715000"/>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この測定で「ボトルネックで情報が消えている」という当初の見立てが主因でないと分かり、以降は受容野と統合のしかたに狙いを移した。</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第4章 ③</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クラス不均衡は問題の立て方が違った</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29</a:t>
            </a:r>
          </a:p>
        </p:txBody>
      </p:sp>
      <p:graphicFrame>
        <p:nvGraphicFramePr>
          <p:cNvPr id="5" name="Table 4"/>
          <p:cNvGraphicFramePr>
            <a:graphicFrameLocks noGrp="1"/>
          </p:cNvGraphicFramePr>
          <p:nvPr/>
        </p:nvGraphicFramePr>
        <p:xfrm>
          <a:off x="566928" y="1371600"/>
          <a:ext cx="6766560" cy="1572768"/>
        </p:xfrm>
        <a:graphic>
          <a:graphicData uri="http://schemas.openxmlformats.org/drawingml/2006/table">
            <a:tbl>
              <a:tblPr>
                <a:tableStyleId>{5C22544A-7EE6-4342-B048-85BDC9FD1C3A}</a:tableStyleId>
              </a:tblPr>
              <a:tblGrid>
                <a:gridCol w="45720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365760">
                <a:tc>
                  <a:txBody>
                    <a:bodyPr/>
                    <a:lstStyle/>
                    <a:p>
                      <a:pPr algn="l"/>
                      <a:r>
                        <a:rPr sz="1100" b="1">
                          <a:solidFill>
                            <a:srgbClr val="FFFFFF"/>
                          </a:solidFill>
                          <a:latin typeface="Meiryo"/>
                          <a:ea typeface="Meiryo"/>
                          <a:cs typeface="Meiryo"/>
                        </a:rPr>
                        <a:t>学習に使った集合</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正例（警戒区域）の割合</a:t>
                      </a:r>
                    </a:p>
                  </a:txBody>
                  <a:tcPr marL="64008" marR="64008" marT="18288" marB="18288" anchor="ctr">
                    <a:solidFill>
                      <a:srgbClr val="23313C"/>
                    </a:solidFill>
                  </a:tcPr>
                </a:tc>
                <a:extLst>
                  <a:ext uri="{0D108BD9-81ED-4DB2-BD59-A6C34878D82A}">
                    <a16:rowId xmlns:a16="http://schemas.microsoft.com/office/drawing/2014/main" val="10000"/>
                  </a:ext>
                </a:extLst>
              </a:tr>
              <a:tr h="402336">
                <a:tc>
                  <a:txBody>
                    <a:bodyPr/>
                    <a:lstStyle/>
                    <a:p>
                      <a:pPr algn="l"/>
                      <a:r>
                        <a:rPr sz="1100" b="0">
                          <a:solidFill>
                            <a:srgbClr val="23313C"/>
                          </a:solidFill>
                          <a:latin typeface="Meiryo"/>
                          <a:ea typeface="Meiryo"/>
                          <a:cs typeface="Meiryo"/>
                        </a:rPr>
                        <a:t>警戒ありタイルのみ（従来）</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9.33%</a:t>
                      </a:r>
                    </a:p>
                  </a:txBody>
                  <a:tcPr marL="64008" marR="64008" marT="18288" marB="18288" anchor="ctr">
                    <a:solidFill>
                      <a:srgbClr val="FFFFFF"/>
                    </a:solidFill>
                  </a:tcPr>
                </a:tc>
                <a:extLst>
                  <a:ext uri="{0D108BD9-81ED-4DB2-BD59-A6C34878D82A}">
                    <a16:rowId xmlns:a16="http://schemas.microsoft.com/office/drawing/2014/main" val="10001"/>
                  </a:ext>
                </a:extLst>
              </a:tr>
              <a:tr h="402336">
                <a:tc>
                  <a:txBody>
                    <a:bodyPr/>
                    <a:lstStyle/>
                    <a:p>
                      <a:pPr algn="l"/>
                      <a:r>
                        <a:rPr sz="1100" b="0">
                          <a:solidFill>
                            <a:srgbClr val="23313C"/>
                          </a:solidFill>
                          <a:latin typeface="Meiryo"/>
                          <a:ea typeface="Meiryo"/>
                          <a:cs typeface="Meiryo"/>
                        </a:rPr>
                        <a:t>bg_ratio = 0.1</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5.22%</a:t>
                      </a:r>
                    </a:p>
                  </a:txBody>
                  <a:tcPr marL="64008" marR="64008" marT="18288" marB="18288" anchor="ctr">
                    <a:solidFill>
                      <a:srgbClr val="F1F0E8"/>
                    </a:solidFill>
                  </a:tcPr>
                </a:tc>
                <a:extLst>
                  <a:ext uri="{0D108BD9-81ED-4DB2-BD59-A6C34878D82A}">
                    <a16:rowId xmlns:a16="http://schemas.microsoft.com/office/drawing/2014/main" val="10002"/>
                  </a:ext>
                </a:extLst>
              </a:tr>
              <a:tr h="402336">
                <a:tc>
                  <a:txBody>
                    <a:bodyPr/>
                    <a:lstStyle/>
                    <a:p>
                      <a:pPr algn="l"/>
                      <a:r>
                        <a:rPr sz="1100" b="0">
                          <a:solidFill>
                            <a:srgbClr val="23313C"/>
                          </a:solidFill>
                          <a:latin typeface="Meiryo"/>
                          <a:ea typeface="Meiryo"/>
                          <a:cs typeface="Meiryo"/>
                        </a:rPr>
                        <a:t>背景込み全 38,148枚（実運用の分布）</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1.05%</a:t>
                      </a:r>
                    </a:p>
                  </a:txBody>
                  <a:tcPr marL="64008" marR="64008"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7607808" y="1371600"/>
            <a:ext cx="4016959" cy="1572768"/>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882127" y="1609344"/>
            <a:ext cx="3468319" cy="1188720"/>
          </a:xfrm>
          <a:prstGeom prst="rect">
            <a:avLst/>
          </a:prstGeom>
          <a:noFill/>
        </p:spPr>
        <p:txBody>
          <a:bodyPr wrap="square" lIns="0" tIns="0" rIns="0" bIns="0">
            <a:spAutoFit/>
          </a:bodyPr>
          <a:lstStyle/>
          <a:p>
            <a:pPr algn="l">
              <a:lnSpc>
                <a:spcPct val="155000"/>
              </a:lnSpc>
            </a:pPr>
            <a:r>
              <a:rPr sz="1200" b="0">
                <a:solidFill>
                  <a:srgbClr val="4A5A68"/>
                </a:solidFill>
                <a:latin typeface="Meiryo"/>
                <a:ea typeface="Meiryo"/>
                <a:cs typeface="Meiryo"/>
              </a:rPr>
              <a:t>正例を重く扱う箇所正規化損失は ±0.004 でほぼ無効だった。正例が少ないことが問題なら、ここが効くはず。</a:t>
            </a:r>
          </a:p>
        </p:txBody>
      </p:sp>
      <p:sp>
        <p:nvSpPr>
          <p:cNvPr id="8" name="Rounded Rectangle 7"/>
          <p:cNvSpPr/>
          <p:nvPr/>
        </p:nvSpPr>
        <p:spPr>
          <a:xfrm>
            <a:off x="566928" y="3163824"/>
            <a:ext cx="11057839" cy="868680"/>
          </a:xfrm>
          <a:prstGeom prst="roundRect">
            <a:avLst>
              <a:gd name="adj" fmla="val 6000"/>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77824" y="3163824"/>
            <a:ext cx="10436047" cy="868680"/>
          </a:xfrm>
          <a:prstGeom prst="rect">
            <a:avLst/>
          </a:prstGeom>
          <a:noFill/>
        </p:spPr>
        <p:txBody>
          <a:bodyPr wrap="square" lIns="0" tIns="0" rIns="0" bIns="0" anchor="ctr">
            <a:spAutoFit/>
          </a:bodyPr>
          <a:lstStyle/>
          <a:p>
            <a:pPr algn="l">
              <a:lnSpc>
                <a:spcPct val="140000"/>
              </a:lnSpc>
            </a:pPr>
            <a:r>
              <a:rPr sz="1600" b="1">
                <a:solidFill>
                  <a:srgbClr val="FFFFFF"/>
                </a:solidFill>
                <a:latin typeface="Meiryo"/>
                <a:ea typeface="Meiryo"/>
                <a:cs typeface="Meiryo"/>
              </a:rPr>
              <a:t>「正例が少ない」のではなく「負例の多様性が足りない」</a:t>
            </a:r>
            <a:r>
              <a:rPr sz="1600" b="0">
                <a:solidFill>
                  <a:srgbClr val="A7BEAE"/>
                </a:solidFill>
                <a:latin typeface="Meiryo"/>
                <a:ea typeface="Meiryo"/>
                <a:cs typeface="Meiryo"/>
              </a:rPr>
              <a:t>　—— これが実態だった。</a:t>
            </a:r>
          </a:p>
        </p:txBody>
      </p:sp>
      <p:sp>
        <p:nvSpPr>
          <p:cNvPr id="10" name="TextBox 9"/>
          <p:cNvSpPr txBox="1"/>
          <p:nvPr/>
        </p:nvSpPr>
        <p:spPr>
          <a:xfrm>
            <a:off x="566928" y="4343400"/>
            <a:ext cx="5532120" cy="1463040"/>
          </a:xfrm>
          <a:prstGeom prst="rect">
            <a:avLst/>
          </a:prstGeom>
          <a:noFill/>
        </p:spPr>
        <p:txBody>
          <a:bodyPr wrap="square" lIns="0" tIns="0" rIns="0" bIns="0">
            <a:spAutoFit/>
          </a:bodyPr>
          <a:lstStyle/>
          <a:p>
            <a:pPr algn="l">
              <a:lnSpc>
                <a:spcPct val="150000"/>
              </a:lnSpc>
            </a:pPr>
            <a:r>
              <a:rPr sz="1400" b="1">
                <a:solidFill>
                  <a:srgbClr val="23313C"/>
                </a:solidFill>
                <a:latin typeface="Meiryo"/>
                <a:ea typeface="Meiryo"/>
                <a:cs typeface="Meiryo"/>
              </a:rPr>
              <a:t>根拠 1</a:t>
            </a:r>
          </a:p>
          <a:p>
            <a:pPr algn="l">
              <a:lnSpc>
                <a:spcPct val="150000"/>
              </a:lnSpc>
            </a:pPr>
            <a:r>
              <a:rPr sz="1200" b="0">
                <a:solidFill>
                  <a:srgbClr val="4A5A68"/>
                </a:solidFill>
                <a:latin typeface="Meiryo"/>
                <a:ea typeface="Meiryo"/>
                <a:cs typeface="Meiryo"/>
              </a:rPr>
              <a:t>bg_ratio は正例の割合を 9.33% → 5.22% に下げた（不均衡を悪化させた）のに、背景での過検出は確実に減った。負例を見せたことが効いている。</a:t>
            </a:r>
          </a:p>
        </p:txBody>
      </p:sp>
      <p:sp>
        <p:nvSpPr>
          <p:cNvPr id="11" name="TextBox 10"/>
          <p:cNvSpPr txBox="1"/>
          <p:nvPr/>
        </p:nvSpPr>
        <p:spPr>
          <a:xfrm>
            <a:off x="6327648" y="4343400"/>
            <a:ext cx="5297119" cy="1463040"/>
          </a:xfrm>
          <a:prstGeom prst="rect">
            <a:avLst/>
          </a:prstGeom>
          <a:noFill/>
        </p:spPr>
        <p:txBody>
          <a:bodyPr wrap="square" lIns="0" tIns="0" rIns="0" bIns="0">
            <a:spAutoFit/>
          </a:bodyPr>
          <a:lstStyle/>
          <a:p>
            <a:pPr algn="l">
              <a:lnSpc>
                <a:spcPct val="150000"/>
              </a:lnSpc>
            </a:pPr>
            <a:r>
              <a:rPr sz="1400" b="1">
                <a:solidFill>
                  <a:srgbClr val="23313C"/>
                </a:solidFill>
                <a:latin typeface="Meiryo"/>
                <a:ea typeface="Meiryo"/>
                <a:cs typeface="Meiryo"/>
              </a:rPr>
              <a:t>根拠 2</a:t>
            </a:r>
          </a:p>
          <a:p>
            <a:pPr algn="l">
              <a:lnSpc>
                <a:spcPct val="150000"/>
              </a:lnSpc>
            </a:pPr>
            <a:r>
              <a:rPr sz="1200" b="0">
                <a:solidFill>
                  <a:srgbClr val="4A5A68"/>
                </a:solidFill>
                <a:latin typeface="Meiryo"/>
                <a:ea typeface="Meiryo"/>
                <a:cs typeface="Meiryo"/>
              </a:rPr>
              <a:t>逆に正例を重くする損失（箇所正規化）は非単調で、強めると下がった。正例側に伸びしろが無い。</a:t>
            </a:r>
          </a:p>
        </p:txBody>
      </p:sp>
      <p:sp>
        <p:nvSpPr>
          <p:cNvPr id="12" name="TextBox 11"/>
          <p:cNvSpPr txBox="1"/>
          <p:nvPr/>
        </p:nvSpPr>
        <p:spPr>
          <a:xfrm>
            <a:off x="566928" y="5943600"/>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疑似データで正例を増やす方向は、この診断からは優先度が低い。むしろ実運用の分布（正例 1.05%）に近い負例をどう見せるかが課題。</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23313C"/>
        </a:solidFill>
        <a:effectLst/>
      </p:bgPr>
    </p:bg>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A7BEAE"/>
                </a:solidFill>
                <a:latin typeface="Meiryo"/>
                <a:ea typeface="Meiryo"/>
                <a:cs typeface="Meiryo"/>
              </a:rPr>
              <a:t>第 5 章</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FFFFFF"/>
                </a:solidFill>
                <a:latin typeface="Meiryo"/>
                <a:ea typeface="Meiryo"/>
                <a:cs typeface="Meiryo"/>
              </a:rPr>
              <a:t>唯一効いたもの — オーバーラップ推論</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A7BEAE"/>
                </a:solidFill>
                <a:latin typeface="Meiryo"/>
                <a:ea typeface="Meiryo"/>
                <a:cs typeface="Meiryo"/>
              </a:rPr>
              <a:t>30</a:t>
            </a:r>
          </a:p>
        </p:txBody>
      </p:sp>
      <p:sp>
        <p:nvSpPr>
          <p:cNvPr id="5" name="TextBox 4"/>
          <p:cNvSpPr txBox="1"/>
          <p:nvPr/>
        </p:nvSpPr>
        <p:spPr>
          <a:xfrm>
            <a:off x="566928" y="2103120"/>
            <a:ext cx="8680399" cy="1371600"/>
          </a:xfrm>
          <a:prstGeom prst="rect">
            <a:avLst/>
          </a:prstGeom>
          <a:noFill/>
        </p:spPr>
        <p:txBody>
          <a:bodyPr wrap="square" lIns="0" tIns="0" rIns="0" bIns="0">
            <a:spAutoFit/>
          </a:bodyPr>
          <a:lstStyle/>
          <a:p>
            <a:pPr algn="l">
              <a:lnSpc>
                <a:spcPct val="160000"/>
              </a:lnSpc>
            </a:pPr>
            <a:r>
              <a:rPr sz="1900" b="0">
                <a:solidFill>
                  <a:srgbClr val="FFFFFF"/>
                </a:solidFill>
                <a:latin typeface="Meiryo"/>
                <a:ea typeface="Meiryo"/>
                <a:cs typeface="Meiryo"/>
              </a:rPr>
              <a:t>失敗の 61% が「正解がタイルの外周にある」なら、タイルの切り方を</a:t>
            </a:r>
          </a:p>
          <a:p>
            <a:pPr algn="l">
              <a:lnSpc>
                <a:spcPct val="160000"/>
              </a:lnSpc>
            </a:pPr>
            <a:r>
              <a:rPr sz="1900" b="0">
                <a:solidFill>
                  <a:srgbClr val="FFFFFF"/>
                </a:solidFill>
                <a:latin typeface="Meiryo"/>
                <a:ea typeface="Meiryo"/>
                <a:cs typeface="Meiryo"/>
              </a:rPr>
              <a:t>変えればよい。学習はやり直さず、推論のやり方だけを変えた。</a:t>
            </a:r>
          </a:p>
        </p:txBody>
      </p:sp>
      <p:sp>
        <p:nvSpPr>
          <p:cNvPr id="6" name="TextBox 5"/>
          <p:cNvSpPr txBox="1"/>
          <p:nvPr/>
        </p:nvSpPr>
        <p:spPr>
          <a:xfrm>
            <a:off x="566928" y="4206240"/>
            <a:ext cx="3657600" cy="566928"/>
          </a:xfrm>
          <a:prstGeom prst="rect">
            <a:avLst/>
          </a:prstGeom>
          <a:noFill/>
        </p:spPr>
        <p:txBody>
          <a:bodyPr wrap="square" lIns="0" tIns="0" rIns="0" bIns="0">
            <a:spAutoFit/>
          </a:bodyPr>
          <a:lstStyle/>
          <a:p>
            <a:pPr algn="l"/>
            <a:r>
              <a:rPr sz="2800" b="1">
                <a:solidFill>
                  <a:srgbClr val="A7BEAE"/>
                </a:solidFill>
                <a:latin typeface="Meiryo"/>
                <a:ea typeface="Meiryo"/>
                <a:cs typeface="Meiryo"/>
              </a:rPr>
              <a:t>+0.047〜+0.060</a:t>
            </a:r>
          </a:p>
        </p:txBody>
      </p:sp>
      <p:sp>
        <p:nvSpPr>
          <p:cNvPr id="7" name="TextBox 6"/>
          <p:cNvSpPr txBox="1"/>
          <p:nvPr/>
        </p:nvSpPr>
        <p:spPr>
          <a:xfrm>
            <a:off x="566928" y="4882896"/>
            <a:ext cx="3657600" cy="365760"/>
          </a:xfrm>
          <a:prstGeom prst="rect">
            <a:avLst/>
          </a:prstGeom>
          <a:noFill/>
        </p:spPr>
        <p:txBody>
          <a:bodyPr wrap="square" lIns="0" tIns="0" rIns="0" bIns="0">
            <a:spAutoFit/>
          </a:bodyPr>
          <a:lstStyle/>
          <a:p>
            <a:pPr algn="l"/>
            <a:r>
              <a:rPr sz="1350" b="0">
                <a:solidFill>
                  <a:srgbClr val="FFFFFF"/>
                </a:solidFill>
                <a:latin typeface="Meiryo"/>
                <a:ea typeface="Meiryo"/>
                <a:cs typeface="Meiryo"/>
              </a:rPr>
              <a:t>箇所F の改善</a:t>
            </a:r>
          </a:p>
        </p:txBody>
      </p:sp>
      <p:sp>
        <p:nvSpPr>
          <p:cNvPr id="8" name="TextBox 7"/>
          <p:cNvSpPr txBox="1"/>
          <p:nvPr/>
        </p:nvSpPr>
        <p:spPr>
          <a:xfrm>
            <a:off x="4407408" y="4206240"/>
            <a:ext cx="3657600" cy="566928"/>
          </a:xfrm>
          <a:prstGeom prst="rect">
            <a:avLst/>
          </a:prstGeom>
          <a:noFill/>
        </p:spPr>
        <p:txBody>
          <a:bodyPr wrap="square" lIns="0" tIns="0" rIns="0" bIns="0">
            <a:spAutoFit/>
          </a:bodyPr>
          <a:lstStyle/>
          <a:p>
            <a:pPr algn="l"/>
            <a:r>
              <a:rPr sz="2800" b="1">
                <a:solidFill>
                  <a:srgbClr val="A7BEAE"/>
                </a:solidFill>
                <a:latin typeface="Meiryo"/>
                <a:ea typeface="Meiryo"/>
                <a:cs typeface="Meiryo"/>
              </a:rPr>
              <a:t>学習不要</a:t>
            </a:r>
          </a:p>
        </p:txBody>
      </p:sp>
      <p:sp>
        <p:nvSpPr>
          <p:cNvPr id="9" name="TextBox 8"/>
          <p:cNvSpPr txBox="1"/>
          <p:nvPr/>
        </p:nvSpPr>
        <p:spPr>
          <a:xfrm>
            <a:off x="4407408" y="4882896"/>
            <a:ext cx="3657600" cy="365760"/>
          </a:xfrm>
          <a:prstGeom prst="rect">
            <a:avLst/>
          </a:prstGeom>
          <a:noFill/>
        </p:spPr>
        <p:txBody>
          <a:bodyPr wrap="square" lIns="0" tIns="0" rIns="0" bIns="0">
            <a:spAutoFit/>
          </a:bodyPr>
          <a:lstStyle/>
          <a:p>
            <a:pPr algn="l"/>
            <a:r>
              <a:rPr sz="1350" b="0">
                <a:solidFill>
                  <a:srgbClr val="FFFFFF"/>
                </a:solidFill>
                <a:latin typeface="Meiryo"/>
                <a:ea typeface="Meiryo"/>
                <a:cs typeface="Meiryo"/>
              </a:rPr>
              <a:t>既存の重みに後から適用</a:t>
            </a:r>
          </a:p>
        </p:txBody>
      </p:sp>
      <p:sp>
        <p:nvSpPr>
          <p:cNvPr id="10" name="TextBox 9"/>
          <p:cNvSpPr txBox="1"/>
          <p:nvPr/>
        </p:nvSpPr>
        <p:spPr>
          <a:xfrm>
            <a:off x="8247888" y="4206240"/>
            <a:ext cx="3657600" cy="566928"/>
          </a:xfrm>
          <a:prstGeom prst="rect">
            <a:avLst/>
          </a:prstGeom>
          <a:noFill/>
        </p:spPr>
        <p:txBody>
          <a:bodyPr wrap="square" lIns="0" tIns="0" rIns="0" bIns="0">
            <a:spAutoFit/>
          </a:bodyPr>
          <a:lstStyle/>
          <a:p>
            <a:pPr algn="l"/>
            <a:r>
              <a:rPr sz="2800" b="1">
                <a:solidFill>
                  <a:srgbClr val="A7BEAE"/>
                </a:solidFill>
                <a:latin typeface="Meiryo"/>
                <a:ea typeface="Meiryo"/>
                <a:cs typeface="Meiryo"/>
              </a:rPr>
              <a:t>282 → 163</a:t>
            </a:r>
          </a:p>
        </p:txBody>
      </p:sp>
      <p:sp>
        <p:nvSpPr>
          <p:cNvPr id="11" name="TextBox 10"/>
          <p:cNvSpPr txBox="1"/>
          <p:nvPr/>
        </p:nvSpPr>
        <p:spPr>
          <a:xfrm>
            <a:off x="8247888" y="4882896"/>
            <a:ext cx="3657600" cy="365760"/>
          </a:xfrm>
          <a:prstGeom prst="rect">
            <a:avLst/>
          </a:prstGeom>
          <a:noFill/>
        </p:spPr>
        <p:txBody>
          <a:bodyPr wrap="square" lIns="0" tIns="0" rIns="0" bIns="0">
            <a:spAutoFit/>
          </a:bodyPr>
          <a:lstStyle/>
          <a:p>
            <a:pPr algn="l"/>
            <a:r>
              <a:rPr sz="1350" b="0">
                <a:solidFill>
                  <a:srgbClr val="FFFFFF"/>
                </a:solidFill>
                <a:latin typeface="Meiryo"/>
                <a:ea typeface="Meiryo"/>
                <a:cs typeface="Meiryo"/>
              </a:rPr>
              <a:t>当てられないタイル</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第5章 ①</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仕組み — オーバーラップ推論</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31</a:t>
            </a:r>
          </a:p>
        </p:txBody>
      </p:sp>
      <p:sp>
        <p:nvSpPr>
          <p:cNvPr id="5" name="TextBox 4"/>
          <p:cNvSpPr txBox="1"/>
          <p:nvPr/>
        </p:nvSpPr>
        <p:spPr>
          <a:xfrm>
            <a:off x="566928" y="1261872"/>
            <a:ext cx="11057839" cy="274320"/>
          </a:xfrm>
          <a:prstGeom prst="rect">
            <a:avLst/>
          </a:prstGeom>
          <a:noFill/>
        </p:spPr>
        <p:txBody>
          <a:bodyPr wrap="square" lIns="0" tIns="0" rIns="0" bIns="0">
            <a:spAutoFit/>
          </a:bodyPr>
          <a:lstStyle/>
          <a:p>
            <a:pPr algn="l">
              <a:lnSpc>
                <a:spcPct val="145000"/>
              </a:lnSpc>
            </a:pPr>
            <a:r>
              <a:rPr sz="1250" b="0">
                <a:solidFill>
                  <a:srgbClr val="4A5A68"/>
                </a:solidFill>
                <a:latin typeface="Meiryo"/>
                <a:ea typeface="Meiryo"/>
                <a:cs typeface="Meiryo"/>
              </a:rPr>
              <a:t>失敗の 61% は正解が全部タイルの外周16px帯にある。窓をずらせば中心に来る。</a:t>
            </a:r>
          </a:p>
        </p:txBody>
      </p:sp>
      <p:sp>
        <p:nvSpPr>
          <p:cNvPr id="6" name="Rounded Rectangle 5"/>
          <p:cNvSpPr/>
          <p:nvPr/>
        </p:nvSpPr>
        <p:spPr>
          <a:xfrm>
            <a:off x="886968" y="1938528"/>
            <a:ext cx="2103120" cy="2103120"/>
          </a:xfrm>
          <a:prstGeom prst="roundRect">
            <a:avLst>
              <a:gd name="adj" fmla="val 0"/>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endParaRPr/>
          </a:p>
        </p:txBody>
      </p:sp>
      <p:sp>
        <p:nvSpPr>
          <p:cNvPr id="7" name="Rounded Rectangle 6"/>
          <p:cNvSpPr/>
          <p:nvPr/>
        </p:nvSpPr>
        <p:spPr>
          <a:xfrm>
            <a:off x="1149857" y="2201418"/>
            <a:ext cx="1577339" cy="1577339"/>
          </a:xfrm>
          <a:prstGeom prst="roundRect">
            <a:avLst>
              <a:gd name="adj" fmla="val 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100" b="0">
                <a:solidFill>
                  <a:srgbClr val="23313C"/>
                </a:solidFill>
                <a:latin typeface="Meiryo"/>
                <a:ea typeface="Meiryo"/>
                <a:cs typeface="Meiryo"/>
              </a:rPr>
              <a:t>中心</a:t>
            </a:r>
          </a:p>
          <a:p>
            <a:pPr algn="ctr">
              <a:lnSpc>
                <a:spcPct val="125000"/>
              </a:lnSpc>
            </a:pPr>
            <a:r>
              <a:rPr sz="1100" b="0">
                <a:solidFill>
                  <a:srgbClr val="23313C"/>
                </a:solidFill>
                <a:latin typeface="Meiryo"/>
                <a:ea typeface="Meiryo"/>
                <a:cs typeface="Meiryo"/>
              </a:rPr>
              <a:t>96×96</a:t>
            </a:r>
          </a:p>
        </p:txBody>
      </p:sp>
      <p:sp>
        <p:nvSpPr>
          <p:cNvPr id="8" name="TextBox 7"/>
          <p:cNvSpPr txBox="1"/>
          <p:nvPr/>
        </p:nvSpPr>
        <p:spPr>
          <a:xfrm>
            <a:off x="566928" y="4169663"/>
            <a:ext cx="3017520" cy="237744"/>
          </a:xfrm>
          <a:prstGeom prst="rect">
            <a:avLst/>
          </a:prstGeom>
          <a:noFill/>
        </p:spPr>
        <p:txBody>
          <a:bodyPr wrap="square" lIns="0" tIns="0" rIns="0" bIns="0">
            <a:spAutoFit/>
          </a:bodyPr>
          <a:lstStyle/>
          <a:p>
            <a:pPr algn="ctr"/>
            <a:r>
              <a:rPr sz="1050" b="0">
                <a:solidFill>
                  <a:srgbClr val="B85042"/>
                </a:solidFill>
                <a:latin typeface="Meiryo"/>
                <a:ea typeface="Meiryo"/>
                <a:cs typeface="Meiryo"/>
              </a:rPr>
              <a:t>外周16px帯（面積の 43.75%）</a:t>
            </a:r>
          </a:p>
        </p:txBody>
      </p:sp>
      <p:sp>
        <p:nvSpPr>
          <p:cNvPr id="9" name="TextBox 8"/>
          <p:cNvSpPr txBox="1"/>
          <p:nvPr/>
        </p:nvSpPr>
        <p:spPr>
          <a:xfrm>
            <a:off x="566928" y="4480560"/>
            <a:ext cx="3200400" cy="548640"/>
          </a:xfrm>
          <a:prstGeom prst="rect">
            <a:avLst/>
          </a:prstGeom>
          <a:noFill/>
        </p:spPr>
        <p:txBody>
          <a:bodyPr wrap="square" lIns="0" tIns="0" rIns="0" bIns="0">
            <a:spAutoFit/>
          </a:bodyPr>
          <a:lstStyle/>
          <a:p>
            <a:pPr algn="l">
              <a:lnSpc>
                <a:spcPct val="145000"/>
              </a:lnSpc>
            </a:pPr>
            <a:r>
              <a:rPr sz="1100" b="0">
                <a:solidFill>
                  <a:srgbClr val="4A5A68"/>
                </a:solidFill>
                <a:latin typeface="Meiryo"/>
                <a:ea typeface="Meiryo"/>
                <a:cs typeface="Meiryo"/>
              </a:rPr>
              <a:t>ここに正解が全部収まるのが</a:t>
            </a:r>
          </a:p>
          <a:p>
            <a:pPr algn="l">
              <a:lnSpc>
                <a:spcPct val="145000"/>
              </a:lnSpc>
            </a:pPr>
            <a:r>
              <a:rPr sz="1100" b="1">
                <a:solidFill>
                  <a:srgbClr val="B85042"/>
                </a:solidFill>
                <a:latin typeface="Meiryo"/>
                <a:ea typeface="Meiryo"/>
                <a:cs typeface="Meiryo"/>
              </a:rPr>
              <a:t>失敗タイルの 61%</a:t>
            </a:r>
            <a:r>
              <a:rPr sz="1100" b="0">
                <a:solidFill>
                  <a:srgbClr val="4A5A68"/>
                </a:solidFill>
                <a:latin typeface="Meiryo"/>
                <a:ea typeface="Meiryo"/>
                <a:cs typeface="Meiryo"/>
              </a:rPr>
              <a:t>（検出できたタイルでは 10.7%）</a:t>
            </a:r>
          </a:p>
        </p:txBody>
      </p:sp>
      <p:sp>
        <p:nvSpPr>
          <p:cNvPr id="10" name="Rounded Rectangle 9"/>
          <p:cNvSpPr/>
          <p:nvPr/>
        </p:nvSpPr>
        <p:spPr>
          <a:xfrm>
            <a:off x="4315968" y="1938528"/>
            <a:ext cx="713232" cy="713232"/>
          </a:xfrm>
          <a:prstGeom prst="roundRect">
            <a:avLst>
              <a:gd name="adj" fmla="val 0"/>
            </a:avLst>
          </a:prstGeom>
          <a:solidFill>
            <a:srgbClr val="F1F0E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endParaRPr/>
          </a:p>
        </p:txBody>
      </p:sp>
      <p:sp>
        <p:nvSpPr>
          <p:cNvPr id="11" name="Rounded Rectangle 10"/>
          <p:cNvSpPr/>
          <p:nvPr/>
        </p:nvSpPr>
        <p:spPr>
          <a:xfrm>
            <a:off x="5029200" y="1938528"/>
            <a:ext cx="713232" cy="713232"/>
          </a:xfrm>
          <a:prstGeom prst="roundRect">
            <a:avLst>
              <a:gd name="adj" fmla="val 0"/>
            </a:avLst>
          </a:prstGeom>
          <a:solidFill>
            <a:srgbClr val="F1F0E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endParaRPr/>
          </a:p>
        </p:txBody>
      </p:sp>
      <p:sp>
        <p:nvSpPr>
          <p:cNvPr id="12" name="Rounded Rectangle 11"/>
          <p:cNvSpPr/>
          <p:nvPr/>
        </p:nvSpPr>
        <p:spPr>
          <a:xfrm>
            <a:off x="5742431" y="1938528"/>
            <a:ext cx="713232" cy="713232"/>
          </a:xfrm>
          <a:prstGeom prst="roundRect">
            <a:avLst>
              <a:gd name="adj" fmla="val 0"/>
            </a:avLst>
          </a:prstGeom>
          <a:solidFill>
            <a:srgbClr val="F1F0E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endParaRPr/>
          </a:p>
        </p:txBody>
      </p:sp>
      <p:sp>
        <p:nvSpPr>
          <p:cNvPr id="13" name="Rounded Rectangle 12"/>
          <p:cNvSpPr/>
          <p:nvPr/>
        </p:nvSpPr>
        <p:spPr>
          <a:xfrm>
            <a:off x="4315968" y="2651760"/>
            <a:ext cx="713232" cy="713232"/>
          </a:xfrm>
          <a:prstGeom prst="roundRect">
            <a:avLst>
              <a:gd name="adj" fmla="val 0"/>
            </a:avLst>
          </a:prstGeom>
          <a:solidFill>
            <a:srgbClr val="F1F0E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endParaRPr/>
          </a:p>
        </p:txBody>
      </p:sp>
      <p:sp>
        <p:nvSpPr>
          <p:cNvPr id="14" name="Rounded Rectangle 13"/>
          <p:cNvSpPr/>
          <p:nvPr/>
        </p:nvSpPr>
        <p:spPr>
          <a:xfrm>
            <a:off x="5029200" y="2651760"/>
            <a:ext cx="713232" cy="713232"/>
          </a:xfrm>
          <a:prstGeom prst="roundRect">
            <a:avLst>
              <a:gd name="adj" fmla="val 0"/>
            </a:avLst>
          </a:prstGeom>
          <a:solidFill>
            <a:srgbClr val="5B7B8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r>
              <a:rPr sz="1000" b="0">
                <a:solidFill>
                  <a:srgbClr val="FFFFFF"/>
                </a:solidFill>
                <a:latin typeface="Meiryo"/>
                <a:ea typeface="Meiryo"/>
                <a:cs typeface="Meiryo"/>
              </a:rPr>
              <a:t>対象</a:t>
            </a:r>
          </a:p>
        </p:txBody>
      </p:sp>
      <p:sp>
        <p:nvSpPr>
          <p:cNvPr id="15" name="Rounded Rectangle 14"/>
          <p:cNvSpPr/>
          <p:nvPr/>
        </p:nvSpPr>
        <p:spPr>
          <a:xfrm>
            <a:off x="5742431" y="2651760"/>
            <a:ext cx="713232" cy="713232"/>
          </a:xfrm>
          <a:prstGeom prst="roundRect">
            <a:avLst>
              <a:gd name="adj" fmla="val 0"/>
            </a:avLst>
          </a:prstGeom>
          <a:solidFill>
            <a:srgbClr val="F1F0E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endParaRPr/>
          </a:p>
        </p:txBody>
      </p:sp>
      <p:sp>
        <p:nvSpPr>
          <p:cNvPr id="16" name="Rounded Rectangle 15"/>
          <p:cNvSpPr/>
          <p:nvPr/>
        </p:nvSpPr>
        <p:spPr>
          <a:xfrm>
            <a:off x="4315968" y="3364992"/>
            <a:ext cx="713232" cy="713232"/>
          </a:xfrm>
          <a:prstGeom prst="roundRect">
            <a:avLst>
              <a:gd name="adj" fmla="val 0"/>
            </a:avLst>
          </a:prstGeom>
          <a:solidFill>
            <a:srgbClr val="F1F0E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endParaRPr/>
          </a:p>
        </p:txBody>
      </p:sp>
      <p:sp>
        <p:nvSpPr>
          <p:cNvPr id="17" name="Rounded Rectangle 16"/>
          <p:cNvSpPr/>
          <p:nvPr/>
        </p:nvSpPr>
        <p:spPr>
          <a:xfrm>
            <a:off x="5029200" y="3364992"/>
            <a:ext cx="713232" cy="713232"/>
          </a:xfrm>
          <a:prstGeom prst="roundRect">
            <a:avLst>
              <a:gd name="adj" fmla="val 0"/>
            </a:avLst>
          </a:prstGeom>
          <a:solidFill>
            <a:srgbClr val="F1F0E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endParaRPr/>
          </a:p>
        </p:txBody>
      </p:sp>
      <p:sp>
        <p:nvSpPr>
          <p:cNvPr id="18" name="Rounded Rectangle 17"/>
          <p:cNvSpPr/>
          <p:nvPr/>
        </p:nvSpPr>
        <p:spPr>
          <a:xfrm>
            <a:off x="5742431" y="3364992"/>
            <a:ext cx="713232" cy="713232"/>
          </a:xfrm>
          <a:prstGeom prst="roundRect">
            <a:avLst>
              <a:gd name="adj" fmla="val 0"/>
            </a:avLst>
          </a:prstGeom>
          <a:solidFill>
            <a:srgbClr val="F1F0E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endParaRPr/>
          </a:p>
        </p:txBody>
      </p:sp>
      <p:sp>
        <p:nvSpPr>
          <p:cNvPr id="19" name="Rectangle 18"/>
          <p:cNvSpPr/>
          <p:nvPr/>
        </p:nvSpPr>
        <p:spPr>
          <a:xfrm>
            <a:off x="4672584" y="2295144"/>
            <a:ext cx="713232" cy="713232"/>
          </a:xfrm>
          <a:prstGeom prst="rect">
            <a:avLst/>
          </a:prstGeom>
          <a:noFill/>
          <a:ln w="9525">
            <a:solidFill>
              <a:srgbClr val="B850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029200" y="2295144"/>
            <a:ext cx="713232" cy="713232"/>
          </a:xfrm>
          <a:prstGeom prst="rect">
            <a:avLst/>
          </a:prstGeom>
          <a:noFill/>
          <a:ln w="9525">
            <a:solidFill>
              <a:srgbClr val="B850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385816" y="2295144"/>
            <a:ext cx="713232" cy="713232"/>
          </a:xfrm>
          <a:prstGeom prst="rect">
            <a:avLst/>
          </a:prstGeom>
          <a:noFill/>
          <a:ln w="9525">
            <a:solidFill>
              <a:srgbClr val="B850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672584" y="2651760"/>
            <a:ext cx="713232" cy="713232"/>
          </a:xfrm>
          <a:prstGeom prst="rect">
            <a:avLst/>
          </a:prstGeom>
          <a:noFill/>
          <a:ln w="9525">
            <a:solidFill>
              <a:srgbClr val="B850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0" y="2651760"/>
            <a:ext cx="713232" cy="713232"/>
          </a:xfrm>
          <a:prstGeom prst="rect">
            <a:avLst/>
          </a:prstGeom>
          <a:noFill/>
          <a:ln w="9525">
            <a:solidFill>
              <a:srgbClr val="B850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385816" y="2651760"/>
            <a:ext cx="713232" cy="713232"/>
          </a:xfrm>
          <a:prstGeom prst="rect">
            <a:avLst/>
          </a:prstGeom>
          <a:noFill/>
          <a:ln w="9525">
            <a:solidFill>
              <a:srgbClr val="B850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672584" y="3008376"/>
            <a:ext cx="713232" cy="713232"/>
          </a:xfrm>
          <a:prstGeom prst="rect">
            <a:avLst/>
          </a:prstGeom>
          <a:noFill/>
          <a:ln w="9525">
            <a:solidFill>
              <a:srgbClr val="B850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0" y="3008376"/>
            <a:ext cx="713232" cy="713232"/>
          </a:xfrm>
          <a:prstGeom prst="rect">
            <a:avLst/>
          </a:prstGeom>
          <a:noFill/>
          <a:ln w="9525">
            <a:solidFill>
              <a:srgbClr val="B850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385816" y="3008376"/>
            <a:ext cx="713232" cy="713232"/>
          </a:xfrm>
          <a:prstGeom prst="rect">
            <a:avLst/>
          </a:prstGeom>
          <a:noFill/>
          <a:ln w="9525">
            <a:solidFill>
              <a:srgbClr val="B850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950207" y="4206240"/>
            <a:ext cx="2871215" cy="237744"/>
          </a:xfrm>
          <a:prstGeom prst="rect">
            <a:avLst/>
          </a:prstGeom>
          <a:noFill/>
        </p:spPr>
        <p:txBody>
          <a:bodyPr wrap="square" lIns="0" tIns="0" rIns="0" bIns="0">
            <a:spAutoFit/>
          </a:bodyPr>
          <a:lstStyle/>
          <a:p>
            <a:pPr algn="ctr"/>
            <a:r>
              <a:rPr sz="1050" b="0">
                <a:solidFill>
                  <a:srgbClr val="4A5A68"/>
                </a:solidFill>
                <a:latin typeface="Meiryo"/>
                <a:ea typeface="Meiryo"/>
                <a:cs typeface="Meiryo"/>
              </a:rPr>
              <a:t>3×3 を貼り合わせ、64px ずつずらした9窓</a:t>
            </a:r>
          </a:p>
        </p:txBody>
      </p:sp>
      <p:sp>
        <p:nvSpPr>
          <p:cNvPr id="29" name="Rounded Rectangle 28"/>
          <p:cNvSpPr/>
          <p:nvPr/>
        </p:nvSpPr>
        <p:spPr>
          <a:xfrm>
            <a:off x="7424927" y="1938528"/>
            <a:ext cx="2139696" cy="2139696"/>
          </a:xfrm>
          <a:prstGeom prst="roundRect">
            <a:avLst>
              <a:gd name="adj" fmla="val 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endParaRPr/>
          </a:p>
        </p:txBody>
      </p:sp>
      <p:sp>
        <p:nvSpPr>
          <p:cNvPr id="30" name="Rounded Rectangle 29"/>
          <p:cNvSpPr/>
          <p:nvPr/>
        </p:nvSpPr>
        <p:spPr>
          <a:xfrm>
            <a:off x="7424927" y="1938528"/>
            <a:ext cx="2139696" cy="2139696"/>
          </a:xfrm>
          <a:prstGeom prst="roundRect">
            <a:avLst>
              <a:gd name="adj" fmla="val 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endParaRPr/>
          </a:p>
        </p:txBody>
      </p:sp>
      <p:sp>
        <p:nvSpPr>
          <p:cNvPr id="31" name="Rounded Rectangle 30"/>
          <p:cNvSpPr/>
          <p:nvPr/>
        </p:nvSpPr>
        <p:spPr>
          <a:xfrm>
            <a:off x="7724485" y="2238085"/>
            <a:ext cx="1540581" cy="1540581"/>
          </a:xfrm>
          <a:prstGeom prst="roundRect">
            <a:avLst>
              <a:gd name="adj" fmla="val 0"/>
            </a:avLst>
          </a:prstGeom>
          <a:solidFill>
            <a:srgbClr val="8FA897"/>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endParaRPr/>
          </a:p>
        </p:txBody>
      </p:sp>
      <p:sp>
        <p:nvSpPr>
          <p:cNvPr id="32" name="Rounded Rectangle 31"/>
          <p:cNvSpPr/>
          <p:nvPr/>
        </p:nvSpPr>
        <p:spPr>
          <a:xfrm>
            <a:off x="8024042" y="2537642"/>
            <a:ext cx="941466" cy="941466"/>
          </a:xfrm>
          <a:prstGeom prst="roundRect">
            <a:avLst>
              <a:gd name="adj" fmla="val 0"/>
            </a:avLst>
          </a:prstGeom>
          <a:solidFill>
            <a:srgbClr val="3D6B4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25000"/>
              </a:lnSpc>
            </a:pPr>
            <a:endParaRPr/>
          </a:p>
        </p:txBody>
      </p:sp>
      <p:sp>
        <p:nvSpPr>
          <p:cNvPr id="33" name="TextBox 32"/>
          <p:cNvSpPr txBox="1"/>
          <p:nvPr/>
        </p:nvSpPr>
        <p:spPr>
          <a:xfrm>
            <a:off x="7424927" y="2807208"/>
            <a:ext cx="2139696" cy="402336"/>
          </a:xfrm>
          <a:prstGeom prst="rect">
            <a:avLst/>
          </a:prstGeom>
          <a:noFill/>
        </p:spPr>
        <p:txBody>
          <a:bodyPr wrap="square" lIns="0" tIns="0" rIns="0" bIns="0">
            <a:spAutoFit/>
          </a:bodyPr>
          <a:lstStyle/>
          <a:p>
            <a:pPr algn="ctr"/>
            <a:r>
              <a:rPr sz="1200" b="1">
                <a:solidFill>
                  <a:srgbClr val="FFFFFF"/>
                </a:solidFill>
                <a:latin typeface="Meiryo"/>
                <a:ea typeface="Meiryo"/>
                <a:cs typeface="Meiryo"/>
              </a:rPr>
              <a:t>重い</a:t>
            </a:r>
          </a:p>
        </p:txBody>
      </p:sp>
      <p:sp>
        <p:nvSpPr>
          <p:cNvPr id="34" name="TextBox 33"/>
          <p:cNvSpPr txBox="1"/>
          <p:nvPr/>
        </p:nvSpPr>
        <p:spPr>
          <a:xfrm>
            <a:off x="7150607" y="4206240"/>
            <a:ext cx="2688336" cy="237744"/>
          </a:xfrm>
          <a:prstGeom prst="rect">
            <a:avLst/>
          </a:prstGeom>
          <a:noFill/>
        </p:spPr>
        <p:txBody>
          <a:bodyPr wrap="square" lIns="0" tIns="0" rIns="0" bIns="0">
            <a:spAutoFit/>
          </a:bodyPr>
          <a:lstStyle/>
          <a:p>
            <a:pPr algn="ctr"/>
            <a:r>
              <a:rPr sz="1050" b="0">
                <a:solidFill>
                  <a:srgbClr val="4A5A68"/>
                </a:solidFill>
                <a:latin typeface="Meiryo"/>
                <a:ea typeface="Meiryo"/>
                <a:cs typeface="Meiryo"/>
              </a:rPr>
              <a:t>中心ほど重い cos 窓で平均</a:t>
            </a:r>
          </a:p>
        </p:txBody>
      </p:sp>
      <p:sp>
        <p:nvSpPr>
          <p:cNvPr id="35" name="Rounded Rectangle 34"/>
          <p:cNvSpPr/>
          <p:nvPr/>
        </p:nvSpPr>
        <p:spPr>
          <a:xfrm>
            <a:off x="9710928" y="1938528"/>
            <a:ext cx="1913839" cy="2139696"/>
          </a:xfrm>
          <a:prstGeom prst="roundRect">
            <a:avLst>
              <a:gd name="adj" fmla="val 6000"/>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9966959" y="2139696"/>
            <a:ext cx="1639519" cy="274320"/>
          </a:xfrm>
          <a:prstGeom prst="rect">
            <a:avLst/>
          </a:prstGeom>
          <a:noFill/>
        </p:spPr>
        <p:txBody>
          <a:bodyPr wrap="square" lIns="0" tIns="0" rIns="0" bIns="0">
            <a:spAutoFit/>
          </a:bodyPr>
          <a:lstStyle/>
          <a:p>
            <a:pPr algn="l"/>
            <a:r>
              <a:rPr sz="1250" b="1">
                <a:solidFill>
                  <a:srgbClr val="A7BEAE"/>
                </a:solidFill>
                <a:latin typeface="Meiryo"/>
                <a:ea typeface="Meiryo"/>
                <a:cs typeface="Meiryo"/>
              </a:rPr>
              <a:t>学習は一切しない</a:t>
            </a:r>
          </a:p>
        </p:txBody>
      </p:sp>
      <p:sp>
        <p:nvSpPr>
          <p:cNvPr id="37" name="TextBox 36"/>
          <p:cNvSpPr txBox="1"/>
          <p:nvPr/>
        </p:nvSpPr>
        <p:spPr>
          <a:xfrm>
            <a:off x="9966959" y="2505456"/>
            <a:ext cx="1639519" cy="1371600"/>
          </a:xfrm>
          <a:prstGeom prst="rect">
            <a:avLst/>
          </a:prstGeom>
          <a:noFill/>
        </p:spPr>
        <p:txBody>
          <a:bodyPr wrap="square" lIns="0" tIns="0" rIns="0" bIns="0">
            <a:spAutoFit/>
          </a:bodyPr>
          <a:lstStyle/>
          <a:p>
            <a:pPr algn="l">
              <a:lnSpc>
                <a:spcPct val="155000"/>
              </a:lnSpc>
            </a:pPr>
            <a:r>
              <a:rPr sz="1100" b="0">
                <a:solidFill>
                  <a:srgbClr val="FFFFFF"/>
                </a:solidFill>
                <a:latin typeface="Meiryo"/>
                <a:ea typeface="Meiryo"/>
                <a:cs typeface="Meiryo"/>
              </a:rPr>
              <a:t>既存の重みをそのまま使い、推論のやり方だけを変える。どの条件の重みにも後から掛けられる。</a:t>
            </a:r>
          </a:p>
        </p:txBody>
      </p:sp>
      <p:sp>
        <p:nvSpPr>
          <p:cNvPr id="38" name="TextBox 37"/>
          <p:cNvSpPr txBox="1"/>
          <p:nvPr/>
        </p:nvSpPr>
        <p:spPr>
          <a:xfrm>
            <a:off x="566928" y="5358384"/>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欠けた近傍は中央タイルの鏡像で埋める。広島の全38,148タイルは格子に重複なく載るので、8近傍が揃うタイルは 93.9%。代わりに推論コストは9倍になる。</a:t>
            </a:r>
          </a:p>
        </p:txBody>
      </p:sp>
      <p:sp>
        <p:nvSpPr>
          <p:cNvPr id="39" name="TextBox 38"/>
          <p:cNvSpPr txBox="1"/>
          <p:nvPr/>
        </p:nvSpPr>
        <p:spPr>
          <a:xfrm>
            <a:off x="566928" y="5998464"/>
            <a:ext cx="11057839" cy="457200"/>
          </a:xfrm>
          <a:prstGeom prst="rect">
            <a:avLst/>
          </a:prstGeom>
          <a:noFill/>
        </p:spPr>
        <p:txBody>
          <a:bodyPr wrap="square" lIns="0" tIns="0" rIns="0" bIns="0">
            <a:spAutoFit/>
          </a:bodyPr>
          <a:lstStyle/>
          <a:p>
            <a:pPr algn="l"/>
            <a:r>
              <a:rPr sz="1300" b="0">
                <a:solidFill>
                  <a:srgbClr val="23313C"/>
                </a:solidFill>
                <a:latin typeface="Meiryo"/>
                <a:ea typeface="Meiryo"/>
                <a:cs typeface="Meiryo"/>
              </a:rPr>
              <a:t>窓をずらすと、外周にあった箇所がどれかの窓で中心に来る。</a:t>
            </a:r>
            <a:r>
              <a:rPr sz="1300" b="1">
                <a:solidFill>
                  <a:srgbClr val="23313C"/>
                </a:solidFill>
                <a:latin typeface="Meiryo"/>
                <a:ea typeface="Meiryo"/>
                <a:cs typeface="Meiryo"/>
              </a:rPr>
              <a:t>統合規則を誤ると効果が消えるので、そこが肝になる。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第5章 ②</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結果 — 3×3 近傍を9窓ずらして推論する</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32</a:t>
            </a:r>
          </a:p>
        </p:txBody>
      </p:sp>
      <p:sp>
        <p:nvSpPr>
          <p:cNvPr id="5" name="TextBox 4"/>
          <p:cNvSpPr txBox="1"/>
          <p:nvPr/>
        </p:nvSpPr>
        <p:spPr>
          <a:xfrm>
            <a:off x="566928" y="1316736"/>
            <a:ext cx="11057839" cy="713232"/>
          </a:xfrm>
          <a:prstGeom prst="rect">
            <a:avLst/>
          </a:prstGeom>
          <a:noFill/>
        </p:spPr>
        <p:txBody>
          <a:bodyPr wrap="square" lIns="0" tIns="0" rIns="0" bIns="0">
            <a:spAutoFit/>
          </a:bodyPr>
          <a:lstStyle/>
          <a:p>
            <a:pPr algn="l">
              <a:lnSpc>
                <a:spcPct val="150000"/>
              </a:lnSpc>
            </a:pPr>
            <a:r>
              <a:rPr sz="1300" b="0">
                <a:solidFill>
                  <a:srgbClr val="4A5A68"/>
                </a:solidFill>
                <a:latin typeface="Meiryo"/>
                <a:ea typeface="Meiryo"/>
                <a:cs typeface="Meiryo"/>
              </a:rPr>
              <a:t>対象タイルと周囲8枚を 384×384 に貼り合わせ、64px ずつずらした9つの窓で推論する。外周にあった箇所が、どれかの窓では中心に来る。統合は中心ほど重い cos 窓での平均。</a:t>
            </a:r>
          </a:p>
        </p:txBody>
      </p:sp>
      <p:graphicFrame>
        <p:nvGraphicFramePr>
          <p:cNvPr id="6" name="Table 5"/>
          <p:cNvGraphicFramePr>
            <a:graphicFrameLocks noGrp="1"/>
          </p:cNvGraphicFramePr>
          <p:nvPr/>
        </p:nvGraphicFramePr>
        <p:xfrm>
          <a:off x="566928" y="2231136"/>
          <a:ext cx="11055095" cy="1572768"/>
        </p:xfrm>
        <a:graphic>
          <a:graphicData uri="http://schemas.openxmlformats.org/drawingml/2006/table">
            <a:tbl>
              <a:tblPr>
                <a:tableStyleId>{5C22544A-7EE6-4342-B048-85BDC9FD1C3A}</a:tableStyleId>
              </a:tblPr>
              <a:tblGrid>
                <a:gridCol w="3749039">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636776">
                  <a:extLst>
                    <a:ext uri="{9D8B030D-6E8A-4147-A177-3AD203B41FA5}">
                      <a16:colId xmlns:a16="http://schemas.microsoft.com/office/drawing/2014/main" val="20005"/>
                    </a:ext>
                  </a:extLst>
                </a:gridCol>
              </a:tblGrid>
              <a:tr h="365760">
                <a:tc>
                  <a:txBody>
                    <a:bodyPr/>
                    <a:lstStyle/>
                    <a:p>
                      <a:pPr algn="l"/>
                      <a:r>
                        <a:rPr sz="1100" b="1">
                          <a:solidFill>
                            <a:srgbClr val="FFFFFF"/>
                          </a:solidFill>
                          <a:latin typeface="Meiryo"/>
                          <a:ea typeface="Meiryo"/>
                          <a:cs typeface="Meiryo"/>
                        </a:rPr>
                        <a:t>条件</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従来 面積F</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OL 面積F</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従来 箇所F</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OL 箇所F</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箇所F の差</a:t>
                      </a:r>
                    </a:p>
                  </a:txBody>
                  <a:tcPr marL="64008" marR="64008" marT="18288" marB="18288" anchor="ctr">
                    <a:solidFill>
                      <a:srgbClr val="23313C"/>
                    </a:solidFill>
                  </a:tcPr>
                </a:tc>
                <a:extLst>
                  <a:ext uri="{0D108BD9-81ED-4DB2-BD59-A6C34878D82A}">
                    <a16:rowId xmlns:a16="http://schemas.microsoft.com/office/drawing/2014/main" val="10000"/>
                  </a:ext>
                </a:extLst>
              </a:tr>
              <a:tr h="402336">
                <a:tc>
                  <a:txBody>
                    <a:bodyPr/>
                    <a:lstStyle/>
                    <a:p>
                      <a:pPr algn="l"/>
                      <a:r>
                        <a:rPr sz="1100" b="0">
                          <a:solidFill>
                            <a:srgbClr val="23313C"/>
                          </a:solidFill>
                          <a:latin typeface="Meiryo"/>
                          <a:ea typeface="Meiryo"/>
                          <a:cs typeface="Meiryo"/>
                        </a:rPr>
                        <a:t>FinalFusion_SAM_APM（出発点）</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0.6727</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0.6937</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0.6513</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0.6984</a:t>
                      </a:r>
                    </a:p>
                  </a:txBody>
                  <a:tcPr marL="64008" marR="64008" marT="18288" marB="18288" anchor="ctr">
                    <a:solidFill>
                      <a:srgbClr val="FFFFFF"/>
                    </a:solidFill>
                  </a:tcPr>
                </a:tc>
                <a:tc>
                  <a:txBody>
                    <a:bodyPr/>
                    <a:lstStyle/>
                    <a:p>
                      <a:pPr algn="r"/>
                      <a:r>
                        <a:rPr sz="1100" b="1">
                          <a:solidFill>
                            <a:srgbClr val="3D6B4A"/>
                          </a:solidFill>
                          <a:latin typeface="Meiryo"/>
                          <a:ea typeface="Meiryo"/>
                          <a:cs typeface="Meiryo"/>
                        </a:rPr>
                        <a:t>+0.047</a:t>
                      </a:r>
                    </a:p>
                  </a:txBody>
                  <a:tcPr marL="64008" marR="64008" marT="18288" marB="18288" anchor="ctr">
                    <a:solidFill>
                      <a:srgbClr val="FFFFFF"/>
                    </a:solidFill>
                  </a:tcPr>
                </a:tc>
                <a:extLst>
                  <a:ext uri="{0D108BD9-81ED-4DB2-BD59-A6C34878D82A}">
                    <a16:rowId xmlns:a16="http://schemas.microsoft.com/office/drawing/2014/main" val="10001"/>
                  </a:ext>
                </a:extLst>
              </a:tr>
              <a:tr h="402336">
                <a:tc>
                  <a:txBody>
                    <a:bodyPr/>
                    <a:lstStyle/>
                    <a:p>
                      <a:pPr algn="l"/>
                      <a:r>
                        <a:rPr sz="1100" b="0">
                          <a:solidFill>
                            <a:srgbClr val="23313C"/>
                          </a:solidFill>
                          <a:latin typeface="Meiryo"/>
                          <a:ea typeface="Meiryo"/>
                          <a:cs typeface="Meiryo"/>
                        </a:rPr>
                        <a:t>bg_ratio = 0.1</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0.6543</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0.6799</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0.6135</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0.6736</a:t>
                      </a:r>
                    </a:p>
                  </a:txBody>
                  <a:tcPr marL="64008" marR="64008" marT="18288" marB="18288" anchor="ctr">
                    <a:solidFill>
                      <a:srgbClr val="F1F0E8"/>
                    </a:solidFill>
                  </a:tcPr>
                </a:tc>
                <a:tc>
                  <a:txBody>
                    <a:bodyPr/>
                    <a:lstStyle/>
                    <a:p>
                      <a:pPr algn="r"/>
                      <a:r>
                        <a:rPr sz="1100" b="1">
                          <a:solidFill>
                            <a:srgbClr val="3D6B4A"/>
                          </a:solidFill>
                          <a:latin typeface="Meiryo"/>
                          <a:ea typeface="Meiryo"/>
                          <a:cs typeface="Meiryo"/>
                        </a:rPr>
                        <a:t>+0.060</a:t>
                      </a:r>
                    </a:p>
                  </a:txBody>
                  <a:tcPr marL="64008" marR="64008" marT="18288" marB="18288" anchor="ctr">
                    <a:solidFill>
                      <a:srgbClr val="F1F0E8"/>
                    </a:solidFill>
                  </a:tcPr>
                </a:tc>
                <a:extLst>
                  <a:ext uri="{0D108BD9-81ED-4DB2-BD59-A6C34878D82A}">
                    <a16:rowId xmlns:a16="http://schemas.microsoft.com/office/drawing/2014/main" val="10002"/>
                  </a:ext>
                </a:extLst>
              </a:tr>
              <a:tr h="402336">
                <a:tc>
                  <a:txBody>
                    <a:bodyPr/>
                    <a:lstStyle/>
                    <a:p>
                      <a:pPr algn="l"/>
                      <a:r>
                        <a:rPr sz="1100" b="0">
                          <a:solidFill>
                            <a:srgbClr val="23313C"/>
                          </a:solidFill>
                          <a:latin typeface="Meiryo"/>
                          <a:ea typeface="Meiryo"/>
                          <a:cs typeface="Meiryo"/>
                        </a:rPr>
                        <a:t>bg10 + ASPP + ストライド8</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0.6610</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0.6815</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0.6250</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0.6780</a:t>
                      </a:r>
                    </a:p>
                  </a:txBody>
                  <a:tcPr marL="64008" marR="64008" marT="18288" marB="18288" anchor="ctr">
                    <a:solidFill>
                      <a:srgbClr val="FFFFFF"/>
                    </a:solidFill>
                  </a:tcPr>
                </a:tc>
                <a:tc>
                  <a:txBody>
                    <a:bodyPr/>
                    <a:lstStyle/>
                    <a:p>
                      <a:pPr algn="r"/>
                      <a:r>
                        <a:rPr sz="1100" b="1">
                          <a:solidFill>
                            <a:srgbClr val="3D6B4A"/>
                          </a:solidFill>
                          <a:latin typeface="Meiryo"/>
                          <a:ea typeface="Meiryo"/>
                          <a:cs typeface="Meiryo"/>
                        </a:rPr>
                        <a:t>+0.053</a:t>
                      </a:r>
                    </a:p>
                  </a:txBody>
                  <a:tcPr marL="64008" marR="64008"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566928" y="4096512"/>
            <a:ext cx="3657600" cy="548640"/>
          </a:xfrm>
          <a:prstGeom prst="rect">
            <a:avLst/>
          </a:prstGeom>
          <a:noFill/>
        </p:spPr>
        <p:txBody>
          <a:bodyPr wrap="square" lIns="0" tIns="0" rIns="0" bIns="0">
            <a:spAutoFit/>
          </a:bodyPr>
          <a:lstStyle/>
          <a:p>
            <a:pPr algn="l"/>
            <a:r>
              <a:rPr sz="2800" b="1">
                <a:solidFill>
                  <a:srgbClr val="3D6B4A"/>
                </a:solidFill>
                <a:latin typeface="Meiryo"/>
                <a:ea typeface="Meiryo"/>
                <a:cs typeface="Meiryo"/>
              </a:rPr>
              <a:t>+0.047〜+0.060</a:t>
            </a:r>
          </a:p>
        </p:txBody>
      </p:sp>
      <p:sp>
        <p:nvSpPr>
          <p:cNvPr id="8" name="TextBox 7"/>
          <p:cNvSpPr txBox="1"/>
          <p:nvPr/>
        </p:nvSpPr>
        <p:spPr>
          <a:xfrm>
            <a:off x="566928" y="4626864"/>
            <a:ext cx="3657600" cy="548640"/>
          </a:xfrm>
          <a:prstGeom prst="rect">
            <a:avLst/>
          </a:prstGeom>
          <a:noFill/>
        </p:spPr>
        <p:txBody>
          <a:bodyPr wrap="square" lIns="0" tIns="0" rIns="0" bIns="0">
            <a:spAutoFit/>
          </a:bodyPr>
          <a:lstStyle/>
          <a:p>
            <a:pPr algn="l">
              <a:lnSpc>
                <a:spcPct val="130000"/>
              </a:lnSpc>
            </a:pPr>
            <a:r>
              <a:rPr sz="1150" b="0">
                <a:solidFill>
                  <a:srgbClr val="4A5A68"/>
                </a:solidFill>
                <a:latin typeface="Meiryo"/>
                <a:ea typeface="Meiryo"/>
                <a:cs typeface="Meiryo"/>
              </a:rPr>
              <a:t>どの重みでも効く</a:t>
            </a:r>
          </a:p>
        </p:txBody>
      </p:sp>
      <p:sp>
        <p:nvSpPr>
          <p:cNvPr id="9" name="TextBox 8"/>
          <p:cNvSpPr txBox="1"/>
          <p:nvPr/>
        </p:nvSpPr>
        <p:spPr>
          <a:xfrm>
            <a:off x="4407408" y="4096512"/>
            <a:ext cx="3657600" cy="548640"/>
          </a:xfrm>
          <a:prstGeom prst="rect">
            <a:avLst/>
          </a:prstGeom>
          <a:noFill/>
        </p:spPr>
        <p:txBody>
          <a:bodyPr wrap="square" lIns="0" tIns="0" rIns="0" bIns="0">
            <a:spAutoFit/>
          </a:bodyPr>
          <a:lstStyle/>
          <a:p>
            <a:pPr algn="l"/>
            <a:r>
              <a:rPr sz="2800" b="1">
                <a:solidFill>
                  <a:srgbClr val="3D6B4A"/>
                </a:solidFill>
                <a:latin typeface="Meiryo"/>
                <a:ea typeface="Meiryo"/>
                <a:cs typeface="Meiryo"/>
              </a:rPr>
              <a:t>103 / 172</a:t>
            </a:r>
          </a:p>
        </p:txBody>
      </p:sp>
      <p:sp>
        <p:nvSpPr>
          <p:cNvPr id="10" name="TextBox 9"/>
          <p:cNvSpPr txBox="1"/>
          <p:nvPr/>
        </p:nvSpPr>
        <p:spPr>
          <a:xfrm>
            <a:off x="4407408" y="4626864"/>
            <a:ext cx="3657600" cy="548640"/>
          </a:xfrm>
          <a:prstGeom prst="rect">
            <a:avLst/>
          </a:prstGeom>
          <a:noFill/>
        </p:spPr>
        <p:txBody>
          <a:bodyPr wrap="square" lIns="0" tIns="0" rIns="0" bIns="0">
            <a:spAutoFit/>
          </a:bodyPr>
          <a:lstStyle/>
          <a:p>
            <a:pPr algn="l">
              <a:lnSpc>
                <a:spcPct val="130000"/>
              </a:lnSpc>
            </a:pPr>
            <a:r>
              <a:rPr sz="1150" b="0">
                <a:solidFill>
                  <a:srgbClr val="4A5A68"/>
                </a:solidFill>
                <a:latin typeface="Meiryo"/>
                <a:ea typeface="Meiryo"/>
                <a:cs typeface="Meiryo"/>
              </a:rPr>
              <a:t>境界で切れた箇所の救済（59.9%）</a:t>
            </a:r>
          </a:p>
        </p:txBody>
      </p:sp>
      <p:sp>
        <p:nvSpPr>
          <p:cNvPr id="11" name="TextBox 10"/>
          <p:cNvSpPr txBox="1"/>
          <p:nvPr/>
        </p:nvSpPr>
        <p:spPr>
          <a:xfrm>
            <a:off x="8247888" y="4096512"/>
            <a:ext cx="3657600" cy="548640"/>
          </a:xfrm>
          <a:prstGeom prst="rect">
            <a:avLst/>
          </a:prstGeom>
          <a:noFill/>
        </p:spPr>
        <p:txBody>
          <a:bodyPr wrap="square" lIns="0" tIns="0" rIns="0" bIns="0">
            <a:spAutoFit/>
          </a:bodyPr>
          <a:lstStyle/>
          <a:p>
            <a:pPr algn="l"/>
            <a:r>
              <a:rPr sz="2800" b="1">
                <a:solidFill>
                  <a:srgbClr val="23313C"/>
                </a:solidFill>
                <a:latin typeface="Meiryo"/>
                <a:ea typeface="Meiryo"/>
                <a:cs typeface="Meiryo"/>
              </a:rPr>
              <a:t>93.9%</a:t>
            </a:r>
          </a:p>
        </p:txBody>
      </p:sp>
      <p:sp>
        <p:nvSpPr>
          <p:cNvPr id="12" name="TextBox 11"/>
          <p:cNvSpPr txBox="1"/>
          <p:nvPr/>
        </p:nvSpPr>
        <p:spPr>
          <a:xfrm>
            <a:off x="8247888" y="4626864"/>
            <a:ext cx="3657600" cy="548640"/>
          </a:xfrm>
          <a:prstGeom prst="rect">
            <a:avLst/>
          </a:prstGeom>
          <a:noFill/>
        </p:spPr>
        <p:txBody>
          <a:bodyPr wrap="square" lIns="0" tIns="0" rIns="0" bIns="0">
            <a:spAutoFit/>
          </a:bodyPr>
          <a:lstStyle/>
          <a:p>
            <a:pPr algn="l">
              <a:lnSpc>
                <a:spcPct val="130000"/>
              </a:lnSpc>
            </a:pPr>
            <a:r>
              <a:rPr sz="1150" b="0">
                <a:solidFill>
                  <a:srgbClr val="4A5A68"/>
                </a:solidFill>
                <a:latin typeface="Meiryo"/>
                <a:ea typeface="Meiryo"/>
                <a:cs typeface="Meiryo"/>
              </a:rPr>
              <a:t>8近傍が揃うタイル</a:t>
            </a:r>
          </a:p>
        </p:txBody>
      </p:sp>
      <p:sp>
        <p:nvSpPr>
          <p:cNvPr id="13" name="Rounded Rectangle 12"/>
          <p:cNvSpPr/>
          <p:nvPr/>
        </p:nvSpPr>
        <p:spPr>
          <a:xfrm>
            <a:off x="566928" y="5303520"/>
            <a:ext cx="11057839" cy="841248"/>
          </a:xfrm>
          <a:prstGeom prst="roundRect">
            <a:avLst>
              <a:gd name="adj" fmla="val 6000"/>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77824" y="5303520"/>
            <a:ext cx="10436047" cy="841248"/>
          </a:xfrm>
          <a:prstGeom prst="rect">
            <a:avLst/>
          </a:prstGeom>
          <a:noFill/>
        </p:spPr>
        <p:txBody>
          <a:bodyPr wrap="square" lIns="0" tIns="0" rIns="0" bIns="0" anchor="ctr">
            <a:spAutoFit/>
          </a:bodyPr>
          <a:lstStyle/>
          <a:p>
            <a:pPr algn="l">
              <a:lnSpc>
                <a:spcPct val="140000"/>
              </a:lnSpc>
            </a:pPr>
            <a:r>
              <a:rPr sz="1400" b="0">
                <a:solidFill>
                  <a:srgbClr val="FFFFFF"/>
                </a:solidFill>
                <a:latin typeface="Meiryo"/>
                <a:ea typeface="Meiryo"/>
                <a:cs typeface="Meiryo"/>
              </a:rPr>
              <a:t>学習側のどの改良（±0.01）よりも一桁大きく、しかも再学習が要らない。</a:t>
            </a:r>
            <a:r>
              <a:rPr sz="1400" b="1">
                <a:solidFill>
                  <a:srgbClr val="A7BEAE"/>
                </a:solidFill>
                <a:latin typeface="Meiryo"/>
                <a:ea typeface="Meiryo"/>
                <a:cs typeface="Meiryo"/>
              </a:rPr>
              <a:t>　モデルではなくタイルの切り方が最大のボトルネックだった。</a:t>
            </a:r>
          </a:p>
        </p:txBody>
      </p:sp>
      <p:sp>
        <p:nvSpPr>
          <p:cNvPr id="15" name="TextBox 14"/>
          <p:cNvSpPr txBox="1"/>
          <p:nvPr/>
        </p:nvSpPr>
        <p:spPr>
          <a:xfrm>
            <a:off x="566928" y="6272784"/>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広島の全38,148タイルは格子に重複なく載るので、近傍の貼り合わせが成立する。欠けた近傍は中央タイルの鏡像で埋めている。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第5章 ③</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統合のしかたで結果が大きく変わる</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33</a:t>
            </a:r>
          </a:p>
        </p:txBody>
      </p:sp>
      <p:sp>
        <p:nvSpPr>
          <p:cNvPr id="5" name="TextBox 4"/>
          <p:cNvSpPr txBox="1"/>
          <p:nvPr/>
        </p:nvSpPr>
        <p:spPr>
          <a:xfrm>
            <a:off x="566928" y="1335024"/>
            <a:ext cx="11057839" cy="457200"/>
          </a:xfrm>
          <a:prstGeom prst="rect">
            <a:avLst/>
          </a:prstGeom>
          <a:noFill/>
        </p:spPr>
        <p:txBody>
          <a:bodyPr wrap="square" lIns="0" tIns="0" rIns="0" bIns="0">
            <a:spAutoFit/>
          </a:bodyPr>
          <a:lstStyle/>
          <a:p>
            <a:pPr algn="l">
              <a:lnSpc>
                <a:spcPct val="150000"/>
              </a:lnSpc>
            </a:pPr>
            <a:r>
              <a:rPr sz="1300" b="0">
                <a:solidFill>
                  <a:srgbClr val="4A5A68"/>
                </a:solidFill>
                <a:latin typeface="Meiryo"/>
                <a:ea typeface="Meiryo"/>
                <a:cs typeface="Meiryo"/>
              </a:rPr>
              <a:t>9つの窓の予測をどう1枚にまとめるか。ここを誤ると、せっかくの効果が消える。</a:t>
            </a:r>
          </a:p>
        </p:txBody>
      </p:sp>
      <p:graphicFrame>
        <p:nvGraphicFramePr>
          <p:cNvPr id="6" name="Chart 5"/>
          <p:cNvGraphicFramePr>
            <a:graphicFrameLocks noGrp="1"/>
          </p:cNvGraphicFramePr>
          <p:nvPr/>
        </p:nvGraphicFramePr>
        <p:xfrm>
          <a:off x="566928" y="1920240"/>
          <a:ext cx="6035040" cy="3108960"/>
        </p:xfrm>
        <a:graphic>
          <a:graphicData uri="http://schemas.openxmlformats.org/drawingml/2006/chart">
            <c:chart xmlns:c="http://schemas.openxmlformats.org/drawingml/2006/chart" xmlns:r="http://schemas.openxmlformats.org/officeDocument/2006/relationships" r:id="rId2"/>
          </a:graphicData>
        </a:graphic>
      </p:graphicFrame>
      <p:sp>
        <p:nvSpPr>
          <p:cNvPr id="7" name="Rounded Rectangle 6"/>
          <p:cNvSpPr/>
          <p:nvPr/>
        </p:nvSpPr>
        <p:spPr>
          <a:xfrm>
            <a:off x="6830568" y="1920240"/>
            <a:ext cx="4794199" cy="969264"/>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104888" y="2066544"/>
            <a:ext cx="4245559" cy="274320"/>
          </a:xfrm>
          <a:prstGeom prst="rect">
            <a:avLst/>
          </a:prstGeom>
          <a:noFill/>
        </p:spPr>
        <p:txBody>
          <a:bodyPr wrap="square" lIns="0" tIns="0" rIns="0" bIns="0">
            <a:spAutoFit/>
          </a:bodyPr>
          <a:lstStyle/>
          <a:p>
            <a:pPr algn="l"/>
            <a:r>
              <a:rPr sz="1350" b="1">
                <a:solidFill>
                  <a:srgbClr val="B85042"/>
                </a:solidFill>
                <a:latin typeface="Meiryo"/>
                <a:ea typeface="Meiryo"/>
                <a:cs typeface="Meiryo"/>
              </a:rPr>
              <a:t>単純平均</a:t>
            </a:r>
          </a:p>
        </p:txBody>
      </p:sp>
      <p:sp>
        <p:nvSpPr>
          <p:cNvPr id="9" name="TextBox 8"/>
          <p:cNvSpPr txBox="1"/>
          <p:nvPr/>
        </p:nvSpPr>
        <p:spPr>
          <a:xfrm>
            <a:off x="7104888" y="2395728"/>
            <a:ext cx="4245559" cy="420624"/>
          </a:xfrm>
          <a:prstGeom prst="rect">
            <a:avLst/>
          </a:prstGeom>
          <a:noFill/>
        </p:spPr>
        <p:txBody>
          <a:bodyPr wrap="square" lIns="0" tIns="0" rIns="0" bIns="0">
            <a:spAutoFit/>
          </a:bodyPr>
          <a:lstStyle/>
          <a:p>
            <a:pPr algn="l">
              <a:lnSpc>
                <a:spcPct val="140000"/>
              </a:lnSpc>
            </a:pPr>
            <a:r>
              <a:rPr sz="1150" b="0">
                <a:solidFill>
                  <a:srgbClr val="4A5A68"/>
                </a:solidFill>
                <a:latin typeface="Meiryo"/>
                <a:ea typeface="Meiryo"/>
                <a:cs typeface="Meiryo"/>
              </a:rPr>
              <a:t>境界付近の予測が薄まり Recall が落ちる</a:t>
            </a:r>
          </a:p>
        </p:txBody>
      </p:sp>
      <p:sp>
        <p:nvSpPr>
          <p:cNvPr id="10" name="Rounded Rectangle 9"/>
          <p:cNvSpPr/>
          <p:nvPr/>
        </p:nvSpPr>
        <p:spPr>
          <a:xfrm>
            <a:off x="6830568" y="2990088"/>
            <a:ext cx="4794199" cy="969264"/>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104888" y="3136392"/>
            <a:ext cx="4245559" cy="274320"/>
          </a:xfrm>
          <a:prstGeom prst="rect">
            <a:avLst/>
          </a:prstGeom>
          <a:noFill/>
        </p:spPr>
        <p:txBody>
          <a:bodyPr wrap="square" lIns="0" tIns="0" rIns="0" bIns="0">
            <a:spAutoFit/>
          </a:bodyPr>
          <a:lstStyle/>
          <a:p>
            <a:pPr algn="l"/>
            <a:r>
              <a:rPr sz="1350" b="1">
                <a:solidFill>
                  <a:srgbClr val="B85042"/>
                </a:solidFill>
                <a:latin typeface="Meiryo"/>
                <a:ea typeface="Meiryo"/>
                <a:cs typeface="Meiryo"/>
              </a:rPr>
              <a:t>最大</a:t>
            </a:r>
          </a:p>
        </p:txBody>
      </p:sp>
      <p:sp>
        <p:nvSpPr>
          <p:cNvPr id="12" name="TextBox 11"/>
          <p:cNvSpPr txBox="1"/>
          <p:nvPr/>
        </p:nvSpPr>
        <p:spPr>
          <a:xfrm>
            <a:off x="7104888" y="3465576"/>
            <a:ext cx="4245559" cy="420624"/>
          </a:xfrm>
          <a:prstGeom prst="rect">
            <a:avLst/>
          </a:prstGeom>
          <a:noFill/>
        </p:spPr>
        <p:txBody>
          <a:bodyPr wrap="square" lIns="0" tIns="0" rIns="0" bIns="0">
            <a:spAutoFit/>
          </a:bodyPr>
          <a:lstStyle/>
          <a:p>
            <a:pPr algn="l">
              <a:lnSpc>
                <a:spcPct val="140000"/>
              </a:lnSpc>
            </a:pPr>
            <a:r>
              <a:rPr sz="1150" b="0">
                <a:solidFill>
                  <a:srgbClr val="4A5A68"/>
                </a:solidFill>
                <a:latin typeface="Meiryo"/>
                <a:ea typeface="Meiryo"/>
                <a:cs typeface="Meiryo"/>
              </a:rPr>
              <a:t>どれか1窓の誤検出を拾い Precision が落ちる</a:t>
            </a:r>
          </a:p>
        </p:txBody>
      </p:sp>
      <p:sp>
        <p:nvSpPr>
          <p:cNvPr id="13" name="Rounded Rectangle 12"/>
          <p:cNvSpPr/>
          <p:nvPr/>
        </p:nvSpPr>
        <p:spPr>
          <a:xfrm>
            <a:off x="6830568" y="4059935"/>
            <a:ext cx="4794199" cy="969264"/>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104888" y="4206240"/>
            <a:ext cx="4245559" cy="274320"/>
          </a:xfrm>
          <a:prstGeom prst="rect">
            <a:avLst/>
          </a:prstGeom>
          <a:noFill/>
        </p:spPr>
        <p:txBody>
          <a:bodyPr wrap="square" lIns="0" tIns="0" rIns="0" bIns="0">
            <a:spAutoFit/>
          </a:bodyPr>
          <a:lstStyle/>
          <a:p>
            <a:pPr algn="l"/>
            <a:r>
              <a:rPr sz="1350" b="1">
                <a:solidFill>
                  <a:srgbClr val="3D6B4A"/>
                </a:solidFill>
                <a:latin typeface="Meiryo"/>
                <a:ea typeface="Meiryo"/>
                <a:cs typeface="Meiryo"/>
              </a:rPr>
              <a:t>cos 窓（採用）</a:t>
            </a:r>
          </a:p>
        </p:txBody>
      </p:sp>
      <p:sp>
        <p:nvSpPr>
          <p:cNvPr id="15" name="TextBox 14"/>
          <p:cNvSpPr txBox="1"/>
          <p:nvPr/>
        </p:nvSpPr>
        <p:spPr>
          <a:xfrm>
            <a:off x="7104888" y="4535423"/>
            <a:ext cx="4245559" cy="420624"/>
          </a:xfrm>
          <a:prstGeom prst="rect">
            <a:avLst/>
          </a:prstGeom>
          <a:noFill/>
        </p:spPr>
        <p:txBody>
          <a:bodyPr wrap="square" lIns="0" tIns="0" rIns="0" bIns="0">
            <a:spAutoFit/>
          </a:bodyPr>
          <a:lstStyle/>
          <a:p>
            <a:pPr algn="l">
              <a:lnSpc>
                <a:spcPct val="140000"/>
              </a:lnSpc>
            </a:pPr>
            <a:r>
              <a:rPr sz="1150" b="0">
                <a:solidFill>
                  <a:srgbClr val="4A5A68"/>
                </a:solidFill>
                <a:latin typeface="Meiryo"/>
                <a:ea typeface="Meiryo"/>
                <a:cs typeface="Meiryo"/>
              </a:rPr>
              <a:t>中心ほど重く平均する。窓の端の不確かな予測を弱める</a:t>
            </a:r>
          </a:p>
        </p:txBody>
      </p:sp>
      <p:sp>
        <p:nvSpPr>
          <p:cNvPr id="16" name="TextBox 15"/>
          <p:cNvSpPr txBox="1"/>
          <p:nvPr/>
        </p:nvSpPr>
        <p:spPr>
          <a:xfrm>
            <a:off x="566928" y="5266944"/>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この比較は当時のテスト集合（汚染あり）で測ったものなので絶対値は高めに出ているが、規則どうしの大小関係は変わらない。差は 0.047 あり、施策そのものの効果と同じ大きさ。</a:t>
            </a:r>
          </a:p>
        </p:txBody>
      </p:sp>
      <p:sp>
        <p:nvSpPr>
          <p:cNvPr id="17" name="TextBox 16"/>
          <p:cNvSpPr txBox="1"/>
          <p:nvPr/>
        </p:nvSpPr>
        <p:spPr>
          <a:xfrm>
            <a:off x="566928" y="6035040"/>
            <a:ext cx="11057839" cy="457200"/>
          </a:xfrm>
          <a:prstGeom prst="rect">
            <a:avLst/>
          </a:prstGeom>
          <a:noFill/>
        </p:spPr>
        <p:txBody>
          <a:bodyPr wrap="square" lIns="0" tIns="0" rIns="0" bIns="0">
            <a:spAutoFit/>
          </a:bodyPr>
          <a:lstStyle/>
          <a:p>
            <a:pPr algn="l"/>
            <a:r>
              <a:rPr sz="1400" b="1">
                <a:solidFill>
                  <a:srgbClr val="23313C"/>
                </a:solidFill>
                <a:latin typeface="Meiryo"/>
                <a:ea typeface="Meiryo"/>
                <a:cs typeface="Meiryo"/>
              </a:rPr>
              <a:t>「やり方を変える」施策では、ハイパーパラメータ1つが施策の有無と同じだけ効く。</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23313C"/>
        </a:solidFill>
        <a:effectLst/>
      </p:bgPr>
    </p:bg>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A7BEAE"/>
                </a:solidFill>
                <a:latin typeface="Meiryo"/>
                <a:ea typeface="Meiryo"/>
                <a:cs typeface="Meiryo"/>
              </a:rPr>
              <a:t>第 6 章</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FFFFFF"/>
                </a:solidFill>
                <a:latin typeface="Meiryo"/>
                <a:ea typeface="Meiryo"/>
                <a:cs typeface="Meiryo"/>
              </a:rPr>
              <a:t>研究の進め方で学んだこと</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A7BEAE"/>
                </a:solidFill>
                <a:latin typeface="Meiryo"/>
                <a:ea typeface="Meiryo"/>
                <a:cs typeface="Meiryo"/>
              </a:rPr>
              <a:t>34</a:t>
            </a:r>
          </a:p>
        </p:txBody>
      </p:sp>
      <p:sp>
        <p:nvSpPr>
          <p:cNvPr id="5" name="TextBox 4"/>
          <p:cNvSpPr txBox="1"/>
          <p:nvPr/>
        </p:nvSpPr>
        <p:spPr>
          <a:xfrm>
            <a:off x="566928" y="2103120"/>
            <a:ext cx="8680399" cy="1371600"/>
          </a:xfrm>
          <a:prstGeom prst="rect">
            <a:avLst/>
          </a:prstGeom>
          <a:noFill/>
        </p:spPr>
        <p:txBody>
          <a:bodyPr wrap="square" lIns="0" tIns="0" rIns="0" bIns="0">
            <a:spAutoFit/>
          </a:bodyPr>
          <a:lstStyle/>
          <a:p>
            <a:pPr algn="l">
              <a:lnSpc>
                <a:spcPct val="160000"/>
              </a:lnSpc>
            </a:pPr>
            <a:r>
              <a:rPr sz="1900" b="0">
                <a:solidFill>
                  <a:srgbClr val="FFFFFF"/>
                </a:solidFill>
                <a:latin typeface="Meiryo"/>
                <a:ea typeface="Meiryo"/>
                <a:cs typeface="Meiryo"/>
              </a:rPr>
              <a:t>結果そのものと同じくらい大きかったのが、実験の管理のしかた。</a:t>
            </a:r>
          </a:p>
          <a:p>
            <a:pPr algn="l">
              <a:lnSpc>
                <a:spcPct val="160000"/>
              </a:lnSpc>
            </a:pPr>
            <a:r>
              <a:rPr sz="1900" b="0">
                <a:solidFill>
                  <a:srgbClr val="FFFFFF"/>
                </a:solidFill>
                <a:latin typeface="Meiryo"/>
                <a:ea typeface="Meiryo"/>
                <a:cs typeface="Meiryo"/>
              </a:rPr>
              <a:t>途中で、報告していた値が間違っていたことが分かった。</a:t>
            </a:r>
          </a:p>
        </p:txBody>
      </p:sp>
      <p:sp>
        <p:nvSpPr>
          <p:cNvPr id="6" name="TextBox 5"/>
          <p:cNvSpPr txBox="1"/>
          <p:nvPr/>
        </p:nvSpPr>
        <p:spPr>
          <a:xfrm>
            <a:off x="566928" y="4206240"/>
            <a:ext cx="3657600" cy="566928"/>
          </a:xfrm>
          <a:prstGeom prst="rect">
            <a:avLst/>
          </a:prstGeom>
          <a:noFill/>
        </p:spPr>
        <p:txBody>
          <a:bodyPr wrap="square" lIns="0" tIns="0" rIns="0" bIns="0">
            <a:spAutoFit/>
          </a:bodyPr>
          <a:lstStyle/>
          <a:p>
            <a:pPr algn="l"/>
            <a:r>
              <a:rPr sz="3000" b="1">
                <a:solidFill>
                  <a:srgbClr val="A7BEAE"/>
                </a:solidFill>
                <a:latin typeface="Meiryo"/>
                <a:ea typeface="Meiryo"/>
                <a:cs typeface="Meiryo"/>
              </a:rPr>
              <a:t>58.9%</a:t>
            </a:r>
          </a:p>
        </p:txBody>
      </p:sp>
      <p:sp>
        <p:nvSpPr>
          <p:cNvPr id="7" name="TextBox 6"/>
          <p:cNvSpPr txBox="1"/>
          <p:nvPr/>
        </p:nvSpPr>
        <p:spPr>
          <a:xfrm>
            <a:off x="566928" y="4882896"/>
            <a:ext cx="3657600" cy="548640"/>
          </a:xfrm>
          <a:prstGeom prst="rect">
            <a:avLst/>
          </a:prstGeom>
          <a:noFill/>
        </p:spPr>
        <p:txBody>
          <a:bodyPr wrap="square" lIns="0" tIns="0" rIns="0" bIns="0">
            <a:spAutoFit/>
          </a:bodyPr>
          <a:lstStyle/>
          <a:p>
            <a:pPr algn="l">
              <a:lnSpc>
                <a:spcPct val="140000"/>
              </a:lnSpc>
            </a:pPr>
            <a:r>
              <a:rPr sz="1300" b="0">
                <a:solidFill>
                  <a:srgbClr val="FFFFFF"/>
                </a:solidFill>
                <a:latin typeface="Meiryo"/>
                <a:ea typeface="Meiryo"/>
                <a:cs typeface="Meiryo"/>
              </a:rPr>
              <a:t>テスト集合に混ざっていた学習タイル</a:t>
            </a:r>
          </a:p>
        </p:txBody>
      </p:sp>
      <p:sp>
        <p:nvSpPr>
          <p:cNvPr id="8" name="TextBox 7"/>
          <p:cNvSpPr txBox="1"/>
          <p:nvPr/>
        </p:nvSpPr>
        <p:spPr>
          <a:xfrm>
            <a:off x="4407408" y="4206240"/>
            <a:ext cx="3657600" cy="566928"/>
          </a:xfrm>
          <a:prstGeom prst="rect">
            <a:avLst/>
          </a:prstGeom>
          <a:noFill/>
        </p:spPr>
        <p:txBody>
          <a:bodyPr wrap="square" lIns="0" tIns="0" rIns="0" bIns="0">
            <a:spAutoFit/>
          </a:bodyPr>
          <a:lstStyle/>
          <a:p>
            <a:pPr algn="l"/>
            <a:r>
              <a:rPr sz="3000" b="1">
                <a:solidFill>
                  <a:srgbClr val="A7BEAE"/>
                </a:solidFill>
                <a:latin typeface="Meiryo"/>
                <a:ea typeface="Meiryo"/>
                <a:cs typeface="Meiryo"/>
              </a:rPr>
              <a:t>約 0.07</a:t>
            </a:r>
          </a:p>
        </p:txBody>
      </p:sp>
      <p:sp>
        <p:nvSpPr>
          <p:cNvPr id="9" name="TextBox 8"/>
          <p:cNvSpPr txBox="1"/>
          <p:nvPr/>
        </p:nvSpPr>
        <p:spPr>
          <a:xfrm>
            <a:off x="4407408" y="4882896"/>
            <a:ext cx="3657600" cy="548640"/>
          </a:xfrm>
          <a:prstGeom prst="rect">
            <a:avLst/>
          </a:prstGeom>
          <a:noFill/>
        </p:spPr>
        <p:txBody>
          <a:bodyPr wrap="square" lIns="0" tIns="0" rIns="0" bIns="0">
            <a:spAutoFit/>
          </a:bodyPr>
          <a:lstStyle/>
          <a:p>
            <a:pPr algn="l">
              <a:lnSpc>
                <a:spcPct val="140000"/>
              </a:lnSpc>
            </a:pPr>
            <a:r>
              <a:rPr sz="1300" b="0">
                <a:solidFill>
                  <a:srgbClr val="FFFFFF"/>
                </a:solidFill>
                <a:latin typeface="Meiryo"/>
                <a:ea typeface="Meiryo"/>
                <a:cs typeface="Meiryo"/>
              </a:rPr>
              <a:t>過大に出ていた F値</a:t>
            </a:r>
          </a:p>
        </p:txBody>
      </p:sp>
      <p:sp>
        <p:nvSpPr>
          <p:cNvPr id="10" name="TextBox 9"/>
          <p:cNvSpPr txBox="1"/>
          <p:nvPr/>
        </p:nvSpPr>
        <p:spPr>
          <a:xfrm>
            <a:off x="8247888" y="4206240"/>
            <a:ext cx="3657600" cy="566928"/>
          </a:xfrm>
          <a:prstGeom prst="rect">
            <a:avLst/>
          </a:prstGeom>
          <a:noFill/>
        </p:spPr>
        <p:txBody>
          <a:bodyPr wrap="square" lIns="0" tIns="0" rIns="0" bIns="0">
            <a:spAutoFit/>
          </a:bodyPr>
          <a:lstStyle/>
          <a:p>
            <a:pPr algn="l"/>
            <a:r>
              <a:rPr sz="3000" b="1">
                <a:solidFill>
                  <a:srgbClr val="A7BEAE"/>
                </a:solidFill>
                <a:latin typeface="Meiryo"/>
                <a:ea typeface="Meiryo"/>
                <a:cs typeface="Meiryo"/>
              </a:rPr>
              <a:t>2つ</a:t>
            </a:r>
          </a:p>
        </p:txBody>
      </p:sp>
      <p:sp>
        <p:nvSpPr>
          <p:cNvPr id="11" name="TextBox 10"/>
          <p:cNvSpPr txBox="1"/>
          <p:nvPr/>
        </p:nvSpPr>
        <p:spPr>
          <a:xfrm>
            <a:off x="8247888" y="4882896"/>
            <a:ext cx="3657600" cy="548640"/>
          </a:xfrm>
          <a:prstGeom prst="rect">
            <a:avLst/>
          </a:prstGeom>
          <a:noFill/>
        </p:spPr>
        <p:txBody>
          <a:bodyPr wrap="square" lIns="0" tIns="0" rIns="0" bIns="0">
            <a:spAutoFit/>
          </a:bodyPr>
          <a:lstStyle/>
          <a:p>
            <a:pPr algn="l">
              <a:lnSpc>
                <a:spcPct val="140000"/>
              </a:lnSpc>
            </a:pPr>
            <a:r>
              <a:rPr sz="1300" b="0">
                <a:solidFill>
                  <a:srgbClr val="FFFFFF"/>
                </a:solidFill>
                <a:latin typeface="Meiryo"/>
                <a:ea typeface="Meiryo"/>
                <a:cs typeface="Meiryo"/>
              </a:rPr>
              <a:t>ひっくり返った結論</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第6章 ①</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テスト集合の汚染 — 報告値が約0.07 過大だった</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35</a:t>
            </a:r>
          </a:p>
        </p:txBody>
      </p:sp>
      <p:sp>
        <p:nvSpPr>
          <p:cNvPr id="5" name="TextBox 4"/>
          <p:cNvSpPr txBox="1"/>
          <p:nvPr/>
        </p:nvSpPr>
        <p:spPr>
          <a:xfrm>
            <a:off x="566928" y="1316736"/>
            <a:ext cx="11057839" cy="512064"/>
          </a:xfrm>
          <a:prstGeom prst="rect">
            <a:avLst/>
          </a:prstGeom>
          <a:noFill/>
        </p:spPr>
        <p:txBody>
          <a:bodyPr wrap="square" lIns="0" tIns="0" rIns="0" bIns="0">
            <a:spAutoFit/>
          </a:bodyPr>
          <a:lstStyle/>
          <a:p>
            <a:pPr algn="l">
              <a:lnSpc>
                <a:spcPct val="150000"/>
              </a:lnSpc>
            </a:pPr>
            <a:r>
              <a:rPr sz="1300" b="0">
                <a:solidFill>
                  <a:srgbClr val="4A5A68"/>
                </a:solidFill>
                <a:latin typeface="Meiryo"/>
                <a:ea typeface="Meiryo"/>
                <a:cs typeface="Meiryo"/>
              </a:rPr>
              <a:t>学習ノートブックと評価スクリプトで、テスト集合の作り方が食い違っていた。train_test_split は要素数に依存するので、同じ random_state=42 でも別の分割になる。</a:t>
            </a:r>
          </a:p>
        </p:txBody>
      </p:sp>
      <p:graphicFrame>
        <p:nvGraphicFramePr>
          <p:cNvPr id="6" name="Table 5"/>
          <p:cNvGraphicFramePr>
            <a:graphicFrameLocks noGrp="1"/>
          </p:cNvGraphicFramePr>
          <p:nvPr/>
        </p:nvGraphicFramePr>
        <p:xfrm>
          <a:off x="566928" y="1993392"/>
          <a:ext cx="11055096" cy="1207008"/>
        </p:xfrm>
        <a:graphic>
          <a:graphicData uri="http://schemas.openxmlformats.org/drawingml/2006/table">
            <a:tbl>
              <a:tblPr>
                <a:tableStyleId>{5C22544A-7EE6-4342-B048-85BDC9FD1C3A}</a:tableStyleId>
              </a:tblPr>
              <a:tblGrid>
                <a:gridCol w="32918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471416">
                  <a:extLst>
                    <a:ext uri="{9D8B030D-6E8A-4147-A177-3AD203B41FA5}">
                      <a16:colId xmlns:a16="http://schemas.microsoft.com/office/drawing/2014/main" val="20002"/>
                    </a:ext>
                  </a:extLst>
                </a:gridCol>
              </a:tblGrid>
              <a:tr h="365760">
                <a:tc>
                  <a:txBody>
                    <a:bodyPr/>
                    <a:lstStyle/>
                    <a:p>
                      <a:pPr algn="l"/>
                      <a:endParaRPr/>
                    </a:p>
                  </a:txBody>
                  <a:tcPr marL="64008" marR="64008" marT="18288" marB="18288" anchor="ctr">
                    <a:solidFill>
                      <a:srgbClr val="23313C"/>
                    </a:solidFill>
                  </a:tcPr>
                </a:tc>
                <a:tc>
                  <a:txBody>
                    <a:bodyPr/>
                    <a:lstStyle/>
                    <a:p>
                      <a:pPr algn="l"/>
                      <a:r>
                        <a:rPr sz="1100" b="1">
                          <a:solidFill>
                            <a:srgbClr val="FFFFFF"/>
                          </a:solidFill>
                          <a:latin typeface="Meiryo"/>
                          <a:ea typeface="Meiryo"/>
                          <a:cs typeface="Meiryo"/>
                        </a:rPr>
                        <a:t>分割の対象</a:t>
                      </a:r>
                    </a:p>
                  </a:txBody>
                  <a:tcPr marL="64008" marR="64008" marT="18288" marB="18288" anchor="ctr">
                    <a:solidFill>
                      <a:srgbClr val="23313C"/>
                    </a:solidFill>
                  </a:tcPr>
                </a:tc>
                <a:tc>
                  <a:txBody>
                    <a:bodyPr/>
                    <a:lstStyle/>
                    <a:p>
                      <a:pPr algn="l"/>
                      <a:r>
                        <a:rPr sz="1100" b="1">
                          <a:solidFill>
                            <a:srgbClr val="FFFFFF"/>
                          </a:solidFill>
                          <a:latin typeface="Meiryo"/>
                          <a:ea typeface="Meiryo"/>
                          <a:cs typeface="Meiryo"/>
                        </a:rPr>
                        <a:t>できるテスト集合</a:t>
                      </a:r>
                    </a:p>
                  </a:txBody>
                  <a:tcPr marL="64008" marR="64008" marT="18288" marB="18288" anchor="ctr">
                    <a:solidFill>
                      <a:srgbClr val="23313C"/>
                    </a:solidFill>
                  </a:tcPr>
                </a:tc>
                <a:extLst>
                  <a:ext uri="{0D108BD9-81ED-4DB2-BD59-A6C34878D82A}">
                    <a16:rowId xmlns:a16="http://schemas.microsoft.com/office/drawing/2014/main" val="10000"/>
                  </a:ext>
                </a:extLst>
              </a:tr>
              <a:tr h="420624">
                <a:tc>
                  <a:txBody>
                    <a:bodyPr/>
                    <a:lstStyle/>
                    <a:p>
                      <a:pPr algn="l"/>
                      <a:r>
                        <a:rPr sz="1100" b="0">
                          <a:solidFill>
                            <a:srgbClr val="23313C"/>
                          </a:solidFill>
                          <a:latin typeface="Meiryo"/>
                          <a:ea typeface="Meiryo"/>
                          <a:cs typeface="Meiryo"/>
                        </a:rPr>
                        <a:t>学習ノートブック（正）</a:t>
                      </a:r>
                    </a:p>
                  </a:txBody>
                  <a:tcPr marL="64008" marR="64008" marT="18288" marB="18288" anchor="ctr">
                    <a:solidFill>
                      <a:srgbClr val="FFFFFF"/>
                    </a:solidFill>
                  </a:tcPr>
                </a:tc>
                <a:tc>
                  <a:txBody>
                    <a:bodyPr/>
                    <a:lstStyle/>
                    <a:p>
                      <a:pPr algn="l"/>
                      <a:r>
                        <a:rPr sz="1100" b="0">
                          <a:solidFill>
                            <a:srgbClr val="23313C"/>
                          </a:solidFill>
                          <a:latin typeface="Meiryo"/>
                          <a:ea typeface="Meiryo"/>
                          <a:cs typeface="Meiryo"/>
                        </a:rPr>
                        <a:t>背景込み 17,149件</a:t>
                      </a:r>
                    </a:p>
                  </a:txBody>
                  <a:tcPr marL="64008" marR="64008" marT="18288" marB="18288" anchor="ctr">
                    <a:solidFill>
                      <a:srgbClr val="FFFFFF"/>
                    </a:solidFill>
                  </a:tcPr>
                </a:tc>
                <a:tc>
                  <a:txBody>
                    <a:bodyPr/>
                    <a:lstStyle/>
                    <a:p>
                      <a:pPr algn="l"/>
                      <a:r>
                        <a:rPr sz="1100" b="0">
                          <a:solidFill>
                            <a:srgbClr val="23313C"/>
                          </a:solidFill>
                          <a:latin typeface="Meiryo"/>
                          <a:ea typeface="Meiryo"/>
                          <a:cs typeface="Meiryo"/>
                        </a:rPr>
                        <a:t>警戒2,946 + 背景484 = 3,430枚</a:t>
                      </a:r>
                    </a:p>
                  </a:txBody>
                  <a:tcPr marL="64008" marR="64008" marT="18288" marB="18288" anchor="ctr">
                    <a:solidFill>
                      <a:srgbClr val="FFFFFF"/>
                    </a:solidFill>
                  </a:tcPr>
                </a:tc>
                <a:extLst>
                  <a:ext uri="{0D108BD9-81ED-4DB2-BD59-A6C34878D82A}">
                    <a16:rowId xmlns:a16="http://schemas.microsoft.com/office/drawing/2014/main" val="10001"/>
                  </a:ext>
                </a:extLst>
              </a:tr>
              <a:tr h="420624">
                <a:tc>
                  <a:txBody>
                    <a:bodyPr/>
                    <a:lstStyle/>
                    <a:p>
                      <a:pPr algn="l"/>
                      <a:r>
                        <a:rPr sz="1100" b="0">
                          <a:solidFill>
                            <a:srgbClr val="23313C"/>
                          </a:solidFill>
                          <a:latin typeface="Meiryo"/>
                          <a:ea typeface="Meiryo"/>
                          <a:cs typeface="Meiryo"/>
                        </a:rPr>
                        <a:t>評価スクリプト（誤）</a:t>
                      </a:r>
                    </a:p>
                  </a:txBody>
                  <a:tcPr marL="64008" marR="64008" marT="18288" marB="18288" anchor="ctr">
                    <a:solidFill>
                      <a:srgbClr val="F1F0E8"/>
                    </a:solidFill>
                  </a:tcPr>
                </a:tc>
                <a:tc>
                  <a:txBody>
                    <a:bodyPr/>
                    <a:lstStyle/>
                    <a:p>
                      <a:pPr algn="l"/>
                      <a:r>
                        <a:rPr sz="1100" b="1">
                          <a:solidFill>
                            <a:srgbClr val="B85042"/>
                          </a:solidFill>
                          <a:latin typeface="Meiryo"/>
                          <a:ea typeface="Meiryo"/>
                          <a:cs typeface="Meiryo"/>
                        </a:rPr>
                        <a:t>警戒ありのみ 14,816件</a:t>
                      </a:r>
                    </a:p>
                  </a:txBody>
                  <a:tcPr marL="64008" marR="64008" marT="18288" marB="18288" anchor="ctr">
                    <a:solidFill>
                      <a:srgbClr val="F1F0E8"/>
                    </a:solidFill>
                  </a:tcPr>
                </a:tc>
                <a:tc>
                  <a:txBody>
                    <a:bodyPr/>
                    <a:lstStyle/>
                    <a:p>
                      <a:pPr algn="l"/>
                      <a:r>
                        <a:rPr sz="1100" b="1">
                          <a:solidFill>
                            <a:srgbClr val="B85042"/>
                          </a:solidFill>
                          <a:latin typeface="Meiryo"/>
                          <a:ea typeface="Meiryo"/>
                          <a:cs typeface="Meiryo"/>
                        </a:rPr>
                        <a:t>2,964枚</a:t>
                      </a:r>
                    </a:p>
                  </a:txBody>
                  <a:tcPr marL="64008" marR="64008" marT="18288" marB="18288" anchor="ctr">
                    <a:solidFill>
                      <a:srgbClr val="F1F0E8"/>
                    </a:solidFill>
                  </a:tcPr>
                </a:tc>
                <a:extLst>
                  <a:ext uri="{0D108BD9-81ED-4DB2-BD59-A6C34878D82A}">
                    <a16:rowId xmlns:a16="http://schemas.microsoft.com/office/drawing/2014/main" val="10002"/>
                  </a:ext>
                </a:extLst>
              </a:tr>
            </a:tbl>
          </a:graphicData>
        </a:graphic>
      </p:graphicFrame>
      <p:sp>
        <p:nvSpPr>
          <p:cNvPr id="7" name="Rounded Rectangle 6"/>
          <p:cNvSpPr/>
          <p:nvPr/>
        </p:nvSpPr>
        <p:spPr>
          <a:xfrm>
            <a:off x="566928" y="3310128"/>
            <a:ext cx="11057839" cy="804672"/>
          </a:xfrm>
          <a:prstGeom prst="roundRect">
            <a:avLst>
              <a:gd name="adj" fmla="val 6000"/>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77824" y="3310128"/>
            <a:ext cx="10436047" cy="804672"/>
          </a:xfrm>
          <a:prstGeom prst="rect">
            <a:avLst/>
          </a:prstGeom>
          <a:noFill/>
        </p:spPr>
        <p:txBody>
          <a:bodyPr wrap="square" lIns="0" tIns="0" rIns="0" bIns="0" anchor="ctr">
            <a:spAutoFit/>
          </a:bodyPr>
          <a:lstStyle/>
          <a:p>
            <a:pPr algn="l">
              <a:lnSpc>
                <a:spcPct val="140000"/>
              </a:lnSpc>
            </a:pPr>
            <a:r>
              <a:rPr sz="1550" b="0">
                <a:solidFill>
                  <a:srgbClr val="FFFFFF"/>
                </a:solidFill>
                <a:latin typeface="Meiryo"/>
                <a:ea typeface="Meiryo"/>
                <a:cs typeface="Meiryo"/>
              </a:rPr>
              <a:t>結果、評価に使った2,964枚のうち </a:t>
            </a:r>
            <a:r>
              <a:rPr sz="1550" b="1">
                <a:solidFill>
                  <a:srgbClr val="A7BEAE"/>
                </a:solidFill>
                <a:latin typeface="Meiryo"/>
                <a:ea typeface="Meiryo"/>
                <a:cs typeface="Meiryo"/>
              </a:rPr>
              <a:t>1,746枚（58.9%）が学習に使ったタイルだった。</a:t>
            </a:r>
          </a:p>
        </p:txBody>
      </p:sp>
      <p:graphicFrame>
        <p:nvGraphicFramePr>
          <p:cNvPr id="9" name="Table 8"/>
          <p:cNvGraphicFramePr>
            <a:graphicFrameLocks noGrp="1"/>
          </p:cNvGraphicFramePr>
          <p:nvPr/>
        </p:nvGraphicFramePr>
        <p:xfrm>
          <a:off x="566928" y="4352544"/>
          <a:ext cx="6766560" cy="1133856"/>
        </p:xfrm>
        <a:graphic>
          <a:graphicData uri="http://schemas.openxmlformats.org/drawingml/2006/table">
            <a:tbl>
              <a:tblPr>
                <a:tableStyleId>{5C22544A-7EE6-4342-B048-85BDC9FD1C3A}</a:tableStyleId>
              </a:tblPr>
              <a:tblGrid>
                <a:gridCol w="2926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65760">
                <a:tc>
                  <a:txBody>
                    <a:bodyPr/>
                    <a:lstStyle/>
                    <a:p>
                      <a:pPr algn="l"/>
                      <a:r>
                        <a:rPr sz="1100" b="1">
                          <a:solidFill>
                            <a:srgbClr val="FFFFFF"/>
                          </a:solidFill>
                          <a:latin typeface="Meiryo"/>
                          <a:ea typeface="Meiryo"/>
                          <a:cs typeface="Meiryo"/>
                        </a:rPr>
                        <a:t>条件</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訂正前（誤）</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訂正後</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差</a:t>
                      </a:r>
                    </a:p>
                  </a:txBody>
                  <a:tcPr marL="64008" marR="64008" marT="18288" marB="18288" anchor="ctr">
                    <a:solidFill>
                      <a:srgbClr val="23313C"/>
                    </a:solidFill>
                  </a:tcPr>
                </a:tc>
                <a:extLst>
                  <a:ext uri="{0D108BD9-81ED-4DB2-BD59-A6C34878D82A}">
                    <a16:rowId xmlns:a16="http://schemas.microsoft.com/office/drawing/2014/main" val="10000"/>
                  </a:ext>
                </a:extLst>
              </a:tr>
              <a:tr h="384048">
                <a:tc>
                  <a:txBody>
                    <a:bodyPr/>
                    <a:lstStyle/>
                    <a:p>
                      <a:pPr algn="l"/>
                      <a:r>
                        <a:rPr sz="1100" b="0">
                          <a:solidFill>
                            <a:srgbClr val="23313C"/>
                          </a:solidFill>
                          <a:latin typeface="Meiryo"/>
                          <a:ea typeface="Meiryo"/>
                          <a:cs typeface="Meiryo"/>
                        </a:rPr>
                        <a:t>bg_ratio = 0.1</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0.7285</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0.6636</a:t>
                      </a:r>
                    </a:p>
                  </a:txBody>
                  <a:tcPr marL="64008" marR="64008" marT="18288" marB="18288" anchor="ctr">
                    <a:solidFill>
                      <a:srgbClr val="FFFFFF"/>
                    </a:solidFill>
                  </a:tcPr>
                </a:tc>
                <a:tc>
                  <a:txBody>
                    <a:bodyPr/>
                    <a:lstStyle/>
                    <a:p>
                      <a:pPr algn="r"/>
                      <a:r>
                        <a:rPr sz="1100" b="1">
                          <a:solidFill>
                            <a:srgbClr val="B85042"/>
                          </a:solidFill>
                          <a:latin typeface="Meiryo"/>
                          <a:ea typeface="Meiryo"/>
                          <a:cs typeface="Meiryo"/>
                        </a:rPr>
                        <a:t>−0.065</a:t>
                      </a:r>
                    </a:p>
                  </a:txBody>
                  <a:tcPr marL="64008" marR="64008" marT="18288" marB="18288" anchor="ctr">
                    <a:solidFill>
                      <a:srgbClr val="FFFFFF"/>
                    </a:solidFill>
                  </a:tcPr>
                </a:tc>
                <a:extLst>
                  <a:ext uri="{0D108BD9-81ED-4DB2-BD59-A6C34878D82A}">
                    <a16:rowId xmlns:a16="http://schemas.microsoft.com/office/drawing/2014/main" val="10001"/>
                  </a:ext>
                </a:extLst>
              </a:tr>
              <a:tr h="384048">
                <a:tc>
                  <a:txBody>
                    <a:bodyPr/>
                    <a:lstStyle/>
                    <a:p>
                      <a:pPr algn="l"/>
                      <a:r>
                        <a:rPr sz="1100" b="0">
                          <a:solidFill>
                            <a:srgbClr val="23313C"/>
                          </a:solidFill>
                          <a:latin typeface="Meiryo"/>
                          <a:ea typeface="Meiryo"/>
                          <a:cs typeface="Meiryo"/>
                        </a:rPr>
                        <a:t>bg10 + ASPP + ストライド8</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0.7403</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0.6706</a:t>
                      </a:r>
                    </a:p>
                  </a:txBody>
                  <a:tcPr marL="64008" marR="64008" marT="18288" marB="18288" anchor="ctr">
                    <a:solidFill>
                      <a:srgbClr val="F1F0E8"/>
                    </a:solidFill>
                  </a:tcPr>
                </a:tc>
                <a:tc>
                  <a:txBody>
                    <a:bodyPr/>
                    <a:lstStyle/>
                    <a:p>
                      <a:pPr algn="r"/>
                      <a:r>
                        <a:rPr sz="1100" b="1">
                          <a:solidFill>
                            <a:srgbClr val="B85042"/>
                          </a:solidFill>
                          <a:latin typeface="Meiryo"/>
                          <a:ea typeface="Meiryo"/>
                          <a:cs typeface="Meiryo"/>
                        </a:rPr>
                        <a:t>−0.070</a:t>
                      </a:r>
                    </a:p>
                  </a:txBody>
                  <a:tcPr marL="64008" marR="64008" marT="18288" marB="18288" anchor="ctr">
                    <a:solidFill>
                      <a:srgbClr val="F1F0E8"/>
                    </a:solidFill>
                  </a:tcPr>
                </a:tc>
                <a:extLst>
                  <a:ext uri="{0D108BD9-81ED-4DB2-BD59-A6C34878D82A}">
                    <a16:rowId xmlns:a16="http://schemas.microsoft.com/office/drawing/2014/main" val="10002"/>
                  </a:ext>
                </a:extLst>
              </a:tr>
            </a:tbl>
          </a:graphicData>
        </a:graphic>
      </p:graphicFrame>
      <p:sp>
        <p:nvSpPr>
          <p:cNvPr id="10" name="Rounded Rectangle 9"/>
          <p:cNvSpPr/>
          <p:nvPr/>
        </p:nvSpPr>
        <p:spPr>
          <a:xfrm>
            <a:off x="7607808" y="4352544"/>
            <a:ext cx="4016959" cy="1133856"/>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882127" y="4553712"/>
            <a:ext cx="3468319" cy="822960"/>
          </a:xfrm>
          <a:prstGeom prst="rect">
            <a:avLst/>
          </a:prstGeom>
          <a:noFill/>
        </p:spPr>
        <p:txBody>
          <a:bodyPr wrap="square" lIns="0" tIns="0" rIns="0" bIns="0">
            <a:spAutoFit/>
          </a:bodyPr>
          <a:lstStyle/>
          <a:p>
            <a:pPr algn="l">
              <a:lnSpc>
                <a:spcPct val="150000"/>
              </a:lnSpc>
            </a:pPr>
            <a:r>
              <a:rPr sz="1150" b="0">
                <a:solidFill>
                  <a:srgbClr val="4A5A68"/>
                </a:solidFill>
                <a:latin typeface="Meiryo"/>
                <a:ea typeface="Meiryo"/>
                <a:cs typeface="Meiryo"/>
              </a:rPr>
              <a:t>ひっくり返った結論：「bg_ratio が最大の改善」「ストライド8 が唯一 bg10 を超えた」</a:t>
            </a:r>
          </a:p>
        </p:txBody>
      </p:sp>
      <p:sp>
        <p:nvSpPr>
          <p:cNvPr id="12" name="TextBox 11"/>
          <p:cNvSpPr txBox="1"/>
          <p:nvPr/>
        </p:nvSpPr>
        <p:spPr>
          <a:xfrm>
            <a:off x="566928" y="5760720"/>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汚染していた評価 58件を削除し、分割ロジックを修正して全条件を測り直した。まとめ資料も全面改訂した。</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第6章 ②</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再発を防ぐために直したこと</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36</a:t>
            </a:r>
          </a:p>
        </p:txBody>
      </p:sp>
      <p:sp>
        <p:nvSpPr>
          <p:cNvPr id="5" name="Rounded Rectangle 4"/>
          <p:cNvSpPr/>
          <p:nvPr/>
        </p:nvSpPr>
        <p:spPr>
          <a:xfrm>
            <a:off x="566928" y="1371600"/>
            <a:ext cx="11057839" cy="109728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841247" y="1682496"/>
            <a:ext cx="475488" cy="475488"/>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536192" y="1572768"/>
            <a:ext cx="9777679" cy="292608"/>
          </a:xfrm>
          <a:prstGeom prst="rect">
            <a:avLst/>
          </a:prstGeom>
          <a:noFill/>
        </p:spPr>
        <p:txBody>
          <a:bodyPr wrap="square" lIns="0" tIns="0" rIns="0" bIns="0">
            <a:spAutoFit/>
          </a:bodyPr>
          <a:lstStyle/>
          <a:p>
            <a:pPr algn="l"/>
            <a:r>
              <a:rPr sz="1450" b="1">
                <a:solidFill>
                  <a:srgbClr val="23313C"/>
                </a:solidFill>
                <a:latin typeface="Meiryo"/>
                <a:ea typeface="Meiryo"/>
                <a:cs typeface="Meiryo"/>
              </a:rPr>
              <a:t>テスト集合の定義が2か所にあった</a:t>
            </a:r>
          </a:p>
        </p:txBody>
      </p:sp>
      <p:sp>
        <p:nvSpPr>
          <p:cNvPr id="8" name="TextBox 7"/>
          <p:cNvSpPr txBox="1"/>
          <p:nvPr/>
        </p:nvSpPr>
        <p:spPr>
          <a:xfrm>
            <a:off x="1536192" y="1956816"/>
            <a:ext cx="9777679" cy="438912"/>
          </a:xfrm>
          <a:prstGeom prst="rect">
            <a:avLst/>
          </a:prstGeom>
          <a:noFill/>
        </p:spPr>
        <p:txBody>
          <a:bodyPr wrap="square" lIns="0" tIns="0" rIns="0" bIns="0">
            <a:spAutoFit/>
          </a:bodyPr>
          <a:lstStyle/>
          <a:p>
            <a:pPr algn="l">
              <a:lnSpc>
                <a:spcPct val="140000"/>
              </a:lnSpc>
            </a:pPr>
            <a:r>
              <a:rPr sz="1200" b="0">
                <a:solidFill>
                  <a:srgbClr val="4A5A68"/>
                </a:solidFill>
                <a:latin typeface="Meiryo"/>
                <a:ea typeface="Meiryo"/>
                <a:cs typeface="Meiryo"/>
              </a:rPr>
              <a:t>学習ノートブックと評価スクリプトの両方に分割ロジックがあり、片方だけ変えるとずれる。本来は共通ライブラリに1つ置いて両方から呼ぶべき。</a:t>
            </a:r>
          </a:p>
        </p:txBody>
      </p:sp>
      <p:sp>
        <p:nvSpPr>
          <p:cNvPr id="9" name="Rounded Rectangle 8"/>
          <p:cNvSpPr/>
          <p:nvPr/>
        </p:nvSpPr>
        <p:spPr>
          <a:xfrm>
            <a:off x="566928" y="2560320"/>
            <a:ext cx="11057839" cy="109728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841247" y="2871215"/>
            <a:ext cx="475488" cy="475488"/>
          </a:xfrm>
          <a:prstGeom prst="ellipse">
            <a:avLst/>
          </a:prstGeom>
          <a:solidFill>
            <a:srgbClr val="C892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1536192" y="2761488"/>
            <a:ext cx="9777679" cy="292608"/>
          </a:xfrm>
          <a:prstGeom prst="rect">
            <a:avLst/>
          </a:prstGeom>
          <a:noFill/>
        </p:spPr>
        <p:txBody>
          <a:bodyPr wrap="square" lIns="0" tIns="0" rIns="0" bIns="0">
            <a:spAutoFit/>
          </a:bodyPr>
          <a:lstStyle/>
          <a:p>
            <a:pPr algn="l"/>
            <a:r>
              <a:rPr sz="1450" b="1">
                <a:solidFill>
                  <a:srgbClr val="23313C"/>
                </a:solidFill>
                <a:latin typeface="Meiryo"/>
                <a:ea typeface="Meiryo"/>
                <a:cs typeface="Meiryo"/>
              </a:rPr>
              <a:t>config が効いていなかった</a:t>
            </a:r>
          </a:p>
        </p:txBody>
      </p:sp>
      <p:sp>
        <p:nvSpPr>
          <p:cNvPr id="12" name="TextBox 11"/>
          <p:cNvSpPr txBox="1"/>
          <p:nvPr/>
        </p:nvSpPr>
        <p:spPr>
          <a:xfrm>
            <a:off x="1536192" y="3145536"/>
            <a:ext cx="9777679" cy="438912"/>
          </a:xfrm>
          <a:prstGeom prst="rect">
            <a:avLst/>
          </a:prstGeom>
          <a:noFill/>
        </p:spPr>
        <p:txBody>
          <a:bodyPr wrap="square" lIns="0" tIns="0" rIns="0" bIns="0">
            <a:spAutoFit/>
          </a:bodyPr>
          <a:lstStyle/>
          <a:p>
            <a:pPr algn="l">
              <a:lnSpc>
                <a:spcPct val="140000"/>
              </a:lnSpc>
            </a:pPr>
            <a:r>
              <a:rPr sz="1200" b="0">
                <a:solidFill>
                  <a:srgbClr val="4A5A68"/>
                </a:solidFill>
                <a:latin typeface="Meiryo"/>
                <a:ea typeface="Meiryo"/>
                <a:cs typeface="Meiryo"/>
              </a:rPr>
              <a:t>エポック数と bg_ratio がノートブックに直書きされており、設定ファイルの値が無視されていた。設定から読むよう全ノートブックを修正。</a:t>
            </a:r>
          </a:p>
        </p:txBody>
      </p:sp>
      <p:sp>
        <p:nvSpPr>
          <p:cNvPr id="13" name="Rounded Rectangle 12"/>
          <p:cNvSpPr/>
          <p:nvPr/>
        </p:nvSpPr>
        <p:spPr>
          <a:xfrm>
            <a:off x="566928" y="3749039"/>
            <a:ext cx="11057839" cy="109728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841247" y="4059935"/>
            <a:ext cx="475488" cy="475488"/>
          </a:xfrm>
          <a:prstGeom prst="ellipse">
            <a:avLst/>
          </a:prstGeom>
          <a:solidFill>
            <a:srgbClr val="3D6B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1536192" y="3950207"/>
            <a:ext cx="9777679" cy="292608"/>
          </a:xfrm>
          <a:prstGeom prst="rect">
            <a:avLst/>
          </a:prstGeom>
          <a:noFill/>
        </p:spPr>
        <p:txBody>
          <a:bodyPr wrap="square" lIns="0" tIns="0" rIns="0" bIns="0">
            <a:spAutoFit/>
          </a:bodyPr>
          <a:lstStyle/>
          <a:p>
            <a:pPr algn="l"/>
            <a:r>
              <a:rPr sz="1450" b="1">
                <a:solidFill>
                  <a:srgbClr val="23313C"/>
                </a:solidFill>
                <a:latin typeface="Meiryo"/>
                <a:ea typeface="Meiryo"/>
                <a:cs typeface="Meiryo"/>
              </a:rPr>
              <a:t>結果を1件1ファイルで残す形にした</a:t>
            </a:r>
          </a:p>
        </p:txBody>
      </p:sp>
      <p:sp>
        <p:nvSpPr>
          <p:cNvPr id="16" name="TextBox 15"/>
          <p:cNvSpPr txBox="1"/>
          <p:nvPr/>
        </p:nvSpPr>
        <p:spPr>
          <a:xfrm>
            <a:off x="1536192" y="4334255"/>
            <a:ext cx="9777679" cy="438912"/>
          </a:xfrm>
          <a:prstGeom prst="rect">
            <a:avLst/>
          </a:prstGeom>
          <a:noFill/>
        </p:spPr>
        <p:txBody>
          <a:bodyPr wrap="square" lIns="0" tIns="0" rIns="0" bIns="0">
            <a:spAutoFit/>
          </a:bodyPr>
          <a:lstStyle/>
          <a:p>
            <a:pPr algn="l">
              <a:lnSpc>
                <a:spcPct val="140000"/>
              </a:lnSpc>
            </a:pPr>
            <a:r>
              <a:rPr sz="1200" b="0">
                <a:solidFill>
                  <a:srgbClr val="4A5A68"/>
                </a:solidFill>
                <a:latin typeface="Meiryo"/>
                <a:ea typeface="Meiryo"/>
                <a:cs typeface="Meiryo"/>
              </a:rPr>
              <a:t>条件・機械・日時・テスト集合・評価方式を1件ごとに JSON で保存し、そこから表を組み立てる。いま 614件。重複 ID を検査する手順も入れた。</a:t>
            </a:r>
          </a:p>
        </p:txBody>
      </p:sp>
      <p:sp>
        <p:nvSpPr>
          <p:cNvPr id="17" name="Rounded Rectangle 16"/>
          <p:cNvSpPr/>
          <p:nvPr/>
        </p:nvSpPr>
        <p:spPr>
          <a:xfrm>
            <a:off x="566928" y="4937759"/>
            <a:ext cx="11057839" cy="109728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841247" y="5248655"/>
            <a:ext cx="475488" cy="475488"/>
          </a:xfrm>
          <a:prstGeom prst="ellipse">
            <a:avLst/>
          </a:prstGeom>
          <a:solidFill>
            <a:srgbClr val="3D6B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TextBox 18"/>
          <p:cNvSpPr txBox="1"/>
          <p:nvPr/>
        </p:nvSpPr>
        <p:spPr>
          <a:xfrm>
            <a:off x="1536192" y="5138927"/>
            <a:ext cx="9777679" cy="292608"/>
          </a:xfrm>
          <a:prstGeom prst="rect">
            <a:avLst/>
          </a:prstGeom>
          <a:noFill/>
        </p:spPr>
        <p:txBody>
          <a:bodyPr wrap="square" lIns="0" tIns="0" rIns="0" bIns="0">
            <a:spAutoFit/>
          </a:bodyPr>
          <a:lstStyle/>
          <a:p>
            <a:pPr algn="l"/>
            <a:r>
              <a:rPr sz="1450" b="1">
                <a:solidFill>
                  <a:srgbClr val="23313C"/>
                </a:solidFill>
                <a:latin typeface="Meiryo"/>
                <a:ea typeface="Meiryo"/>
                <a:cs typeface="Meiryo"/>
              </a:rPr>
              <a:t>早期終了を入れた</a:t>
            </a:r>
          </a:p>
        </p:txBody>
      </p:sp>
      <p:sp>
        <p:nvSpPr>
          <p:cNvPr id="20" name="TextBox 19"/>
          <p:cNvSpPr txBox="1"/>
          <p:nvPr/>
        </p:nvSpPr>
        <p:spPr>
          <a:xfrm>
            <a:off x="1536192" y="5522975"/>
            <a:ext cx="9777679" cy="438912"/>
          </a:xfrm>
          <a:prstGeom prst="rect">
            <a:avLst/>
          </a:prstGeom>
          <a:noFill/>
        </p:spPr>
        <p:txBody>
          <a:bodyPr wrap="square" lIns="0" tIns="0" rIns="0" bIns="0">
            <a:spAutoFit/>
          </a:bodyPr>
          <a:lstStyle/>
          <a:p>
            <a:pPr algn="l">
              <a:lnSpc>
                <a:spcPct val="140000"/>
              </a:lnSpc>
            </a:pPr>
            <a:r>
              <a:rPr sz="1200" b="0">
                <a:solidFill>
                  <a:srgbClr val="4A5A68"/>
                </a:solidFill>
                <a:latin typeface="Meiryo"/>
                <a:ea typeface="Meiryo"/>
                <a:cs typeface="Meiryo"/>
              </a:rPr>
              <a:t>最良エポックは 41〜73 だった。1000エポック回していた時間の8割以上が無駄。</a:t>
            </a:r>
          </a:p>
        </p:txBody>
      </p:sp>
      <p:sp>
        <p:nvSpPr>
          <p:cNvPr id="21" name="TextBox 20"/>
          <p:cNvSpPr txBox="1"/>
          <p:nvPr/>
        </p:nvSpPr>
        <p:spPr>
          <a:xfrm>
            <a:off x="566928" y="6144768"/>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2台のPC（Ubuntu / Windows）でブランチを分けて並行に学習し、PR 経由で統合する運用も整えた。重みは外部SSDに置き、リポジトリには入れない。</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総括</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学習側の施策 — 出発点 0.6727 / 0.6506 を超えたか</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37</a:t>
            </a:r>
          </a:p>
        </p:txBody>
      </p:sp>
      <p:graphicFrame>
        <p:nvGraphicFramePr>
          <p:cNvPr id="5" name="Table 4"/>
          <p:cNvGraphicFramePr>
            <a:graphicFrameLocks noGrp="1"/>
          </p:cNvGraphicFramePr>
          <p:nvPr/>
        </p:nvGraphicFramePr>
        <p:xfrm>
          <a:off x="566928" y="1335024"/>
          <a:ext cx="11055096" cy="3438144"/>
        </p:xfrm>
        <a:graphic>
          <a:graphicData uri="http://schemas.openxmlformats.org/drawingml/2006/table">
            <a:tbl>
              <a:tblPr>
                <a:tableStyleId>{5C22544A-7EE6-4342-B048-85BDC9FD1C3A}</a:tableStyleId>
              </a:tblPr>
              <a:tblGrid>
                <a:gridCol w="36576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45336">
                  <a:extLst>
                    <a:ext uri="{9D8B030D-6E8A-4147-A177-3AD203B41FA5}">
                      <a16:colId xmlns:a16="http://schemas.microsoft.com/office/drawing/2014/main" val="20004"/>
                    </a:ext>
                  </a:extLst>
                </a:gridCol>
              </a:tblGrid>
              <a:tr h="365760">
                <a:tc>
                  <a:txBody>
                    <a:bodyPr/>
                    <a:lstStyle/>
                    <a:p>
                      <a:pPr algn="l"/>
                      <a:r>
                        <a:rPr sz="1100" b="1">
                          <a:solidFill>
                            <a:srgbClr val="FFFFFF"/>
                          </a:solidFill>
                          <a:latin typeface="Meiryo"/>
                          <a:ea typeface="Meiryo"/>
                          <a:cs typeface="Meiryo"/>
                        </a:rPr>
                        <a:t>施策</a:t>
                      </a:r>
                    </a:p>
                  </a:txBody>
                  <a:tcPr marL="64008" marR="64008" marT="18288" marB="18288" anchor="ctr">
                    <a:solidFill>
                      <a:srgbClr val="23313C"/>
                    </a:solidFill>
                  </a:tcPr>
                </a:tc>
                <a:tc>
                  <a:txBody>
                    <a:bodyPr/>
                    <a:lstStyle/>
                    <a:p>
                      <a:pPr algn="l"/>
                      <a:r>
                        <a:rPr sz="1100" b="1">
                          <a:solidFill>
                            <a:srgbClr val="FFFFFF"/>
                          </a:solidFill>
                          <a:latin typeface="Meiryo"/>
                          <a:ea typeface="Meiryo"/>
                          <a:cs typeface="Meiryo"/>
                        </a:rPr>
                        <a:t>触った場所</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広島 面積F</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広島 箇所F</a:t>
                      </a:r>
                    </a:p>
                  </a:txBody>
                  <a:tcPr marL="64008" marR="64008" marT="18288" marB="18288" anchor="ctr">
                    <a:solidFill>
                      <a:srgbClr val="23313C"/>
                    </a:solidFill>
                  </a:tcPr>
                </a:tc>
                <a:tc>
                  <a:txBody>
                    <a:bodyPr/>
                    <a:lstStyle/>
                    <a:p>
                      <a:pPr algn="r"/>
                      <a:r>
                        <a:rPr sz="1100" b="1">
                          <a:solidFill>
                            <a:srgbClr val="FFFFFF"/>
                          </a:solidFill>
                          <a:latin typeface="Meiryo"/>
                          <a:ea typeface="Meiryo"/>
                          <a:cs typeface="Meiryo"/>
                        </a:rPr>
                        <a:t>判定</a:t>
                      </a:r>
                    </a:p>
                  </a:txBody>
                  <a:tcPr marL="64008" marR="64008" marT="18288" marB="18288" anchor="ctr">
                    <a:solidFill>
                      <a:srgbClr val="23313C"/>
                    </a:solidFill>
                  </a:tcPr>
                </a:tc>
                <a:extLst>
                  <a:ext uri="{0D108BD9-81ED-4DB2-BD59-A6C34878D82A}">
                    <a16:rowId xmlns:a16="http://schemas.microsoft.com/office/drawing/2014/main" val="10000"/>
                  </a:ext>
                </a:extLst>
              </a:tr>
              <a:tr h="384048">
                <a:tc>
                  <a:txBody>
                    <a:bodyPr/>
                    <a:lstStyle/>
                    <a:p>
                      <a:pPr algn="l"/>
                      <a:r>
                        <a:rPr sz="1100" b="0">
                          <a:solidFill>
                            <a:srgbClr val="23313C"/>
                          </a:solidFill>
                          <a:latin typeface="Meiryo"/>
                          <a:ea typeface="Meiryo"/>
                          <a:cs typeface="Meiryo"/>
                        </a:rPr>
                        <a:t>データ拡張</a:t>
                      </a:r>
                    </a:p>
                  </a:txBody>
                  <a:tcPr marL="64008" marR="64008" marT="18288" marB="18288" anchor="ctr">
                    <a:solidFill>
                      <a:srgbClr val="FFFFFF"/>
                    </a:solidFill>
                  </a:tcPr>
                </a:tc>
                <a:tc>
                  <a:txBody>
                    <a:bodyPr/>
                    <a:lstStyle/>
                    <a:p>
                      <a:pPr algn="l"/>
                      <a:r>
                        <a:rPr sz="1100" b="0">
                          <a:solidFill>
                            <a:srgbClr val="23313C"/>
                          </a:solidFill>
                          <a:latin typeface="Meiryo"/>
                          <a:ea typeface="Meiryo"/>
                          <a:cs typeface="Meiryo"/>
                        </a:rPr>
                        <a:t>入力（前処理）</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0.6974</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0.6642</a:t>
                      </a:r>
                    </a:p>
                  </a:txBody>
                  <a:tcPr marL="64008" marR="64008" marT="18288" marB="18288" anchor="ctr">
                    <a:solidFill>
                      <a:srgbClr val="FFFFFF"/>
                    </a:solidFill>
                  </a:tcPr>
                </a:tc>
                <a:tc>
                  <a:txBody>
                    <a:bodyPr/>
                    <a:lstStyle/>
                    <a:p>
                      <a:pPr algn="r"/>
                      <a:r>
                        <a:rPr sz="1100" b="1">
                          <a:solidFill>
                            <a:srgbClr val="3D6B4A"/>
                          </a:solidFill>
                          <a:latin typeface="Meiryo"/>
                          <a:ea typeface="Meiryo"/>
                          <a:cs typeface="Meiryo"/>
                        </a:rPr>
                        <a:t>○ +0.025</a:t>
                      </a:r>
                    </a:p>
                  </a:txBody>
                  <a:tcPr marL="64008" marR="64008" marT="18288" marB="18288" anchor="ctr">
                    <a:solidFill>
                      <a:srgbClr val="FFFFFF"/>
                    </a:solidFill>
                  </a:tcPr>
                </a:tc>
                <a:extLst>
                  <a:ext uri="{0D108BD9-81ED-4DB2-BD59-A6C34878D82A}">
                    <a16:rowId xmlns:a16="http://schemas.microsoft.com/office/drawing/2014/main" val="10001"/>
                  </a:ext>
                </a:extLst>
              </a:tr>
              <a:tr h="384048">
                <a:tc>
                  <a:txBody>
                    <a:bodyPr/>
                    <a:lstStyle/>
                    <a:p>
                      <a:pPr algn="l"/>
                      <a:r>
                        <a:rPr sz="1100" b="0">
                          <a:solidFill>
                            <a:srgbClr val="23313C"/>
                          </a:solidFill>
                          <a:latin typeface="Meiryo"/>
                          <a:ea typeface="Meiryo"/>
                          <a:cs typeface="Meiryo"/>
                        </a:rPr>
                        <a:t>監督Attention ブランチ別</a:t>
                      </a:r>
                    </a:p>
                  </a:txBody>
                  <a:tcPr marL="64008" marR="64008" marT="18288" marB="18288" anchor="ctr">
                    <a:solidFill>
                      <a:srgbClr val="F1F0E8"/>
                    </a:solidFill>
                  </a:tcPr>
                </a:tc>
                <a:tc>
                  <a:txBody>
                    <a:bodyPr/>
                    <a:lstStyle/>
                    <a:p>
                      <a:pPr algn="l"/>
                      <a:r>
                        <a:rPr sz="1100" b="0">
                          <a:solidFill>
                            <a:srgbClr val="23313C"/>
                          </a:solidFill>
                          <a:latin typeface="Meiryo"/>
                          <a:ea typeface="Meiryo"/>
                          <a:cs typeface="Meiryo"/>
                        </a:rPr>
                        <a:t>スキップ接続</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0.6776</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0.6523</a:t>
                      </a:r>
                    </a:p>
                  </a:txBody>
                  <a:tcPr marL="64008" marR="64008" marT="18288" marB="18288" anchor="ctr">
                    <a:solidFill>
                      <a:srgbClr val="F1F0E8"/>
                    </a:solidFill>
                  </a:tcPr>
                </a:tc>
                <a:tc>
                  <a:txBody>
                    <a:bodyPr/>
                    <a:lstStyle/>
                    <a:p>
                      <a:pPr algn="r"/>
                      <a:r>
                        <a:rPr sz="1100" b="1">
                          <a:solidFill>
                            <a:srgbClr val="C8923E"/>
                          </a:solidFill>
                          <a:latin typeface="Meiryo"/>
                          <a:ea typeface="Meiryo"/>
                          <a:cs typeface="Meiryo"/>
                        </a:rPr>
                        <a:t>△ +0.005</a:t>
                      </a:r>
                    </a:p>
                  </a:txBody>
                  <a:tcPr marL="64008" marR="64008" marT="18288" marB="18288" anchor="ctr">
                    <a:solidFill>
                      <a:srgbClr val="F1F0E8"/>
                    </a:solidFill>
                  </a:tcPr>
                </a:tc>
                <a:extLst>
                  <a:ext uri="{0D108BD9-81ED-4DB2-BD59-A6C34878D82A}">
                    <a16:rowId xmlns:a16="http://schemas.microsoft.com/office/drawing/2014/main" val="10002"/>
                  </a:ext>
                </a:extLst>
              </a:tr>
              <a:tr h="384048">
                <a:tc>
                  <a:txBody>
                    <a:bodyPr/>
                    <a:lstStyle/>
                    <a:p>
                      <a:pPr algn="l"/>
                      <a:r>
                        <a:rPr sz="1100" b="0">
                          <a:solidFill>
                            <a:srgbClr val="23313C"/>
                          </a:solidFill>
                          <a:latin typeface="Meiryo"/>
                          <a:ea typeface="Meiryo"/>
                          <a:cs typeface="Meiryo"/>
                        </a:rPr>
                        <a:t>箇所正規化損失 p=0.5</a:t>
                      </a:r>
                    </a:p>
                  </a:txBody>
                  <a:tcPr marL="64008" marR="64008" marT="18288" marB="18288" anchor="ctr">
                    <a:solidFill>
                      <a:srgbClr val="FFFFFF"/>
                    </a:solidFill>
                  </a:tcPr>
                </a:tc>
                <a:tc>
                  <a:txBody>
                    <a:bodyPr/>
                    <a:lstStyle/>
                    <a:p>
                      <a:pPr algn="l"/>
                      <a:r>
                        <a:rPr sz="1100" b="0">
                          <a:solidFill>
                            <a:srgbClr val="23313C"/>
                          </a:solidFill>
                          <a:latin typeface="Meiryo"/>
                          <a:ea typeface="Meiryo"/>
                          <a:cs typeface="Meiryo"/>
                        </a:rPr>
                        <a:t>損失関数</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0.6763</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0.6596</a:t>
                      </a:r>
                    </a:p>
                  </a:txBody>
                  <a:tcPr marL="64008" marR="64008" marT="18288" marB="18288" anchor="ctr">
                    <a:solidFill>
                      <a:srgbClr val="FFFFFF"/>
                    </a:solidFill>
                  </a:tcPr>
                </a:tc>
                <a:tc>
                  <a:txBody>
                    <a:bodyPr/>
                    <a:lstStyle/>
                    <a:p>
                      <a:pPr algn="r"/>
                      <a:r>
                        <a:rPr sz="1100" b="1">
                          <a:solidFill>
                            <a:srgbClr val="C8923E"/>
                          </a:solidFill>
                          <a:latin typeface="Meiryo"/>
                          <a:ea typeface="Meiryo"/>
                          <a:cs typeface="Meiryo"/>
                        </a:rPr>
                        <a:t>△ +0.004</a:t>
                      </a:r>
                    </a:p>
                  </a:txBody>
                  <a:tcPr marL="64008" marR="64008" marT="18288" marB="18288" anchor="ctr">
                    <a:solidFill>
                      <a:srgbClr val="FFFFFF"/>
                    </a:solidFill>
                  </a:tcPr>
                </a:tc>
                <a:extLst>
                  <a:ext uri="{0D108BD9-81ED-4DB2-BD59-A6C34878D82A}">
                    <a16:rowId xmlns:a16="http://schemas.microsoft.com/office/drawing/2014/main" val="10003"/>
                  </a:ext>
                </a:extLst>
              </a:tr>
              <a:tr h="384048">
                <a:tc>
                  <a:txBody>
                    <a:bodyPr/>
                    <a:lstStyle/>
                    <a:p>
                      <a:pPr algn="l"/>
                      <a:r>
                        <a:rPr sz="1100" b="0">
                          <a:solidFill>
                            <a:srgbClr val="23313C"/>
                          </a:solidFill>
                          <a:latin typeface="Meiryo"/>
                          <a:ea typeface="Meiryo"/>
                          <a:cs typeface="Meiryo"/>
                        </a:rPr>
                        <a:t>ASPP</a:t>
                      </a:r>
                    </a:p>
                  </a:txBody>
                  <a:tcPr marL="64008" marR="64008" marT="18288" marB="18288" anchor="ctr">
                    <a:solidFill>
                      <a:srgbClr val="F1F0E8"/>
                    </a:solidFill>
                  </a:tcPr>
                </a:tc>
                <a:tc>
                  <a:txBody>
                    <a:bodyPr/>
                    <a:lstStyle/>
                    <a:p>
                      <a:pPr algn="l"/>
                      <a:r>
                        <a:rPr sz="1100" b="0">
                          <a:solidFill>
                            <a:srgbClr val="23313C"/>
                          </a:solidFill>
                          <a:latin typeface="Meiryo"/>
                          <a:ea typeface="Meiryo"/>
                          <a:cs typeface="Meiryo"/>
                        </a:rPr>
                        <a:t>スキップ接続</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0.6730</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0.6327</a:t>
                      </a:r>
                    </a:p>
                  </a:txBody>
                  <a:tcPr marL="64008" marR="64008" marT="18288" marB="18288" anchor="ctr">
                    <a:solidFill>
                      <a:srgbClr val="F1F0E8"/>
                    </a:solidFill>
                  </a:tcPr>
                </a:tc>
                <a:tc>
                  <a:txBody>
                    <a:bodyPr/>
                    <a:lstStyle/>
                    <a:p>
                      <a:pPr algn="r"/>
                      <a:r>
                        <a:rPr sz="1100" b="1">
                          <a:solidFill>
                            <a:srgbClr val="4A5A68"/>
                          </a:solidFill>
                          <a:latin typeface="Meiryo"/>
                          <a:ea typeface="Meiryo"/>
                          <a:cs typeface="Meiryo"/>
                        </a:rPr>
                        <a:t>× ±0.000</a:t>
                      </a:r>
                    </a:p>
                  </a:txBody>
                  <a:tcPr marL="64008" marR="64008" marT="18288" marB="18288" anchor="ctr">
                    <a:solidFill>
                      <a:srgbClr val="F1F0E8"/>
                    </a:solidFill>
                  </a:tcPr>
                </a:tc>
                <a:extLst>
                  <a:ext uri="{0D108BD9-81ED-4DB2-BD59-A6C34878D82A}">
                    <a16:rowId xmlns:a16="http://schemas.microsoft.com/office/drawing/2014/main" val="10004"/>
                  </a:ext>
                </a:extLst>
              </a:tr>
              <a:tr h="384048">
                <a:tc>
                  <a:txBody>
                    <a:bodyPr/>
                    <a:lstStyle/>
                    <a:p>
                      <a:pPr algn="l"/>
                      <a:r>
                        <a:rPr sz="1100" b="0">
                          <a:solidFill>
                            <a:srgbClr val="23313C"/>
                          </a:solidFill>
                          <a:latin typeface="Meiryo"/>
                          <a:ea typeface="Meiryo"/>
                          <a:cs typeface="Meiryo"/>
                        </a:rPr>
                        <a:t>出力ストライド 8</a:t>
                      </a:r>
                    </a:p>
                  </a:txBody>
                  <a:tcPr marL="64008" marR="64008" marT="18288" marB="18288" anchor="ctr">
                    <a:solidFill>
                      <a:srgbClr val="FFFFFF"/>
                    </a:solidFill>
                  </a:tcPr>
                </a:tc>
                <a:tc>
                  <a:txBody>
                    <a:bodyPr/>
                    <a:lstStyle/>
                    <a:p>
                      <a:pPr algn="l"/>
                      <a:r>
                        <a:rPr sz="1100" b="0">
                          <a:solidFill>
                            <a:srgbClr val="23313C"/>
                          </a:solidFill>
                          <a:latin typeface="Meiryo"/>
                          <a:ea typeface="Meiryo"/>
                          <a:cs typeface="Meiryo"/>
                        </a:rPr>
                        <a:t>ボトルネック</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0.6706</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0.6394</a:t>
                      </a:r>
                    </a:p>
                  </a:txBody>
                  <a:tcPr marL="64008" marR="64008" marT="18288" marB="18288" anchor="ctr">
                    <a:solidFill>
                      <a:srgbClr val="FFFFFF"/>
                    </a:solidFill>
                  </a:tcPr>
                </a:tc>
                <a:tc>
                  <a:txBody>
                    <a:bodyPr/>
                    <a:lstStyle/>
                    <a:p>
                      <a:pPr algn="r"/>
                      <a:r>
                        <a:rPr sz="1100" b="1">
                          <a:solidFill>
                            <a:srgbClr val="B85042"/>
                          </a:solidFill>
                          <a:latin typeface="Meiryo"/>
                          <a:ea typeface="Meiryo"/>
                          <a:cs typeface="Meiryo"/>
                        </a:rPr>
                        <a:t>× −0.002</a:t>
                      </a:r>
                    </a:p>
                  </a:txBody>
                  <a:tcPr marL="64008" marR="64008" marT="18288" marB="18288" anchor="ctr">
                    <a:solidFill>
                      <a:srgbClr val="FFFFFF"/>
                    </a:solidFill>
                  </a:tcPr>
                </a:tc>
                <a:extLst>
                  <a:ext uri="{0D108BD9-81ED-4DB2-BD59-A6C34878D82A}">
                    <a16:rowId xmlns:a16="http://schemas.microsoft.com/office/drawing/2014/main" val="10005"/>
                  </a:ext>
                </a:extLst>
              </a:tr>
              <a:tr h="384048">
                <a:tc>
                  <a:txBody>
                    <a:bodyPr/>
                    <a:lstStyle/>
                    <a:p>
                      <a:pPr algn="l"/>
                      <a:r>
                        <a:rPr sz="1100" b="0">
                          <a:solidFill>
                            <a:srgbClr val="23313C"/>
                          </a:solidFill>
                          <a:latin typeface="Meiryo"/>
                          <a:ea typeface="Meiryo"/>
                          <a:cs typeface="Meiryo"/>
                        </a:rPr>
                        <a:t>箇所正規化損失 p=1.0</a:t>
                      </a:r>
                    </a:p>
                  </a:txBody>
                  <a:tcPr marL="64008" marR="64008" marT="18288" marB="18288" anchor="ctr">
                    <a:solidFill>
                      <a:srgbClr val="F1F0E8"/>
                    </a:solidFill>
                  </a:tcPr>
                </a:tc>
                <a:tc>
                  <a:txBody>
                    <a:bodyPr/>
                    <a:lstStyle/>
                    <a:p>
                      <a:pPr algn="l"/>
                      <a:r>
                        <a:rPr sz="1100" b="0">
                          <a:solidFill>
                            <a:srgbClr val="23313C"/>
                          </a:solidFill>
                          <a:latin typeface="Meiryo"/>
                          <a:ea typeface="Meiryo"/>
                          <a:cs typeface="Meiryo"/>
                        </a:rPr>
                        <a:t>損失関数</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0.6692</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0.6378</a:t>
                      </a:r>
                    </a:p>
                  </a:txBody>
                  <a:tcPr marL="64008" marR="64008" marT="18288" marB="18288" anchor="ctr">
                    <a:solidFill>
                      <a:srgbClr val="F1F0E8"/>
                    </a:solidFill>
                  </a:tcPr>
                </a:tc>
                <a:tc>
                  <a:txBody>
                    <a:bodyPr/>
                    <a:lstStyle/>
                    <a:p>
                      <a:pPr algn="r"/>
                      <a:r>
                        <a:rPr sz="1100" b="1">
                          <a:solidFill>
                            <a:srgbClr val="B85042"/>
                          </a:solidFill>
                          <a:latin typeface="Meiryo"/>
                          <a:ea typeface="Meiryo"/>
                          <a:cs typeface="Meiryo"/>
                        </a:rPr>
                        <a:t>× −0.004</a:t>
                      </a:r>
                    </a:p>
                  </a:txBody>
                  <a:tcPr marL="64008" marR="64008" marT="18288" marB="18288" anchor="ctr">
                    <a:solidFill>
                      <a:srgbClr val="F1F0E8"/>
                    </a:solidFill>
                  </a:tcPr>
                </a:tc>
                <a:extLst>
                  <a:ext uri="{0D108BD9-81ED-4DB2-BD59-A6C34878D82A}">
                    <a16:rowId xmlns:a16="http://schemas.microsoft.com/office/drawing/2014/main" val="10006"/>
                  </a:ext>
                </a:extLst>
              </a:tr>
              <a:tr h="384048">
                <a:tc>
                  <a:txBody>
                    <a:bodyPr/>
                    <a:lstStyle/>
                    <a:p>
                      <a:pPr algn="l"/>
                      <a:r>
                        <a:rPr sz="1100" b="0">
                          <a:solidFill>
                            <a:srgbClr val="23313C"/>
                          </a:solidFill>
                          <a:latin typeface="Meiryo"/>
                          <a:ea typeface="Meiryo"/>
                          <a:cs typeface="Meiryo"/>
                        </a:rPr>
                        <a:t>深層監督 1段 / 3段</a:t>
                      </a:r>
                    </a:p>
                  </a:txBody>
                  <a:tcPr marL="64008" marR="64008" marT="18288" marB="18288" anchor="ctr">
                    <a:solidFill>
                      <a:srgbClr val="FFFFFF"/>
                    </a:solidFill>
                  </a:tcPr>
                </a:tc>
                <a:tc>
                  <a:txBody>
                    <a:bodyPr/>
                    <a:lstStyle/>
                    <a:p>
                      <a:pPr algn="l"/>
                      <a:r>
                        <a:rPr sz="1100" b="0">
                          <a:solidFill>
                            <a:srgbClr val="23313C"/>
                          </a:solidFill>
                          <a:latin typeface="Meiryo"/>
                          <a:ea typeface="Meiryo"/>
                          <a:cs typeface="Meiryo"/>
                        </a:rPr>
                        <a:t>スキップ接続</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0.6654</a:t>
                      </a:r>
                    </a:p>
                  </a:txBody>
                  <a:tcPr marL="64008" marR="64008" marT="18288" marB="18288" anchor="ctr">
                    <a:solidFill>
                      <a:srgbClr val="FFFFFF"/>
                    </a:solidFill>
                  </a:tcPr>
                </a:tc>
                <a:tc>
                  <a:txBody>
                    <a:bodyPr/>
                    <a:lstStyle/>
                    <a:p>
                      <a:pPr algn="r"/>
                      <a:r>
                        <a:rPr sz="1100" b="0">
                          <a:solidFill>
                            <a:srgbClr val="23313C"/>
                          </a:solidFill>
                          <a:latin typeface="Meiryo"/>
                          <a:ea typeface="Meiryo"/>
                          <a:cs typeface="Meiryo"/>
                        </a:rPr>
                        <a:t>0.6404</a:t>
                      </a:r>
                    </a:p>
                  </a:txBody>
                  <a:tcPr marL="64008" marR="64008" marT="18288" marB="18288" anchor="ctr">
                    <a:solidFill>
                      <a:srgbClr val="FFFFFF"/>
                    </a:solidFill>
                  </a:tcPr>
                </a:tc>
                <a:tc>
                  <a:txBody>
                    <a:bodyPr/>
                    <a:lstStyle/>
                    <a:p>
                      <a:pPr algn="r"/>
                      <a:r>
                        <a:rPr sz="1100" b="1">
                          <a:solidFill>
                            <a:srgbClr val="B85042"/>
                          </a:solidFill>
                          <a:latin typeface="Meiryo"/>
                          <a:ea typeface="Meiryo"/>
                          <a:cs typeface="Meiryo"/>
                        </a:rPr>
                        <a:t>× −0.007</a:t>
                      </a:r>
                    </a:p>
                  </a:txBody>
                  <a:tcPr marL="64008" marR="64008" marT="18288" marB="18288" anchor="ctr">
                    <a:solidFill>
                      <a:srgbClr val="FFFFFF"/>
                    </a:solidFill>
                  </a:tcPr>
                </a:tc>
                <a:extLst>
                  <a:ext uri="{0D108BD9-81ED-4DB2-BD59-A6C34878D82A}">
                    <a16:rowId xmlns:a16="http://schemas.microsoft.com/office/drawing/2014/main" val="10007"/>
                  </a:ext>
                </a:extLst>
              </a:tr>
              <a:tr h="384048">
                <a:tc>
                  <a:txBody>
                    <a:bodyPr/>
                    <a:lstStyle/>
                    <a:p>
                      <a:pPr algn="l"/>
                      <a:r>
                        <a:rPr sz="1100" b="0">
                          <a:solidFill>
                            <a:srgbClr val="23313C"/>
                          </a:solidFill>
                          <a:latin typeface="Meiryo"/>
                          <a:ea typeface="Meiryo"/>
                          <a:cs typeface="Meiryo"/>
                        </a:rPr>
                        <a:t>背景タイル混入 bg=0.1</a:t>
                      </a:r>
                    </a:p>
                  </a:txBody>
                  <a:tcPr marL="64008" marR="64008" marT="18288" marB="18288" anchor="ctr">
                    <a:solidFill>
                      <a:srgbClr val="F1F0E8"/>
                    </a:solidFill>
                  </a:tcPr>
                </a:tc>
                <a:tc>
                  <a:txBody>
                    <a:bodyPr/>
                    <a:lstStyle/>
                    <a:p>
                      <a:pPr algn="l"/>
                      <a:r>
                        <a:rPr sz="1100" b="0">
                          <a:solidFill>
                            <a:srgbClr val="23313C"/>
                          </a:solidFill>
                          <a:latin typeface="Meiryo"/>
                          <a:ea typeface="Meiryo"/>
                          <a:cs typeface="Meiryo"/>
                        </a:rPr>
                        <a:t>入力データ</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0.6636</a:t>
                      </a:r>
                    </a:p>
                  </a:txBody>
                  <a:tcPr marL="64008" marR="64008" marT="18288" marB="18288" anchor="ctr">
                    <a:solidFill>
                      <a:srgbClr val="F1F0E8"/>
                    </a:solidFill>
                  </a:tcPr>
                </a:tc>
                <a:tc>
                  <a:txBody>
                    <a:bodyPr/>
                    <a:lstStyle/>
                    <a:p>
                      <a:pPr algn="r"/>
                      <a:r>
                        <a:rPr sz="1100" b="0">
                          <a:solidFill>
                            <a:srgbClr val="23313C"/>
                          </a:solidFill>
                          <a:latin typeface="Meiryo"/>
                          <a:ea typeface="Meiryo"/>
                          <a:cs typeface="Meiryo"/>
                        </a:rPr>
                        <a:t>0.6252</a:t>
                      </a:r>
                    </a:p>
                  </a:txBody>
                  <a:tcPr marL="64008" marR="64008" marT="18288" marB="18288" anchor="ctr">
                    <a:solidFill>
                      <a:srgbClr val="F1F0E8"/>
                    </a:solidFill>
                  </a:tcPr>
                </a:tc>
                <a:tc>
                  <a:txBody>
                    <a:bodyPr/>
                    <a:lstStyle/>
                    <a:p>
                      <a:pPr algn="r"/>
                      <a:r>
                        <a:rPr sz="1100" b="1">
                          <a:solidFill>
                            <a:srgbClr val="B85042"/>
                          </a:solidFill>
                          <a:latin typeface="Meiryo"/>
                          <a:ea typeface="Meiryo"/>
                          <a:cs typeface="Meiryo"/>
                        </a:rPr>
                        <a:t>× −0.009</a:t>
                      </a:r>
                    </a:p>
                  </a:txBody>
                  <a:tcPr marL="64008" marR="64008" marT="18288" marB="18288" anchor="ctr">
                    <a:solidFill>
                      <a:srgbClr val="F1F0E8"/>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566928" y="4809744"/>
            <a:ext cx="11057839" cy="548640"/>
          </a:xfrm>
          <a:prstGeom prst="rect">
            <a:avLst/>
          </a:prstGeom>
          <a:noFill/>
        </p:spPr>
        <p:txBody>
          <a:bodyPr wrap="square" lIns="0" tIns="0" rIns="0" bIns="0">
            <a:spAutoFit/>
          </a:bodyPr>
          <a:lstStyle/>
          <a:p>
            <a:pPr algn="l">
              <a:lnSpc>
                <a:spcPct val="150000"/>
              </a:lnSpc>
            </a:pPr>
            <a:r>
              <a:rPr sz="1250" b="0">
                <a:solidFill>
                  <a:srgbClr val="4A5A68"/>
                </a:solidFill>
                <a:latin typeface="Meiryo"/>
                <a:ea typeface="Meiryo"/>
                <a:cs typeface="Meiryo"/>
              </a:rPr>
              <a:t>既存4構造が収まる帯は 0.672〜0.681、検証F1 上位10エポックのゆらぎ幅は 0.003〜0.005。この帯とゆらぎを超えたのはデータ拡張だけ。</a:t>
            </a:r>
          </a:p>
        </p:txBody>
      </p:sp>
      <p:sp>
        <p:nvSpPr>
          <p:cNvPr id="7" name="Rounded Rectangle 6"/>
          <p:cNvSpPr/>
          <p:nvPr/>
        </p:nvSpPr>
        <p:spPr>
          <a:xfrm>
            <a:off x="566928" y="5486400"/>
            <a:ext cx="11057839" cy="841248"/>
          </a:xfrm>
          <a:prstGeom prst="roundRect">
            <a:avLst>
              <a:gd name="adj" fmla="val 6000"/>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77824" y="5486400"/>
            <a:ext cx="10436047" cy="841248"/>
          </a:xfrm>
          <a:prstGeom prst="rect">
            <a:avLst/>
          </a:prstGeom>
          <a:noFill/>
        </p:spPr>
        <p:txBody>
          <a:bodyPr wrap="square" lIns="0" tIns="0" rIns="0" bIns="0" anchor="ctr">
            <a:spAutoFit/>
          </a:bodyPr>
          <a:lstStyle/>
          <a:p>
            <a:pPr algn="l">
              <a:lnSpc>
                <a:spcPct val="140000"/>
              </a:lnSpc>
            </a:pPr>
            <a:r>
              <a:rPr sz="1450" b="0">
                <a:solidFill>
                  <a:srgbClr val="FFFFFF"/>
                </a:solidFill>
                <a:latin typeface="Meiryo"/>
                <a:ea typeface="Meiryo"/>
                <a:cs typeface="Meiryo"/>
              </a:rPr>
              <a:t>一方、オーバーラップ推論（学習不要）は 箇所F +0.047〜+0.060。</a:t>
            </a:r>
            <a:r>
              <a:rPr sz="1450" b="1">
                <a:solidFill>
                  <a:srgbClr val="A7BEAE"/>
                </a:solidFill>
                <a:latin typeface="Meiryo"/>
                <a:ea typeface="Meiryo"/>
                <a:cs typeface="Meiryo"/>
              </a:rPr>
              <a:t>　学習側の最良（+0.025）の2倍以上。</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23313C"/>
        </a:solidFill>
        <a:effectLst/>
      </p:bgPr>
    </p:bg>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A7BEAE"/>
                </a:solidFill>
                <a:latin typeface="Meiryo"/>
                <a:ea typeface="Meiryo"/>
                <a:cs typeface="Meiryo"/>
              </a:rPr>
              <a:t>まとめ</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FFFFFF"/>
                </a:solidFill>
                <a:latin typeface="Meiryo"/>
                <a:ea typeface="Meiryo"/>
                <a:cs typeface="Meiryo"/>
              </a:rPr>
              <a:t>分かったこと</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A7BEAE"/>
                </a:solidFill>
                <a:latin typeface="Meiryo"/>
                <a:ea typeface="Meiryo"/>
                <a:cs typeface="Meiryo"/>
              </a:rPr>
              <a:t>38</a:t>
            </a:r>
          </a:p>
        </p:txBody>
      </p:sp>
      <p:sp>
        <p:nvSpPr>
          <p:cNvPr id="5" name="Oval 4"/>
          <p:cNvSpPr/>
          <p:nvPr/>
        </p:nvSpPr>
        <p:spPr>
          <a:xfrm>
            <a:off x="566928" y="1389888"/>
            <a:ext cx="420624" cy="420624"/>
          </a:xfrm>
          <a:prstGeom prst="ellipse">
            <a:avLst/>
          </a:prstGeom>
          <a:solidFill>
            <a:srgbClr val="A7BEA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a:solidFill>
                  <a:srgbClr val="23313C"/>
                </a:solidFill>
                <a:latin typeface="Meiryo"/>
                <a:ea typeface="Meiryo"/>
                <a:cs typeface="Meiryo"/>
              </a:rPr>
              <a:t>1</a:t>
            </a:r>
          </a:p>
        </p:txBody>
      </p:sp>
      <p:sp>
        <p:nvSpPr>
          <p:cNvPr id="6" name="TextBox 5"/>
          <p:cNvSpPr txBox="1"/>
          <p:nvPr/>
        </p:nvSpPr>
        <p:spPr>
          <a:xfrm>
            <a:off x="1225295" y="1353312"/>
            <a:ext cx="10143439" cy="329184"/>
          </a:xfrm>
          <a:prstGeom prst="rect">
            <a:avLst/>
          </a:prstGeom>
          <a:noFill/>
        </p:spPr>
        <p:txBody>
          <a:bodyPr wrap="square" lIns="0" tIns="0" rIns="0" bIns="0">
            <a:spAutoFit/>
          </a:bodyPr>
          <a:lstStyle/>
          <a:p>
            <a:pPr algn="l"/>
            <a:r>
              <a:rPr sz="1600" b="1">
                <a:solidFill>
                  <a:srgbClr val="FFFFFF"/>
                </a:solidFill>
                <a:latin typeface="Meiryo"/>
                <a:ea typeface="Meiryo"/>
                <a:cs typeface="Meiryo"/>
              </a:rPr>
              <a:t>U-Net の内部をどう触っても ±0.01 しか動かない</a:t>
            </a:r>
          </a:p>
        </p:txBody>
      </p:sp>
      <p:sp>
        <p:nvSpPr>
          <p:cNvPr id="7" name="TextBox 6"/>
          <p:cNvSpPr txBox="1"/>
          <p:nvPr/>
        </p:nvSpPr>
        <p:spPr>
          <a:xfrm>
            <a:off x="1225295" y="1755648"/>
            <a:ext cx="10051999" cy="493776"/>
          </a:xfrm>
          <a:prstGeom prst="rect">
            <a:avLst/>
          </a:prstGeom>
          <a:noFill/>
        </p:spPr>
        <p:txBody>
          <a:bodyPr wrap="square" lIns="0" tIns="0" rIns="0" bIns="0">
            <a:spAutoFit/>
          </a:bodyPr>
          <a:lstStyle/>
          <a:p>
            <a:pPr algn="l">
              <a:lnSpc>
                <a:spcPct val="145000"/>
              </a:lnSpc>
            </a:pPr>
            <a:r>
              <a:rPr sz="1250" b="0">
                <a:solidFill>
                  <a:srgbClr val="A7BEAE"/>
                </a:solidFill>
                <a:latin typeface="Meiryo"/>
                <a:ea typeface="Meiryo"/>
                <a:cs typeface="Meiryo"/>
              </a:rPr>
              <a:t>エンコーダ・スキップ・ボトルネック・デコーダへの入力・損失・入力データの6か所を触ったが、どれも律速ではなかった。</a:t>
            </a:r>
          </a:p>
        </p:txBody>
      </p:sp>
      <p:sp>
        <p:nvSpPr>
          <p:cNvPr id="8" name="Oval 7"/>
          <p:cNvSpPr/>
          <p:nvPr/>
        </p:nvSpPr>
        <p:spPr>
          <a:xfrm>
            <a:off x="566928" y="2505456"/>
            <a:ext cx="420624" cy="420624"/>
          </a:xfrm>
          <a:prstGeom prst="ellipse">
            <a:avLst/>
          </a:prstGeom>
          <a:solidFill>
            <a:srgbClr val="A7BEA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a:solidFill>
                  <a:srgbClr val="23313C"/>
                </a:solidFill>
                <a:latin typeface="Meiryo"/>
                <a:ea typeface="Meiryo"/>
                <a:cs typeface="Meiryo"/>
              </a:rPr>
              <a:t>2</a:t>
            </a:r>
          </a:p>
        </p:txBody>
      </p:sp>
      <p:sp>
        <p:nvSpPr>
          <p:cNvPr id="9" name="TextBox 8"/>
          <p:cNvSpPr txBox="1"/>
          <p:nvPr/>
        </p:nvSpPr>
        <p:spPr>
          <a:xfrm>
            <a:off x="1225295" y="2468880"/>
            <a:ext cx="10143439" cy="329184"/>
          </a:xfrm>
          <a:prstGeom prst="rect">
            <a:avLst/>
          </a:prstGeom>
          <a:noFill/>
        </p:spPr>
        <p:txBody>
          <a:bodyPr wrap="square" lIns="0" tIns="0" rIns="0" bIns="0">
            <a:spAutoFit/>
          </a:bodyPr>
          <a:lstStyle/>
          <a:p>
            <a:pPr algn="l"/>
            <a:r>
              <a:rPr sz="1600" b="1">
                <a:solidFill>
                  <a:srgbClr val="FFFFFF"/>
                </a:solidFill>
                <a:latin typeface="Meiryo"/>
                <a:ea typeface="Meiryo"/>
                <a:cs typeface="Meiryo"/>
              </a:rPr>
              <a:t>スキップ接続の質はデコーダにとって律速ではない</a:t>
            </a:r>
          </a:p>
        </p:txBody>
      </p:sp>
      <p:sp>
        <p:nvSpPr>
          <p:cNvPr id="10" name="TextBox 9"/>
          <p:cNvSpPr txBox="1"/>
          <p:nvPr/>
        </p:nvSpPr>
        <p:spPr>
          <a:xfrm>
            <a:off x="1225295" y="2871216"/>
            <a:ext cx="10051999" cy="493776"/>
          </a:xfrm>
          <a:prstGeom prst="rect">
            <a:avLst/>
          </a:prstGeom>
          <a:noFill/>
        </p:spPr>
        <p:txBody>
          <a:bodyPr wrap="square" lIns="0" tIns="0" rIns="0" bIns="0">
            <a:spAutoFit/>
          </a:bodyPr>
          <a:lstStyle/>
          <a:p>
            <a:pPr algn="l">
              <a:lnSpc>
                <a:spcPct val="145000"/>
              </a:lnSpc>
            </a:pPr>
            <a:r>
              <a:rPr sz="1250" b="0">
                <a:solidFill>
                  <a:srgbClr val="A7BEAE"/>
                </a:solidFill>
                <a:latin typeface="Meiryo"/>
                <a:ea typeface="Meiryo"/>
                <a:cs typeface="Meiryo"/>
              </a:rPr>
              <a:t>ASPP で補助ヘッド単体は F +0.119 改善したのに、本体は +0.009 しか動かない。</a:t>
            </a:r>
          </a:p>
        </p:txBody>
      </p:sp>
      <p:sp>
        <p:nvSpPr>
          <p:cNvPr id="11" name="Oval 10"/>
          <p:cNvSpPr/>
          <p:nvPr/>
        </p:nvSpPr>
        <p:spPr>
          <a:xfrm>
            <a:off x="566928" y="3621024"/>
            <a:ext cx="420624" cy="420624"/>
          </a:xfrm>
          <a:prstGeom prst="ellipse">
            <a:avLst/>
          </a:prstGeom>
          <a:solidFill>
            <a:srgbClr val="A7BEA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a:solidFill>
                  <a:srgbClr val="23313C"/>
                </a:solidFill>
                <a:latin typeface="Meiryo"/>
                <a:ea typeface="Meiryo"/>
                <a:cs typeface="Meiryo"/>
              </a:rPr>
              <a:t>3</a:t>
            </a:r>
          </a:p>
        </p:txBody>
      </p:sp>
      <p:sp>
        <p:nvSpPr>
          <p:cNvPr id="12" name="TextBox 11"/>
          <p:cNvSpPr txBox="1"/>
          <p:nvPr/>
        </p:nvSpPr>
        <p:spPr>
          <a:xfrm>
            <a:off x="1225295" y="3584448"/>
            <a:ext cx="10143439" cy="329184"/>
          </a:xfrm>
          <a:prstGeom prst="rect">
            <a:avLst/>
          </a:prstGeom>
          <a:noFill/>
        </p:spPr>
        <p:txBody>
          <a:bodyPr wrap="square" lIns="0" tIns="0" rIns="0" bIns="0">
            <a:spAutoFit/>
          </a:bodyPr>
          <a:lstStyle/>
          <a:p>
            <a:pPr algn="l"/>
            <a:r>
              <a:rPr sz="1600" b="1">
                <a:solidFill>
                  <a:srgbClr val="FFFFFF"/>
                </a:solidFill>
                <a:latin typeface="Meiryo"/>
                <a:ea typeface="Meiryo"/>
                <a:cs typeface="Meiryo"/>
              </a:rPr>
              <a:t>失敗の 61% はタイルの切り方で説明できる</a:t>
            </a:r>
          </a:p>
        </p:txBody>
      </p:sp>
      <p:sp>
        <p:nvSpPr>
          <p:cNvPr id="13" name="TextBox 12"/>
          <p:cNvSpPr txBox="1"/>
          <p:nvPr/>
        </p:nvSpPr>
        <p:spPr>
          <a:xfrm>
            <a:off x="1225295" y="3986784"/>
            <a:ext cx="10051999" cy="493776"/>
          </a:xfrm>
          <a:prstGeom prst="rect">
            <a:avLst/>
          </a:prstGeom>
          <a:noFill/>
        </p:spPr>
        <p:txBody>
          <a:bodyPr wrap="square" lIns="0" tIns="0" rIns="0" bIns="0">
            <a:spAutoFit/>
          </a:bodyPr>
          <a:lstStyle/>
          <a:p>
            <a:pPr algn="l">
              <a:lnSpc>
                <a:spcPct val="145000"/>
              </a:lnSpc>
            </a:pPr>
            <a:r>
              <a:rPr sz="1250" b="0">
                <a:solidFill>
                  <a:srgbClr val="A7BEAE"/>
                </a:solidFill>
                <a:latin typeface="Meiryo"/>
                <a:ea typeface="Meiryo"/>
                <a:cs typeface="Meiryo"/>
              </a:rPr>
              <a:t>1画素も当てられないタイルの 61% は、正解が全部タイルの外周16px帯にある。</a:t>
            </a:r>
          </a:p>
        </p:txBody>
      </p:sp>
      <p:sp>
        <p:nvSpPr>
          <p:cNvPr id="14" name="Oval 13"/>
          <p:cNvSpPr/>
          <p:nvPr/>
        </p:nvSpPr>
        <p:spPr>
          <a:xfrm>
            <a:off x="566928" y="4736592"/>
            <a:ext cx="420624" cy="420624"/>
          </a:xfrm>
          <a:prstGeom prst="ellipse">
            <a:avLst/>
          </a:prstGeom>
          <a:solidFill>
            <a:srgbClr val="A7BEA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a:solidFill>
                  <a:srgbClr val="23313C"/>
                </a:solidFill>
                <a:latin typeface="Meiryo"/>
                <a:ea typeface="Meiryo"/>
                <a:cs typeface="Meiryo"/>
              </a:rPr>
              <a:t>4</a:t>
            </a:r>
          </a:p>
        </p:txBody>
      </p:sp>
      <p:sp>
        <p:nvSpPr>
          <p:cNvPr id="15" name="TextBox 14"/>
          <p:cNvSpPr txBox="1"/>
          <p:nvPr/>
        </p:nvSpPr>
        <p:spPr>
          <a:xfrm>
            <a:off x="1225295" y="4700016"/>
            <a:ext cx="10143439" cy="329184"/>
          </a:xfrm>
          <a:prstGeom prst="rect">
            <a:avLst/>
          </a:prstGeom>
          <a:noFill/>
        </p:spPr>
        <p:txBody>
          <a:bodyPr wrap="square" lIns="0" tIns="0" rIns="0" bIns="0">
            <a:spAutoFit/>
          </a:bodyPr>
          <a:lstStyle/>
          <a:p>
            <a:pPr algn="l"/>
            <a:r>
              <a:rPr sz="1600" b="1">
                <a:solidFill>
                  <a:srgbClr val="FFFFFF"/>
                </a:solidFill>
                <a:latin typeface="Meiryo"/>
                <a:ea typeface="Meiryo"/>
                <a:cs typeface="Meiryo"/>
              </a:rPr>
              <a:t>タイルの切り方を変えるだけで +0.05 動く</a:t>
            </a:r>
          </a:p>
        </p:txBody>
      </p:sp>
      <p:sp>
        <p:nvSpPr>
          <p:cNvPr id="16" name="TextBox 15"/>
          <p:cNvSpPr txBox="1"/>
          <p:nvPr/>
        </p:nvSpPr>
        <p:spPr>
          <a:xfrm>
            <a:off x="1225295" y="5102352"/>
            <a:ext cx="10051999" cy="493776"/>
          </a:xfrm>
          <a:prstGeom prst="rect">
            <a:avLst/>
          </a:prstGeom>
          <a:noFill/>
        </p:spPr>
        <p:txBody>
          <a:bodyPr wrap="square" lIns="0" tIns="0" rIns="0" bIns="0">
            <a:spAutoFit/>
          </a:bodyPr>
          <a:lstStyle/>
          <a:p>
            <a:pPr algn="l">
              <a:lnSpc>
                <a:spcPct val="145000"/>
              </a:lnSpc>
            </a:pPr>
            <a:r>
              <a:rPr sz="1250" b="0">
                <a:solidFill>
                  <a:srgbClr val="A7BEAE"/>
                </a:solidFill>
                <a:latin typeface="Meiryo"/>
                <a:ea typeface="Meiryo"/>
                <a:cs typeface="Meiryo"/>
              </a:rPr>
              <a:t>オーバーラップ推論は学習不要で 箇所F +0.047〜+0.060。学習側の最良の2倍以上。</a:t>
            </a:r>
          </a:p>
        </p:txBody>
      </p:sp>
      <p:sp>
        <p:nvSpPr>
          <p:cNvPr id="17" name="TextBox 16"/>
          <p:cNvSpPr txBox="1"/>
          <p:nvPr/>
        </p:nvSpPr>
        <p:spPr>
          <a:xfrm>
            <a:off x="566928" y="5943600"/>
            <a:ext cx="11057839" cy="548640"/>
          </a:xfrm>
          <a:prstGeom prst="rect">
            <a:avLst/>
          </a:prstGeom>
          <a:noFill/>
        </p:spPr>
        <p:txBody>
          <a:bodyPr wrap="square" lIns="0" tIns="0" rIns="0" bIns="0">
            <a:spAutoFit/>
          </a:bodyPr>
          <a:lstStyle/>
          <a:p>
            <a:pPr algn="l"/>
            <a:r>
              <a:rPr sz="1700" b="1">
                <a:solidFill>
                  <a:srgbClr val="A7BEAE"/>
                </a:solidFill>
                <a:latin typeface="Meiryo"/>
                <a:ea typeface="Meiryo"/>
                <a:cs typeface="Meiryo"/>
              </a:rPr>
              <a:t>結論：</a:t>
            </a:r>
            <a:r>
              <a:rPr sz="1700" b="1">
                <a:solidFill>
                  <a:srgbClr val="FFFFFF"/>
                </a:solidFill>
                <a:latin typeface="Meiryo"/>
                <a:ea typeface="Meiryo"/>
                <a:cs typeface="Meiryo"/>
              </a:rPr>
              <a:t>「モデルが悪い」のではなく「問題の与え方が悪い」。</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11057839" cy="237744"/>
          </a:xfrm>
          <a:prstGeom prst="rect">
            <a:avLst/>
          </a:prstGeom>
          <a:noFill/>
        </p:spPr>
        <p:txBody>
          <a:bodyPr wrap="square" lIns="0" tIns="0" rIns="0" bIns="0">
            <a:spAutoFit/>
          </a:bodyPr>
          <a:lstStyle/>
          <a:p>
            <a:pPr algn="l"/>
            <a:r>
              <a:rPr sz="1200" b="1">
                <a:solidFill>
                  <a:srgbClr val="4A5A68"/>
                </a:solidFill>
                <a:latin typeface="Meiryo"/>
                <a:ea typeface="Meiryo"/>
                <a:cs typeface="Meiryo"/>
              </a:rPr>
              <a:t>今後</a:t>
            </a:r>
          </a:p>
        </p:txBody>
      </p:sp>
      <p:sp>
        <p:nvSpPr>
          <p:cNvPr id="3" name="TextBox 2"/>
          <p:cNvSpPr txBox="1"/>
          <p:nvPr/>
        </p:nvSpPr>
        <p:spPr>
          <a:xfrm>
            <a:off x="566928" y="603504"/>
            <a:ext cx="11057839" cy="585216"/>
          </a:xfrm>
          <a:prstGeom prst="rect">
            <a:avLst/>
          </a:prstGeom>
          <a:noFill/>
        </p:spPr>
        <p:txBody>
          <a:bodyPr wrap="square" lIns="0" tIns="0" rIns="0" bIns="0">
            <a:spAutoFit/>
          </a:bodyPr>
          <a:lstStyle/>
          <a:p>
            <a:pPr algn="l"/>
            <a:r>
              <a:rPr sz="2800" b="1">
                <a:solidFill>
                  <a:srgbClr val="23313C"/>
                </a:solidFill>
                <a:latin typeface="Meiryo"/>
                <a:ea typeface="Meiryo"/>
                <a:cs typeface="Meiryo"/>
              </a:rPr>
              <a:t>次にやること</a:t>
            </a:r>
          </a:p>
        </p:txBody>
      </p:sp>
      <p:sp>
        <p:nvSpPr>
          <p:cNvPr id="4" name="TextBox 3"/>
          <p:cNvSpPr txBox="1"/>
          <p:nvPr/>
        </p:nvSpPr>
        <p:spPr>
          <a:xfrm>
            <a:off x="11277295" y="6455664"/>
            <a:ext cx="457200" cy="219456"/>
          </a:xfrm>
          <a:prstGeom prst="rect">
            <a:avLst/>
          </a:prstGeom>
          <a:noFill/>
        </p:spPr>
        <p:txBody>
          <a:bodyPr wrap="square" lIns="0" tIns="0" rIns="0" bIns="0">
            <a:spAutoFit/>
          </a:bodyPr>
          <a:lstStyle/>
          <a:p>
            <a:pPr algn="r"/>
            <a:r>
              <a:rPr sz="1000" b="0">
                <a:solidFill>
                  <a:srgbClr val="4A5A68"/>
                </a:solidFill>
                <a:latin typeface="Meiryo"/>
                <a:ea typeface="Meiryo"/>
                <a:cs typeface="Meiryo"/>
              </a:rPr>
              <a:t>39</a:t>
            </a:r>
          </a:p>
        </p:txBody>
      </p:sp>
      <p:graphicFrame>
        <p:nvGraphicFramePr>
          <p:cNvPr id="5" name="Table 4"/>
          <p:cNvGraphicFramePr>
            <a:graphicFrameLocks noGrp="1"/>
          </p:cNvGraphicFramePr>
          <p:nvPr/>
        </p:nvGraphicFramePr>
        <p:xfrm>
          <a:off x="566928" y="1335024"/>
          <a:ext cx="11055096" cy="310896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6035040">
                  <a:extLst>
                    <a:ext uri="{9D8B030D-6E8A-4147-A177-3AD203B41FA5}">
                      <a16:colId xmlns:a16="http://schemas.microsoft.com/office/drawing/2014/main" val="20002"/>
                    </a:ext>
                  </a:extLst>
                </a:gridCol>
                <a:gridCol w="905256">
                  <a:extLst>
                    <a:ext uri="{9D8B030D-6E8A-4147-A177-3AD203B41FA5}">
                      <a16:colId xmlns:a16="http://schemas.microsoft.com/office/drawing/2014/main" val="20003"/>
                    </a:ext>
                  </a:extLst>
                </a:gridCol>
              </a:tblGrid>
              <a:tr h="365760">
                <a:tc>
                  <a:txBody>
                    <a:bodyPr/>
                    <a:lstStyle/>
                    <a:p>
                      <a:pPr algn="l"/>
                      <a:r>
                        <a:rPr sz="1150" b="1">
                          <a:solidFill>
                            <a:srgbClr val="FFFFFF"/>
                          </a:solidFill>
                          <a:latin typeface="Meiryo"/>
                          <a:ea typeface="Meiryo"/>
                          <a:cs typeface="Meiryo"/>
                        </a:rPr>
                        <a:t>順</a:t>
                      </a:r>
                    </a:p>
                  </a:txBody>
                  <a:tcPr marL="64008" marR="64008" marT="18288" marB="18288" anchor="ctr">
                    <a:solidFill>
                      <a:srgbClr val="23313C"/>
                    </a:solidFill>
                  </a:tcPr>
                </a:tc>
                <a:tc>
                  <a:txBody>
                    <a:bodyPr/>
                    <a:lstStyle/>
                    <a:p>
                      <a:pPr algn="l"/>
                      <a:r>
                        <a:rPr sz="1150" b="1">
                          <a:solidFill>
                            <a:srgbClr val="FFFFFF"/>
                          </a:solidFill>
                          <a:latin typeface="Meiryo"/>
                          <a:ea typeface="Meiryo"/>
                          <a:cs typeface="Meiryo"/>
                        </a:rPr>
                        <a:t>やること</a:t>
                      </a:r>
                    </a:p>
                  </a:txBody>
                  <a:tcPr marL="64008" marR="64008" marT="18288" marB="18288" anchor="ctr">
                    <a:solidFill>
                      <a:srgbClr val="23313C"/>
                    </a:solidFill>
                  </a:tcPr>
                </a:tc>
                <a:tc>
                  <a:txBody>
                    <a:bodyPr/>
                    <a:lstStyle/>
                    <a:p>
                      <a:pPr algn="l"/>
                      <a:r>
                        <a:rPr sz="1150" b="1">
                          <a:solidFill>
                            <a:srgbClr val="FFFFFF"/>
                          </a:solidFill>
                          <a:latin typeface="Meiryo"/>
                          <a:ea typeface="Meiryo"/>
                          <a:cs typeface="Meiryo"/>
                        </a:rPr>
                        <a:t>根拠</a:t>
                      </a:r>
                    </a:p>
                  </a:txBody>
                  <a:tcPr marL="64008" marR="64008" marT="18288" marB="18288" anchor="ctr">
                    <a:solidFill>
                      <a:srgbClr val="23313C"/>
                    </a:solidFill>
                  </a:tcPr>
                </a:tc>
                <a:tc>
                  <a:txBody>
                    <a:bodyPr/>
                    <a:lstStyle/>
                    <a:p>
                      <a:pPr algn="ctr"/>
                      <a:r>
                        <a:rPr sz="1150" b="1">
                          <a:solidFill>
                            <a:srgbClr val="FFFFFF"/>
                          </a:solidFill>
                          <a:latin typeface="Meiryo"/>
                          <a:ea typeface="Meiryo"/>
                          <a:cs typeface="Meiryo"/>
                        </a:rPr>
                        <a:t>状態</a:t>
                      </a:r>
                    </a:p>
                  </a:txBody>
                  <a:tcPr marL="64008" marR="64008" marT="18288" marB="18288" anchor="ctr">
                    <a:solidFill>
                      <a:srgbClr val="23313C"/>
                    </a:solidFill>
                  </a:tcPr>
                </a:tc>
                <a:extLst>
                  <a:ext uri="{0D108BD9-81ED-4DB2-BD59-A6C34878D82A}">
                    <a16:rowId xmlns:a16="http://schemas.microsoft.com/office/drawing/2014/main" val="10000"/>
                  </a:ext>
                </a:extLst>
              </a:tr>
              <a:tr h="548640">
                <a:tc>
                  <a:txBody>
                    <a:bodyPr/>
                    <a:lstStyle/>
                    <a:p>
                      <a:pPr algn="l"/>
                      <a:r>
                        <a:rPr sz="1150" b="0">
                          <a:solidFill>
                            <a:srgbClr val="23313C"/>
                          </a:solidFill>
                          <a:latin typeface="Meiryo"/>
                          <a:ea typeface="Meiryo"/>
                          <a:cs typeface="Meiryo"/>
                        </a:rPr>
                        <a:t>1</a:t>
                      </a:r>
                    </a:p>
                  </a:txBody>
                  <a:tcPr marL="64008" marR="64008" marT="18288" marB="18288" anchor="ctr">
                    <a:solidFill>
                      <a:srgbClr val="FFFFFF"/>
                    </a:solidFill>
                  </a:tcPr>
                </a:tc>
                <a:tc>
                  <a:txBody>
                    <a:bodyPr/>
                    <a:lstStyle/>
                    <a:p>
                      <a:pPr algn="l"/>
                      <a:r>
                        <a:rPr sz="1150" b="0">
                          <a:solidFill>
                            <a:srgbClr val="23313C"/>
                          </a:solidFill>
                          <a:latin typeface="Meiryo"/>
                          <a:ea typeface="Meiryo"/>
                          <a:cs typeface="Meiryo"/>
                        </a:rPr>
                        <a:t>オーバーラップ推論を島根でも測る</a:t>
                      </a:r>
                    </a:p>
                  </a:txBody>
                  <a:tcPr marL="64008" marR="64008" marT="18288" marB="18288" anchor="ctr">
                    <a:solidFill>
                      <a:srgbClr val="FFFFFF"/>
                    </a:solidFill>
                  </a:tcPr>
                </a:tc>
                <a:tc>
                  <a:txBody>
                    <a:bodyPr/>
                    <a:lstStyle/>
                    <a:p>
                      <a:pPr algn="l"/>
                      <a:r>
                        <a:rPr sz="1150" b="0">
                          <a:solidFill>
                            <a:srgbClr val="23313C"/>
                          </a:solidFill>
                          <a:latin typeface="Meiryo"/>
                          <a:ea typeface="Meiryo"/>
                          <a:cs typeface="Meiryo"/>
                        </a:rPr>
                        <a:t>広島で +0.047〜+0.060。近傍に学習タイルが含まれる影響を外す必要がある</a:t>
                      </a:r>
                    </a:p>
                  </a:txBody>
                  <a:tcPr marL="64008" marR="64008" marT="18288" marB="18288" anchor="ctr">
                    <a:solidFill>
                      <a:srgbClr val="FFFFFF"/>
                    </a:solidFill>
                  </a:tcPr>
                </a:tc>
                <a:tc>
                  <a:txBody>
                    <a:bodyPr/>
                    <a:lstStyle/>
                    <a:p>
                      <a:pPr algn="ctr"/>
                      <a:r>
                        <a:rPr sz="1150" b="0">
                          <a:solidFill>
                            <a:srgbClr val="23313C"/>
                          </a:solidFill>
                          <a:latin typeface="Meiryo"/>
                          <a:ea typeface="Meiryo"/>
                          <a:cs typeface="Meiryo"/>
                        </a:rPr>
                        <a:t>未</a:t>
                      </a:r>
                    </a:p>
                  </a:txBody>
                  <a:tcPr marL="64008" marR="64008" marT="18288" marB="18288" anchor="ctr">
                    <a:solidFill>
                      <a:srgbClr val="FFFFFF"/>
                    </a:solidFill>
                  </a:tcPr>
                </a:tc>
                <a:extLst>
                  <a:ext uri="{0D108BD9-81ED-4DB2-BD59-A6C34878D82A}">
                    <a16:rowId xmlns:a16="http://schemas.microsoft.com/office/drawing/2014/main" val="10001"/>
                  </a:ext>
                </a:extLst>
              </a:tr>
              <a:tr h="548640">
                <a:tc>
                  <a:txBody>
                    <a:bodyPr/>
                    <a:lstStyle/>
                    <a:p>
                      <a:pPr algn="l"/>
                      <a:r>
                        <a:rPr sz="1150" b="0">
                          <a:solidFill>
                            <a:srgbClr val="23313C"/>
                          </a:solidFill>
                          <a:latin typeface="Meiryo"/>
                          <a:ea typeface="Meiryo"/>
                          <a:cs typeface="Meiryo"/>
                        </a:rPr>
                        <a:t>2</a:t>
                      </a:r>
                    </a:p>
                  </a:txBody>
                  <a:tcPr marL="64008" marR="64008" marT="18288" marB="18288" anchor="ctr">
                    <a:solidFill>
                      <a:srgbClr val="F1F0E8"/>
                    </a:solidFill>
                  </a:tcPr>
                </a:tc>
                <a:tc>
                  <a:txBody>
                    <a:bodyPr/>
                    <a:lstStyle/>
                    <a:p>
                      <a:pPr algn="l"/>
                      <a:r>
                        <a:rPr sz="1150" b="0">
                          <a:solidFill>
                            <a:srgbClr val="23313C"/>
                          </a:solidFill>
                          <a:latin typeface="Meiryo"/>
                          <a:ea typeface="Meiryo"/>
                          <a:cs typeface="Meiryo"/>
                        </a:rPr>
                        <a:t>窓数・統合の重みを詰める</a:t>
                      </a:r>
                    </a:p>
                  </a:txBody>
                  <a:tcPr marL="64008" marR="64008" marT="18288" marB="18288" anchor="ctr">
                    <a:solidFill>
                      <a:srgbClr val="F1F0E8"/>
                    </a:solidFill>
                  </a:tcPr>
                </a:tc>
                <a:tc>
                  <a:txBody>
                    <a:bodyPr/>
                    <a:lstStyle/>
                    <a:p>
                      <a:pPr algn="l"/>
                      <a:r>
                        <a:rPr sz="1150" b="0">
                          <a:solidFill>
                            <a:srgbClr val="23313C"/>
                          </a:solidFill>
                          <a:latin typeface="Meiryo"/>
                          <a:ea typeface="Meiryo"/>
                          <a:cs typeface="Meiryo"/>
                        </a:rPr>
                        <a:t>9窓・cos窓しか試していない。16窓やガウス窓で伸びるか</a:t>
                      </a:r>
                    </a:p>
                  </a:txBody>
                  <a:tcPr marL="64008" marR="64008" marT="18288" marB="18288" anchor="ctr">
                    <a:solidFill>
                      <a:srgbClr val="F1F0E8"/>
                    </a:solidFill>
                  </a:tcPr>
                </a:tc>
                <a:tc>
                  <a:txBody>
                    <a:bodyPr/>
                    <a:lstStyle/>
                    <a:p>
                      <a:pPr algn="ctr"/>
                      <a:r>
                        <a:rPr sz="1150" b="0">
                          <a:solidFill>
                            <a:srgbClr val="23313C"/>
                          </a:solidFill>
                          <a:latin typeface="Meiryo"/>
                          <a:ea typeface="Meiryo"/>
                          <a:cs typeface="Meiryo"/>
                        </a:rPr>
                        <a:t>未</a:t>
                      </a:r>
                    </a:p>
                  </a:txBody>
                  <a:tcPr marL="64008" marR="64008" marT="18288" marB="18288" anchor="ctr">
                    <a:solidFill>
                      <a:srgbClr val="F1F0E8"/>
                    </a:solidFill>
                  </a:tcPr>
                </a:tc>
                <a:extLst>
                  <a:ext uri="{0D108BD9-81ED-4DB2-BD59-A6C34878D82A}">
                    <a16:rowId xmlns:a16="http://schemas.microsoft.com/office/drawing/2014/main" val="10002"/>
                  </a:ext>
                </a:extLst>
              </a:tr>
              <a:tr h="548640">
                <a:tc>
                  <a:txBody>
                    <a:bodyPr/>
                    <a:lstStyle/>
                    <a:p>
                      <a:pPr algn="l"/>
                      <a:r>
                        <a:rPr sz="1150" b="0">
                          <a:solidFill>
                            <a:srgbClr val="23313C"/>
                          </a:solidFill>
                          <a:latin typeface="Meiryo"/>
                          <a:ea typeface="Meiryo"/>
                          <a:cs typeface="Meiryo"/>
                        </a:rPr>
                        <a:t>3</a:t>
                      </a:r>
                    </a:p>
                  </a:txBody>
                  <a:tcPr marL="64008" marR="64008" marT="18288" marB="18288" anchor="ctr">
                    <a:solidFill>
                      <a:srgbClr val="FFFFFF"/>
                    </a:solidFill>
                  </a:tcPr>
                </a:tc>
                <a:tc>
                  <a:txBody>
                    <a:bodyPr/>
                    <a:lstStyle/>
                    <a:p>
                      <a:pPr algn="l"/>
                      <a:r>
                        <a:rPr sz="1150" b="0">
                          <a:solidFill>
                            <a:srgbClr val="23313C"/>
                          </a:solidFill>
                          <a:latin typeface="Meiryo"/>
                          <a:ea typeface="Meiryo"/>
                          <a:cs typeface="Meiryo"/>
                        </a:rPr>
                        <a:t>航空写真の解像度を上げる</a:t>
                      </a:r>
                    </a:p>
                  </a:txBody>
                  <a:tcPr marL="64008" marR="64008" marT="18288" marB="18288" anchor="ctr">
                    <a:solidFill>
                      <a:srgbClr val="FFFFFF"/>
                    </a:solidFill>
                  </a:tcPr>
                </a:tc>
                <a:tc>
                  <a:txBody>
                    <a:bodyPr/>
                    <a:lstStyle/>
                    <a:p>
                      <a:pPr algn="l"/>
                      <a:r>
                        <a:rPr sz="1150" b="0">
                          <a:solidFill>
                            <a:srgbClr val="23313C"/>
                          </a:solidFill>
                          <a:latin typeface="Meiryo"/>
                          <a:ea typeface="Meiryo"/>
                          <a:cs typeface="Meiryo"/>
                        </a:rPr>
                        <a:t>いま9倍に縮めて捨てている。入力側の情報量を戻す</a:t>
                      </a:r>
                    </a:p>
                  </a:txBody>
                  <a:tcPr marL="64008" marR="64008" marT="18288" marB="18288" anchor="ctr">
                    <a:solidFill>
                      <a:srgbClr val="FFFFFF"/>
                    </a:solidFill>
                  </a:tcPr>
                </a:tc>
                <a:tc>
                  <a:txBody>
                    <a:bodyPr/>
                    <a:lstStyle/>
                    <a:p>
                      <a:pPr algn="ctr"/>
                      <a:r>
                        <a:rPr sz="1150" b="0">
                          <a:solidFill>
                            <a:srgbClr val="23313C"/>
                          </a:solidFill>
                          <a:latin typeface="Meiryo"/>
                          <a:ea typeface="Meiryo"/>
                          <a:cs typeface="Meiryo"/>
                        </a:rPr>
                        <a:t>未</a:t>
                      </a:r>
                    </a:p>
                  </a:txBody>
                  <a:tcPr marL="64008" marR="64008" marT="18288" marB="18288" anchor="ctr">
                    <a:solidFill>
                      <a:srgbClr val="FFFFFF"/>
                    </a:solidFill>
                  </a:tcPr>
                </a:tc>
                <a:extLst>
                  <a:ext uri="{0D108BD9-81ED-4DB2-BD59-A6C34878D82A}">
                    <a16:rowId xmlns:a16="http://schemas.microsoft.com/office/drawing/2014/main" val="10003"/>
                  </a:ext>
                </a:extLst>
              </a:tr>
              <a:tr h="548640">
                <a:tc>
                  <a:txBody>
                    <a:bodyPr/>
                    <a:lstStyle/>
                    <a:p>
                      <a:pPr algn="l"/>
                      <a:r>
                        <a:rPr sz="1150" b="0">
                          <a:solidFill>
                            <a:srgbClr val="23313C"/>
                          </a:solidFill>
                          <a:latin typeface="Meiryo"/>
                          <a:ea typeface="Meiryo"/>
                          <a:cs typeface="Meiryo"/>
                        </a:rPr>
                        <a:t>4</a:t>
                      </a:r>
                    </a:p>
                  </a:txBody>
                  <a:tcPr marL="64008" marR="64008" marT="18288" marB="18288" anchor="ctr">
                    <a:solidFill>
                      <a:srgbClr val="F1F0E8"/>
                    </a:solidFill>
                  </a:tcPr>
                </a:tc>
                <a:tc>
                  <a:txBody>
                    <a:bodyPr/>
                    <a:lstStyle/>
                    <a:p>
                      <a:pPr algn="l"/>
                      <a:r>
                        <a:rPr sz="1150" b="0">
                          <a:solidFill>
                            <a:srgbClr val="23313C"/>
                          </a:solidFill>
                          <a:latin typeface="Meiryo"/>
                          <a:ea typeface="Meiryo"/>
                          <a:cs typeface="Meiryo"/>
                        </a:rPr>
                        <a:t>建物・土地利用を入力に足す</a:t>
                      </a:r>
                    </a:p>
                  </a:txBody>
                  <a:tcPr marL="64008" marR="64008" marT="18288" marB="18288" anchor="ctr">
                    <a:solidFill>
                      <a:srgbClr val="F1F0E8"/>
                    </a:solidFill>
                  </a:tcPr>
                </a:tc>
                <a:tc>
                  <a:txBody>
                    <a:bodyPr/>
                    <a:lstStyle/>
                    <a:p>
                      <a:pPr algn="l"/>
                      <a:r>
                        <a:rPr sz="1150" b="0">
                          <a:solidFill>
                            <a:srgbClr val="23313C"/>
                          </a:solidFill>
                          <a:latin typeface="Meiryo"/>
                          <a:ea typeface="Meiryo"/>
                          <a:cs typeface="Meiryo"/>
                        </a:rPr>
                        <a:t>当てられないタイルの 60% は傾斜コントラストが負で、地形からは答えが出ない</a:t>
                      </a:r>
                    </a:p>
                  </a:txBody>
                  <a:tcPr marL="64008" marR="64008" marT="18288" marB="18288" anchor="ctr">
                    <a:solidFill>
                      <a:srgbClr val="F1F0E8"/>
                    </a:solidFill>
                  </a:tcPr>
                </a:tc>
                <a:tc>
                  <a:txBody>
                    <a:bodyPr/>
                    <a:lstStyle/>
                    <a:p>
                      <a:pPr algn="ctr"/>
                      <a:r>
                        <a:rPr sz="1150" b="0">
                          <a:solidFill>
                            <a:srgbClr val="23313C"/>
                          </a:solidFill>
                          <a:latin typeface="Meiryo"/>
                          <a:ea typeface="Meiryo"/>
                          <a:cs typeface="Meiryo"/>
                        </a:rPr>
                        <a:t>未</a:t>
                      </a:r>
                    </a:p>
                  </a:txBody>
                  <a:tcPr marL="64008" marR="64008" marT="18288" marB="18288" anchor="ctr">
                    <a:solidFill>
                      <a:srgbClr val="F1F0E8"/>
                    </a:solidFill>
                  </a:tcPr>
                </a:tc>
                <a:extLst>
                  <a:ext uri="{0D108BD9-81ED-4DB2-BD59-A6C34878D82A}">
                    <a16:rowId xmlns:a16="http://schemas.microsoft.com/office/drawing/2014/main" val="10004"/>
                  </a:ext>
                </a:extLst>
              </a:tr>
              <a:tr h="548640">
                <a:tc>
                  <a:txBody>
                    <a:bodyPr/>
                    <a:lstStyle/>
                    <a:p>
                      <a:pPr algn="l"/>
                      <a:r>
                        <a:rPr sz="1150" b="0">
                          <a:solidFill>
                            <a:srgbClr val="23313C"/>
                          </a:solidFill>
                          <a:latin typeface="Meiryo"/>
                          <a:ea typeface="Meiryo"/>
                          <a:cs typeface="Meiryo"/>
                        </a:rPr>
                        <a:t>5</a:t>
                      </a:r>
                    </a:p>
                  </a:txBody>
                  <a:tcPr marL="64008" marR="64008" marT="18288" marB="18288" anchor="ctr">
                    <a:solidFill>
                      <a:srgbClr val="FFFFFF"/>
                    </a:solidFill>
                  </a:tcPr>
                </a:tc>
                <a:tc>
                  <a:txBody>
                    <a:bodyPr/>
                    <a:lstStyle/>
                    <a:p>
                      <a:pPr algn="l"/>
                      <a:r>
                        <a:rPr sz="1150" b="0">
                          <a:solidFill>
                            <a:srgbClr val="23313C"/>
                          </a:solidFill>
                          <a:latin typeface="Meiryo"/>
                          <a:ea typeface="Meiryo"/>
                          <a:cs typeface="Meiryo"/>
                        </a:rPr>
                        <a:t>複数シードで再現性を確かめる</a:t>
                      </a:r>
                    </a:p>
                  </a:txBody>
                  <a:tcPr marL="64008" marR="64008" marT="18288" marB="18288" anchor="ctr">
                    <a:solidFill>
                      <a:srgbClr val="FFFFFF"/>
                    </a:solidFill>
                  </a:tcPr>
                </a:tc>
                <a:tc>
                  <a:txBody>
                    <a:bodyPr/>
                    <a:lstStyle/>
                    <a:p>
                      <a:pPr algn="l"/>
                      <a:r>
                        <a:rPr sz="1150" b="0">
                          <a:solidFill>
                            <a:srgbClr val="23313C"/>
                          </a:solidFill>
                          <a:latin typeface="Meiryo"/>
                          <a:ea typeface="Meiryo"/>
                          <a:cs typeface="Meiryo"/>
                        </a:rPr>
                        <a:t>0.005 の差を議論する前提。島根で監督を足すほど単調に良くなる兆候の検証</a:t>
                      </a:r>
                    </a:p>
                  </a:txBody>
                  <a:tcPr marL="64008" marR="64008" marT="18288" marB="18288" anchor="ctr">
                    <a:solidFill>
                      <a:srgbClr val="FFFFFF"/>
                    </a:solidFill>
                  </a:tcPr>
                </a:tc>
                <a:tc>
                  <a:txBody>
                    <a:bodyPr/>
                    <a:lstStyle/>
                    <a:p>
                      <a:pPr algn="ctr"/>
                      <a:r>
                        <a:rPr sz="1150" b="0">
                          <a:solidFill>
                            <a:srgbClr val="23313C"/>
                          </a:solidFill>
                          <a:latin typeface="Meiryo"/>
                          <a:ea typeface="Meiryo"/>
                          <a:cs typeface="Meiryo"/>
                        </a:rPr>
                        <a:t>未</a:t>
                      </a:r>
                    </a:p>
                  </a:txBody>
                  <a:tcPr marL="64008" marR="64008"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566928" y="4572000"/>
            <a:ext cx="11057839" cy="1325880"/>
          </a:xfrm>
          <a:prstGeom prst="roundRect">
            <a:avLst>
              <a:gd name="adj" fmla="val 6000"/>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77824" y="4791456"/>
            <a:ext cx="10436047" cy="310896"/>
          </a:xfrm>
          <a:prstGeom prst="rect">
            <a:avLst/>
          </a:prstGeom>
          <a:noFill/>
        </p:spPr>
        <p:txBody>
          <a:bodyPr wrap="square" lIns="0" tIns="0" rIns="0" bIns="0">
            <a:spAutoFit/>
          </a:bodyPr>
          <a:lstStyle/>
          <a:p>
            <a:pPr algn="l"/>
            <a:r>
              <a:rPr sz="1500" b="1">
                <a:solidFill>
                  <a:srgbClr val="23313C"/>
                </a:solidFill>
                <a:latin typeface="Meiryo"/>
                <a:ea typeface="Meiryo"/>
                <a:cs typeface="Meiryo"/>
              </a:rPr>
              <a:t>3 と 4 は「入力を増やす」方向</a:t>
            </a:r>
          </a:p>
        </p:txBody>
      </p:sp>
      <p:sp>
        <p:nvSpPr>
          <p:cNvPr id="8" name="TextBox 7"/>
          <p:cNvSpPr txBox="1"/>
          <p:nvPr/>
        </p:nvSpPr>
        <p:spPr>
          <a:xfrm>
            <a:off x="877824" y="5193792"/>
            <a:ext cx="10436047" cy="548640"/>
          </a:xfrm>
          <a:prstGeom prst="rect">
            <a:avLst/>
          </a:prstGeom>
          <a:noFill/>
        </p:spPr>
        <p:txBody>
          <a:bodyPr wrap="square" lIns="0" tIns="0" rIns="0" bIns="0">
            <a:spAutoFit/>
          </a:bodyPr>
          <a:lstStyle/>
          <a:p>
            <a:pPr algn="l">
              <a:lnSpc>
                <a:spcPct val="150000"/>
              </a:lnSpc>
            </a:pPr>
            <a:r>
              <a:rPr sz="1250" b="0">
                <a:solidFill>
                  <a:srgbClr val="4A5A68"/>
                </a:solidFill>
                <a:latin typeface="Meiryo"/>
                <a:ea typeface="Meiryo"/>
                <a:cs typeface="Meiryo"/>
              </a:rPr>
              <a:t>学習側の工夫が一通り尽きた以上、入力に無い情報を足すしか残っていない、というのがここまでの結論。</a:t>
            </a:r>
          </a:p>
        </p:txBody>
      </p:sp>
      <p:sp>
        <p:nvSpPr>
          <p:cNvPr id="9" name="TextBox 8"/>
          <p:cNvSpPr txBox="1"/>
          <p:nvPr/>
        </p:nvSpPr>
        <p:spPr>
          <a:xfrm>
            <a:off x="566928" y="6108192"/>
            <a:ext cx="10417759" cy="685800"/>
          </a:xfrm>
          <a:prstGeom prst="rect">
            <a:avLst/>
          </a:prstGeom>
          <a:noFill/>
        </p:spPr>
        <p:txBody>
          <a:bodyPr wrap="square" lIns="0" tIns="0" rIns="0" bIns="0">
            <a:spAutoFit/>
          </a:bodyPr>
          <a:lstStyle/>
          <a:p>
            <a:pPr algn="l">
              <a:lnSpc>
                <a:spcPct val="140000"/>
              </a:lnSpc>
            </a:pPr>
            <a:r>
              <a:rPr sz="1250" b="0">
                <a:solidFill>
                  <a:srgbClr val="4A5A68"/>
                </a:solidFill>
                <a:latin typeface="Meiryo"/>
                <a:ea typeface="Meiryo"/>
                <a:cs typeface="Meiryo"/>
              </a:rPr>
              <a:t>作成済みで未学習の条件（出力ストライド4、全スケール結合3本、bg30 / bg50）も残っているが、同系統が効かなかったので優先度は下げている。</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420" y="347980"/>
            <a:ext cx="11057890" cy="237490"/>
          </a:xfrm>
          <a:prstGeom prst="rect">
            <a:avLst/>
          </a:prstGeom>
          <a:noFill/>
        </p:spPr>
        <p:txBody>
          <a:bodyPr wrap="square" lIns="0" rIns="0" tIns="0" bIns="0">
            <a:spAutoFit/>
          </a:bodyPr>
          <a:lstStyle/>
          <a:p>
            <a:pPr algn="l"/>
            <a:r>
              <a:rPr sz="1200" b="1">
                <a:solidFill>
                  <a:srgbClr val="4A5A68"/>
                </a:solidFill>
                <a:latin typeface="Meiryo"/>
              </a:rPr>
              <a:t>付録</a:t>
            </a:r>
          </a:p>
        </p:txBody>
      </p:sp>
      <p:sp>
        <p:nvSpPr>
          <p:cNvPr id="3" name="TextBox 2"/>
          <p:cNvSpPr txBox="1"/>
          <p:nvPr/>
        </p:nvSpPr>
        <p:spPr>
          <a:xfrm>
            <a:off x="566420" y="603250"/>
            <a:ext cx="11057890" cy="585470"/>
          </a:xfrm>
          <a:prstGeom prst="rect">
            <a:avLst/>
          </a:prstGeom>
          <a:noFill/>
        </p:spPr>
        <p:txBody>
          <a:bodyPr wrap="square" lIns="0" rIns="0" tIns="0" bIns="0">
            <a:spAutoFit/>
          </a:bodyPr>
          <a:lstStyle/>
          <a:p>
            <a:pPr algn="l"/>
            <a:r>
              <a:rPr sz="2800" b="1">
                <a:solidFill>
                  <a:srgbClr val="23313C"/>
                </a:solidFill>
                <a:latin typeface="Meiryo"/>
              </a:rPr>
              <a:t>補助ヘッドの中身と BN（バッチ正規化）</a:t>
            </a:r>
          </a:p>
        </p:txBody>
      </p:sp>
      <p:sp>
        <p:nvSpPr>
          <p:cNvPr id="4" name="TextBox 3"/>
          <p:cNvSpPr txBox="1"/>
          <p:nvPr/>
        </p:nvSpPr>
        <p:spPr>
          <a:xfrm>
            <a:off x="566420" y="1262380"/>
            <a:ext cx="11057890" cy="402590"/>
          </a:xfrm>
          <a:prstGeom prst="rect">
            <a:avLst/>
          </a:prstGeom>
          <a:noFill/>
        </p:spPr>
        <p:txBody>
          <a:bodyPr wrap="square" lIns="0" rIns="0" tIns="0" bIns="0">
            <a:spAutoFit/>
          </a:bodyPr>
          <a:lstStyle/>
          <a:p>
            <a:pPr algn="l">
              <a:lnSpc>
                <a:spcPct val="145000"/>
              </a:lnSpc>
            </a:pPr>
            <a:r>
              <a:rPr sz="1250" b="0">
                <a:solidFill>
                  <a:srgbClr val="4A5A68"/>
                </a:solidFill>
                <a:latin typeface="Meiryo"/>
              </a:rPr>
              <a:t>第3章②以降で使う補助ヘッドは4段。各段が何をしているかと、BN が何を揃えているか。</a:t>
            </a:r>
          </a:p>
        </p:txBody>
      </p:sp>
      <p:sp>
        <p:nvSpPr>
          <p:cNvPr id="5" name="Rounded Rectangle 4"/>
          <p:cNvSpPr/>
          <p:nvPr/>
        </p:nvSpPr>
        <p:spPr>
          <a:xfrm>
            <a:off x="566420" y="1905000"/>
            <a:ext cx="2286000" cy="711200"/>
          </a:xfrm>
          <a:prstGeom prst="roundRect">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950" b="0">
                <a:solidFill>
                  <a:srgbClr val="23313C"/>
                </a:solidFill>
                <a:latin typeface="Meiryo"/>
              </a:rPr>
              <a:t>Conv 3×3</a:t>
            </a:r>
          </a:p>
          <a:p>
            <a:pPr algn="ctr">
              <a:lnSpc>
                <a:spcPct val="125000"/>
              </a:lnSpc>
            </a:pPr>
            <a:r>
              <a:rPr sz="950" b="0">
                <a:solidFill>
                  <a:srgbClr val="23313C"/>
                </a:solidFill>
                <a:latin typeface="Meiryo"/>
              </a:rPr>
              <a:t>周り3×3画素を見て</a:t>
            </a:r>
          </a:p>
          <a:p>
            <a:pPr algn="ctr">
              <a:lnSpc>
                <a:spcPct val="125000"/>
              </a:lnSpc>
            </a:pPr>
            <a:r>
              <a:rPr sz="950" b="0">
                <a:solidFill>
                  <a:srgbClr val="23313C"/>
                </a:solidFill>
                <a:latin typeface="Meiryo"/>
              </a:rPr>
              <a:t>256ch → 64ch に要約</a:t>
            </a:r>
          </a:p>
        </p:txBody>
      </p:sp>
      <p:cxnSp>
        <p:nvCxnSpPr>
          <p:cNvPr id="6" name="Connector 5"/>
          <p:cNvCxnSpPr/>
          <p:nvPr/>
        </p:nvCxnSpPr>
        <p:spPr>
          <a:xfrm>
            <a:off x="2852420" y="2260600"/>
            <a:ext cx="299720" cy="0"/>
          </a:xfrm>
          <a:prstGeom prst="line">
            <a:avLst/>
          </a:prstGeom>
          <a:ln w="15240">
            <a:solidFill>
              <a:srgbClr val="4A5A68"/>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152140" y="1905000"/>
            <a:ext cx="2286000" cy="711200"/>
          </a:xfrm>
          <a:prstGeom prst="roundRect">
            <a:avLst/>
          </a:prstGeom>
          <a:solidFill>
            <a:srgbClr val="3D6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950" b="0">
                <a:solidFill>
                  <a:srgbClr val="FFFFFF"/>
                </a:solidFill>
                <a:latin typeface="Meiryo"/>
              </a:rPr>
              <a:t>BN</a:t>
            </a:r>
          </a:p>
          <a:p>
            <a:pPr algn="ctr">
              <a:lnSpc>
                <a:spcPct val="125000"/>
              </a:lnSpc>
            </a:pPr>
            <a:r>
              <a:rPr sz="950" b="0">
                <a:solidFill>
                  <a:srgbClr val="FFFFFF"/>
                </a:solidFill>
                <a:latin typeface="Meiryo"/>
              </a:rPr>
              <a:t>32枚ぶんで</a:t>
            </a:r>
          </a:p>
          <a:p>
            <a:pPr algn="ctr">
              <a:lnSpc>
                <a:spcPct val="125000"/>
              </a:lnSpc>
            </a:pPr>
            <a:r>
              <a:rPr sz="950" b="0">
                <a:solidFill>
                  <a:srgbClr val="FFFFFF"/>
                </a:solidFill>
                <a:latin typeface="Meiryo"/>
              </a:rPr>
              <a:t>平均0・ばらつき1に揃える</a:t>
            </a:r>
          </a:p>
        </p:txBody>
      </p:sp>
      <p:cxnSp>
        <p:nvCxnSpPr>
          <p:cNvPr id="8" name="Connector 7"/>
          <p:cNvCxnSpPr/>
          <p:nvPr/>
        </p:nvCxnSpPr>
        <p:spPr>
          <a:xfrm>
            <a:off x="5438140" y="2260600"/>
            <a:ext cx="299719" cy="0"/>
          </a:xfrm>
          <a:prstGeom prst="line">
            <a:avLst/>
          </a:prstGeom>
          <a:ln w="15240">
            <a:solidFill>
              <a:srgbClr val="4A5A6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737859" y="1905000"/>
            <a:ext cx="2286000" cy="711200"/>
          </a:xfrm>
          <a:prstGeom prst="roundRect">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950" b="0">
                <a:solidFill>
                  <a:srgbClr val="23313C"/>
                </a:solidFill>
                <a:latin typeface="Meiryo"/>
              </a:rPr>
              <a:t>ReLU</a:t>
            </a:r>
          </a:p>
          <a:p>
            <a:pPr algn="ctr">
              <a:lnSpc>
                <a:spcPct val="125000"/>
              </a:lnSpc>
            </a:pPr>
            <a:r>
              <a:rPr sz="950" b="0">
                <a:solidFill>
                  <a:srgbClr val="23313C"/>
                </a:solidFill>
                <a:latin typeface="Meiryo"/>
              </a:rPr>
              <a:t>マイナスを0にする</a:t>
            </a:r>
          </a:p>
          <a:p>
            <a:pPr algn="ctr">
              <a:lnSpc>
                <a:spcPct val="125000"/>
              </a:lnSpc>
            </a:pPr>
            <a:r>
              <a:rPr sz="950" b="0">
                <a:solidFill>
                  <a:srgbClr val="23313C"/>
                </a:solidFill>
                <a:latin typeface="Meiryo"/>
              </a:rPr>
              <a:t>（非線形性を入れる）</a:t>
            </a:r>
          </a:p>
        </p:txBody>
      </p:sp>
      <p:cxnSp>
        <p:nvCxnSpPr>
          <p:cNvPr id="10" name="Connector 9"/>
          <p:cNvCxnSpPr/>
          <p:nvPr/>
        </p:nvCxnSpPr>
        <p:spPr>
          <a:xfrm>
            <a:off x="8023859" y="2260600"/>
            <a:ext cx="299721" cy="0"/>
          </a:xfrm>
          <a:prstGeom prst="line">
            <a:avLst/>
          </a:prstGeom>
          <a:ln w="15240">
            <a:solidFill>
              <a:srgbClr val="4A5A68"/>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323580" y="1905000"/>
            <a:ext cx="2286000" cy="711200"/>
          </a:xfrm>
          <a:prstGeom prst="roundRect">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950" b="0">
                <a:solidFill>
                  <a:srgbClr val="FFFFFF"/>
                </a:solidFill>
                <a:latin typeface="Meiryo"/>
              </a:rPr>
              <a:t>Conv 1×1</a:t>
            </a:r>
          </a:p>
          <a:p>
            <a:pPr algn="ctr">
              <a:lnSpc>
                <a:spcPct val="125000"/>
              </a:lnSpc>
            </a:pPr>
            <a:r>
              <a:rPr sz="950" b="0">
                <a:solidFill>
                  <a:srgbClr val="FFFFFF"/>
                </a:solidFill>
                <a:latin typeface="Meiryo"/>
              </a:rPr>
              <a:t>64ch → 1ch</a:t>
            </a:r>
          </a:p>
          <a:p>
            <a:pPr algn="ctr">
              <a:lnSpc>
                <a:spcPct val="125000"/>
              </a:lnSpc>
            </a:pPr>
            <a:r>
              <a:rPr sz="950" b="0">
                <a:solidFill>
                  <a:srgbClr val="FFFFFF"/>
                </a:solidFill>
                <a:latin typeface="Meiryo"/>
              </a:rPr>
              <a:t>1枚の地図にする</a:t>
            </a:r>
          </a:p>
        </p:txBody>
      </p:sp>
      <p:sp>
        <p:nvSpPr>
          <p:cNvPr id="12" name="Rounded Rectangle 11"/>
          <p:cNvSpPr/>
          <p:nvPr/>
        </p:nvSpPr>
        <p:spPr>
          <a:xfrm>
            <a:off x="566420" y="2946400"/>
            <a:ext cx="5397500" cy="1574800"/>
          </a:xfrm>
          <a:prstGeom prst="roundRect">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29280"/>
            <a:ext cx="4884420" cy="274320"/>
          </a:xfrm>
          <a:prstGeom prst="rect">
            <a:avLst/>
          </a:prstGeom>
          <a:noFill/>
        </p:spPr>
        <p:txBody>
          <a:bodyPr wrap="square" lIns="0" rIns="0" tIns="0" bIns="0">
            <a:spAutoFit/>
          </a:bodyPr>
          <a:lstStyle/>
          <a:p>
            <a:pPr algn="l"/>
            <a:r>
              <a:rPr sz="1200" b="1">
                <a:solidFill>
                  <a:srgbClr val="23313C"/>
                </a:solidFill>
                <a:latin typeface="Meiryo"/>
              </a:rPr>
              <a:t>BN は何をしているか</a:t>
            </a:r>
          </a:p>
        </p:txBody>
      </p:sp>
      <p:sp>
        <p:nvSpPr>
          <p:cNvPr id="14" name="TextBox 13"/>
          <p:cNvSpPr txBox="1"/>
          <p:nvPr/>
        </p:nvSpPr>
        <p:spPr>
          <a:xfrm>
            <a:off x="822960" y="3477260"/>
            <a:ext cx="4884420" cy="863600"/>
          </a:xfrm>
          <a:prstGeom prst="rect">
            <a:avLst/>
          </a:prstGeom>
          <a:noFill/>
        </p:spPr>
        <p:txBody>
          <a:bodyPr wrap="square" lIns="0" rIns="0" tIns="0" bIns="0">
            <a:spAutoFit/>
          </a:bodyPr>
          <a:lstStyle/>
          <a:p>
            <a:pPr algn="l">
              <a:lnSpc>
                <a:spcPct val="150000"/>
              </a:lnSpc>
            </a:pPr>
            <a:r>
              <a:rPr sz="1100" b="0">
                <a:solidFill>
                  <a:srgbClr val="4A5A68"/>
                </a:solidFill>
                <a:latin typeface="Meiryo"/>
              </a:rPr>
              <a:t>テストの点を偏差値に直すのと同じ。32枚ぶんの平均を引き、ばらつきで割り、学習で決まる倍率とゲタを掛け足す。</a:t>
            </a:r>
          </a:p>
          <a:p>
            <a:pPr algn="l">
              <a:lnSpc>
                <a:spcPct val="150000"/>
              </a:lnSpc>
            </a:pPr>
            <a:r>
              <a:rPr sz="1100" b="0">
                <a:solidFill>
                  <a:srgbClr val="4A5A68"/>
                </a:solidFill>
                <a:latin typeface="Meiryo"/>
              </a:rPr>
              <a:t>層を重ねると数値が暴れるので、各段で揃えると学習が速く安定する。</a:t>
            </a:r>
          </a:p>
        </p:txBody>
      </p:sp>
      <p:sp>
        <p:nvSpPr>
          <p:cNvPr id="15" name="Rounded Rectangle 14"/>
          <p:cNvSpPr/>
          <p:nvPr/>
        </p:nvSpPr>
        <p:spPr>
          <a:xfrm>
            <a:off x="6226810" y="2946400"/>
            <a:ext cx="5397500" cy="1574800"/>
          </a:xfrm>
          <a:prstGeom prst="roundRect">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83350" y="3129280"/>
            <a:ext cx="4884420" cy="274320"/>
          </a:xfrm>
          <a:prstGeom prst="rect">
            <a:avLst/>
          </a:prstGeom>
          <a:noFill/>
        </p:spPr>
        <p:txBody>
          <a:bodyPr wrap="square" lIns="0" rIns="0" tIns="0" bIns="0">
            <a:spAutoFit/>
          </a:bodyPr>
          <a:lstStyle/>
          <a:p>
            <a:pPr algn="l"/>
            <a:r>
              <a:rPr sz="1200" b="1">
                <a:solidFill>
                  <a:srgbClr val="23313C"/>
                </a:solidFill>
                <a:latin typeface="Meiryo"/>
              </a:rPr>
              <a:t>受容野 26.9 m の出どころ</a:t>
            </a:r>
          </a:p>
        </p:txBody>
      </p:sp>
      <p:sp>
        <p:nvSpPr>
          <p:cNvPr id="17" name="TextBox 16"/>
          <p:cNvSpPr txBox="1"/>
          <p:nvPr/>
        </p:nvSpPr>
        <p:spPr>
          <a:xfrm>
            <a:off x="6483350" y="3477260"/>
            <a:ext cx="4884420" cy="863600"/>
          </a:xfrm>
          <a:prstGeom prst="rect">
            <a:avLst/>
          </a:prstGeom>
          <a:noFill/>
        </p:spPr>
        <p:txBody>
          <a:bodyPr wrap="square" lIns="0" rIns="0" tIns="0" bIns="0">
            <a:spAutoFit/>
          </a:bodyPr>
          <a:lstStyle/>
          <a:p>
            <a:pPr algn="l">
              <a:lnSpc>
                <a:spcPct val="150000"/>
              </a:lnSpc>
            </a:pPr>
            <a:r>
              <a:rPr sz="1100" b="0">
                <a:solidFill>
                  <a:srgbClr val="4A5A68"/>
                </a:solidFill>
                <a:latin typeface="Meiryo"/>
              </a:rPr>
              <a:t>64×64 の段は 1画素 8.96 m。Conv 3×3 は 3画素ぶんしか見ないので 26.9 m。</a:t>
            </a:r>
          </a:p>
          <a:p>
            <a:pPr algn="l">
              <a:lnSpc>
                <a:spcPct val="150000"/>
              </a:lnSpc>
            </a:pPr>
            <a:r>
              <a:rPr sz="1100" b="0">
                <a:solidFill>
                  <a:srgbClr val="4A5A68"/>
                </a:solidFill>
                <a:latin typeface="Meiryo"/>
              </a:rPr>
              <a:t>箇所の典型サイズ 81 m 四方には届かない。これが第3章④の ASPP の動機。</a:t>
            </a:r>
          </a:p>
        </p:txBody>
      </p:sp>
      <p:sp>
        <p:nvSpPr>
          <p:cNvPr id="18" name="Rounded Rectangle 17"/>
          <p:cNvSpPr/>
          <p:nvPr/>
        </p:nvSpPr>
        <p:spPr>
          <a:xfrm>
            <a:off x="566420" y="4648200"/>
            <a:ext cx="11057890" cy="889000"/>
          </a:xfrm>
          <a:prstGeom prst="roundRect">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569" y="4648200"/>
            <a:ext cx="10435590" cy="889000"/>
          </a:xfrm>
          <a:prstGeom prst="rect">
            <a:avLst/>
          </a:prstGeom>
          <a:noFill/>
        </p:spPr>
        <p:txBody>
          <a:bodyPr wrap="square" lIns="0" rIns="0" tIns="0" bIns="0">
            <a:spAutoFit/>
          </a:bodyPr>
          <a:lstStyle/>
          <a:p>
            <a:pPr algn="l">
              <a:lnSpc>
                <a:spcPct val="145000"/>
              </a:lnSpc>
            </a:pPr>
            <a:r>
              <a:rPr sz="1350" b="1">
                <a:solidFill>
                  <a:srgbClr val="FFFFFF"/>
                </a:solidFill>
                <a:latin typeface="Meiryo"/>
              </a:rPr>
              <a:t>Conv1×1 は「ch をまとめ直すだけ」の層。</a:t>
            </a:r>
            <a:r>
              <a:rPr sz="1350" b="0">
                <a:solidFill>
                  <a:srgbClr val="FFFFFF"/>
                </a:solidFill>
                <a:latin typeface="Meiryo"/>
              </a:rPr>
              <a:t>周りの画素は見ず、同じ場所の 64本の値を1本に合成する。</a:t>
            </a:r>
          </a:p>
          <a:p>
            <a:pPr algn="l">
              <a:lnSpc>
                <a:spcPct val="145000"/>
              </a:lnSpc>
            </a:pPr>
            <a:r>
              <a:rPr sz="1350" b="0">
                <a:solidFill>
                  <a:srgbClr val="FFFFFF"/>
                </a:solidFill>
                <a:latin typeface="Meiryo"/>
              </a:rPr>
              <a:t>だから受容野を決めているのは Conv3×3 のほうだけで、ここを広げないかぎり見える範囲は変わらない。</a:t>
            </a:r>
          </a:p>
        </p:txBody>
      </p:sp>
      <p:sp>
        <p:nvSpPr>
          <p:cNvPr id="20" name="TextBox 19"/>
          <p:cNvSpPr txBox="1"/>
          <p:nvPr/>
        </p:nvSpPr>
        <p:spPr>
          <a:xfrm>
            <a:off x="11277600" y="6455410"/>
            <a:ext cx="457200" cy="219710"/>
          </a:xfrm>
          <a:prstGeom prst="rect">
            <a:avLst/>
          </a:prstGeom>
          <a:noFill/>
        </p:spPr>
        <p:txBody>
          <a:bodyPr wrap="square" lIns="0" rIns="0" tIns="0" bIns="0">
            <a:spAutoFit/>
          </a:bodyPr>
          <a:lstStyle/>
          <a:p>
            <a:pPr algn="r"/>
            <a:r>
              <a:rPr sz="1000" b="0">
                <a:solidFill>
                  <a:srgbClr val="4A5A68"/>
                </a:solidFill>
                <a:latin typeface="Meiryo"/>
              </a:rPr>
              <a:t>40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420" y="347980"/>
            <a:ext cx="11057890" cy="237490"/>
          </a:xfrm>
          <a:prstGeom prst="rect">
            <a:avLst/>
          </a:prstGeom>
          <a:noFill/>
        </p:spPr>
        <p:txBody>
          <a:bodyPr wrap="square" lIns="0" rIns="0" tIns="0" bIns="0">
            <a:spAutoFit/>
          </a:bodyPr>
          <a:lstStyle/>
          <a:p>
            <a:pPr algn="l"/>
            <a:r>
              <a:rPr sz="1200" b="1">
                <a:solidFill>
                  <a:srgbClr val="4A5A68"/>
                </a:solidFill>
                <a:latin typeface="Meiryo"/>
              </a:rPr>
              <a:t>第2章 ④</a:t>
            </a:r>
          </a:p>
        </p:txBody>
      </p:sp>
      <p:sp>
        <p:nvSpPr>
          <p:cNvPr id="3" name="TextBox 2"/>
          <p:cNvSpPr txBox="1"/>
          <p:nvPr/>
        </p:nvSpPr>
        <p:spPr>
          <a:xfrm>
            <a:off x="566420" y="603250"/>
            <a:ext cx="11057890" cy="585470"/>
          </a:xfrm>
          <a:prstGeom prst="rect">
            <a:avLst/>
          </a:prstGeom>
          <a:noFill/>
        </p:spPr>
        <p:txBody>
          <a:bodyPr wrap="square" lIns="0" rIns="0" tIns="0" bIns="0">
            <a:spAutoFit/>
          </a:bodyPr>
          <a:lstStyle/>
          <a:p>
            <a:pPr algn="l"/>
            <a:r>
              <a:rPr sz="2800" b="1">
                <a:solidFill>
                  <a:srgbClr val="23313C"/>
                </a:solidFill>
                <a:latin typeface="Meiryo"/>
              </a:rPr>
              <a:t>仕組み — TransUNet</a:t>
            </a:r>
          </a:p>
        </p:txBody>
      </p:sp>
      <p:sp>
        <p:nvSpPr>
          <p:cNvPr id="4" name="TextBox 3"/>
          <p:cNvSpPr txBox="1"/>
          <p:nvPr/>
        </p:nvSpPr>
        <p:spPr>
          <a:xfrm>
            <a:off x="566420" y="1262380"/>
            <a:ext cx="11057890" cy="402590"/>
          </a:xfrm>
          <a:prstGeom prst="rect">
            <a:avLst/>
          </a:prstGeom>
          <a:noFill/>
        </p:spPr>
        <p:txBody>
          <a:bodyPr wrap="square" lIns="0" rIns="0" tIns="0" bIns="0">
            <a:spAutoFit/>
          </a:bodyPr>
          <a:lstStyle/>
          <a:p>
            <a:pPr algn="l">
              <a:lnSpc>
                <a:spcPct val="145000"/>
              </a:lnSpc>
            </a:pPr>
            <a:r>
              <a:rPr sz="1250" b="0">
                <a:solidFill>
                  <a:srgbClr val="4A5A68"/>
                </a:solidFill>
                <a:latin typeface="Meiryo"/>
              </a:rPr>
              <a:t>ボトルネックの 8×8 を「64個のトークン」とみなし、全部の組み合わせを総当たりで見比べさせる（自己注意）。</a:t>
            </a:r>
          </a:p>
        </p:txBody>
      </p:sp>
      <p:sp>
        <p:nvSpPr>
          <p:cNvPr id="5" name="Rounded Rectangle 4"/>
          <p:cNvSpPr/>
          <p:nvPr/>
        </p:nvSpPr>
        <p:spPr>
          <a:xfrm>
            <a:off x="566420" y="1930400"/>
            <a:ext cx="1884680" cy="584200"/>
          </a:xfrm>
          <a:prstGeom prst="roundRect">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950" b="0">
                <a:solidFill>
                  <a:srgbClr val="FFFFFF"/>
                </a:solidFill>
                <a:latin typeface="Meiryo"/>
              </a:rPr>
              <a:t>ボトルネック</a:t>
            </a:r>
          </a:p>
          <a:p>
            <a:pPr algn="ctr">
              <a:lnSpc>
                <a:spcPct val="125000"/>
              </a:lnSpc>
            </a:pPr>
            <a:r>
              <a:rPr sz="950" b="0">
                <a:solidFill>
                  <a:srgbClr val="FFFFFF"/>
                </a:solidFill>
                <a:latin typeface="Meiryo"/>
              </a:rPr>
              <a:t>8×8 ・ 1024ch</a:t>
            </a:r>
          </a:p>
        </p:txBody>
      </p:sp>
      <p:sp>
        <p:nvSpPr>
          <p:cNvPr id="6" name="Rounded Rectangle 5"/>
          <p:cNvSpPr/>
          <p:nvPr/>
        </p:nvSpPr>
        <p:spPr>
          <a:xfrm>
            <a:off x="2705100" y="1930400"/>
            <a:ext cx="1884680" cy="584200"/>
          </a:xfrm>
          <a:prstGeom prst="roundRect">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950" b="0">
                <a:solidFill>
                  <a:srgbClr val="23313C"/>
                </a:solidFill>
                <a:latin typeface="Meiryo"/>
              </a:rPr>
              <a:t>平坦化</a:t>
            </a:r>
          </a:p>
          <a:p>
            <a:pPr algn="ctr">
              <a:lnSpc>
                <a:spcPct val="125000"/>
              </a:lnSpc>
            </a:pPr>
            <a:r>
              <a:rPr sz="950" b="0">
                <a:solidFill>
                  <a:srgbClr val="23313C"/>
                </a:solidFill>
                <a:latin typeface="Meiryo"/>
              </a:rPr>
              <a:t>64 トークン × 1024次元</a:t>
            </a:r>
          </a:p>
        </p:txBody>
      </p:sp>
      <p:sp>
        <p:nvSpPr>
          <p:cNvPr id="7" name="Rounded Rectangle 6"/>
          <p:cNvSpPr/>
          <p:nvPr/>
        </p:nvSpPr>
        <p:spPr>
          <a:xfrm>
            <a:off x="4838700" y="1930400"/>
            <a:ext cx="1884680" cy="584200"/>
          </a:xfrm>
          <a:prstGeom prst="roundRect">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950" b="0">
                <a:solidFill>
                  <a:srgbClr val="23313C"/>
                </a:solidFill>
                <a:latin typeface="Meiryo"/>
              </a:rPr>
              <a:t>位置埋め込みを足す</a:t>
            </a:r>
          </a:p>
          <a:p>
            <a:pPr algn="ctr">
              <a:lnSpc>
                <a:spcPct val="125000"/>
              </a:lnSpc>
            </a:pPr>
            <a:r>
              <a:rPr sz="950" b="0">
                <a:solidFill>
                  <a:srgbClr val="23313C"/>
                </a:solidFill>
                <a:latin typeface="Meiryo"/>
              </a:rPr>
              <a:t>何番目のマスかを教える</a:t>
            </a:r>
          </a:p>
        </p:txBody>
      </p:sp>
      <p:sp>
        <p:nvSpPr>
          <p:cNvPr id="8" name="Rounded Rectangle 7"/>
          <p:cNvSpPr/>
          <p:nvPr/>
        </p:nvSpPr>
        <p:spPr>
          <a:xfrm>
            <a:off x="6972300" y="1930400"/>
            <a:ext cx="2392680" cy="584200"/>
          </a:xfrm>
          <a:prstGeom prst="roundRect">
            <a:avLst/>
          </a:prstGeom>
          <a:solidFill>
            <a:srgbClr val="3D6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950" b="0">
                <a:solidFill>
                  <a:srgbClr val="FFFFFF"/>
                </a:solidFill>
                <a:latin typeface="Meiryo"/>
              </a:rPr>
              <a:t>Transformer 4層</a:t>
            </a:r>
          </a:p>
          <a:p>
            <a:pPr algn="ctr">
              <a:lnSpc>
                <a:spcPct val="125000"/>
              </a:lnSpc>
            </a:pPr>
            <a:r>
              <a:rPr sz="950" b="0">
                <a:solidFill>
                  <a:srgbClr val="FFFFFF"/>
                </a:solidFill>
                <a:latin typeface="Meiryo"/>
              </a:rPr>
              <a:t>8ヘッドの自己注意</a:t>
            </a:r>
          </a:p>
        </p:txBody>
      </p:sp>
      <p:sp>
        <p:nvSpPr>
          <p:cNvPr id="9" name="Rounded Rectangle 8"/>
          <p:cNvSpPr/>
          <p:nvPr/>
        </p:nvSpPr>
        <p:spPr>
          <a:xfrm>
            <a:off x="9613900" y="1930400"/>
            <a:ext cx="2010410" cy="584200"/>
          </a:xfrm>
          <a:prstGeom prst="roundRect">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950" b="0">
                <a:solidFill>
                  <a:srgbClr val="FFFFFF"/>
                </a:solidFill>
                <a:latin typeface="Meiryo"/>
              </a:rPr>
              <a:t>8×8 に戻す</a:t>
            </a:r>
          </a:p>
          <a:p>
            <a:pPr algn="ctr">
              <a:lnSpc>
                <a:spcPct val="125000"/>
              </a:lnSpc>
            </a:pPr>
            <a:r>
              <a:rPr sz="950" b="0">
                <a:solidFill>
                  <a:srgbClr val="FFFFFF"/>
                </a:solidFill>
                <a:latin typeface="Meiryo"/>
              </a:rPr>
              <a:t>デコーダへ</a:t>
            </a:r>
          </a:p>
        </p:txBody>
      </p:sp>
      <p:cxnSp>
        <p:nvCxnSpPr>
          <p:cNvPr id="10" name="Connector 9"/>
          <p:cNvCxnSpPr/>
          <p:nvPr/>
        </p:nvCxnSpPr>
        <p:spPr>
          <a:xfrm>
            <a:off x="2451100" y="2222500"/>
            <a:ext cx="254000" cy="0"/>
          </a:xfrm>
          <a:prstGeom prst="line">
            <a:avLst/>
          </a:prstGeom>
          <a:ln w="15240">
            <a:solidFill>
              <a:srgbClr val="4A5A6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89780" y="2222500"/>
            <a:ext cx="254000" cy="0"/>
          </a:xfrm>
          <a:prstGeom prst="line">
            <a:avLst/>
          </a:prstGeom>
          <a:ln w="15240">
            <a:solidFill>
              <a:srgbClr val="4A5A6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723380" y="2222500"/>
            <a:ext cx="254000" cy="0"/>
          </a:xfrm>
          <a:prstGeom prst="line">
            <a:avLst/>
          </a:prstGeom>
          <a:ln w="15240">
            <a:solidFill>
              <a:srgbClr val="4A5A6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364980" y="2222500"/>
            <a:ext cx="254000" cy="0"/>
          </a:xfrm>
          <a:prstGeom prst="line">
            <a:avLst/>
          </a:prstGeom>
          <a:ln w="15240">
            <a:solidFill>
              <a:srgbClr val="4A5A6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66420" y="2819400"/>
            <a:ext cx="5397500" cy="1422400"/>
          </a:xfrm>
          <a:prstGeom prst="roundRect">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002280"/>
            <a:ext cx="4884420" cy="274320"/>
          </a:xfrm>
          <a:prstGeom prst="rect">
            <a:avLst/>
          </a:prstGeom>
          <a:noFill/>
        </p:spPr>
        <p:txBody>
          <a:bodyPr wrap="square" lIns="0" rIns="0" tIns="0" bIns="0">
            <a:spAutoFit/>
          </a:bodyPr>
          <a:lstStyle/>
          <a:p>
            <a:pPr algn="l"/>
            <a:r>
              <a:rPr sz="1200" b="1">
                <a:solidFill>
                  <a:srgbClr val="23313C"/>
                </a:solidFill>
                <a:latin typeface="Meiryo"/>
              </a:rPr>
              <a:t>CNN との違い</a:t>
            </a:r>
          </a:p>
        </p:txBody>
      </p:sp>
      <p:sp>
        <p:nvSpPr>
          <p:cNvPr id="16" name="TextBox 15"/>
          <p:cNvSpPr txBox="1"/>
          <p:nvPr/>
        </p:nvSpPr>
        <p:spPr>
          <a:xfrm>
            <a:off x="822960" y="3350260"/>
            <a:ext cx="4884420" cy="711200"/>
          </a:xfrm>
          <a:prstGeom prst="rect">
            <a:avLst/>
          </a:prstGeom>
          <a:noFill/>
        </p:spPr>
        <p:txBody>
          <a:bodyPr wrap="square" lIns="0" rIns="0" tIns="0" bIns="0">
            <a:spAutoFit/>
          </a:bodyPr>
          <a:lstStyle/>
          <a:p>
            <a:pPr algn="l">
              <a:lnSpc>
                <a:spcPct val="150000"/>
              </a:lnSpc>
            </a:pPr>
            <a:r>
              <a:rPr sz="1100" b="0">
                <a:solidFill>
                  <a:srgbClr val="4A5A68"/>
                </a:solidFill>
                <a:latin typeface="Meiryo"/>
              </a:rPr>
              <a:t>畳み込みは 3×3 ずつしか見ないので、遠くの情報は何段も重ねないと届かない。</a:t>
            </a:r>
          </a:p>
          <a:p>
            <a:pPr algn="l">
              <a:lnSpc>
                <a:spcPct val="150000"/>
              </a:lnSpc>
            </a:pPr>
            <a:r>
              <a:rPr sz="1100" b="0">
                <a:solidFill>
                  <a:srgbClr val="4A5A68"/>
                </a:solidFill>
                <a:latin typeface="Meiryo"/>
              </a:rPr>
              <a:t>自己注意は一度に全体を見られる（大域文脈）。</a:t>
            </a:r>
          </a:p>
        </p:txBody>
      </p:sp>
      <p:sp>
        <p:nvSpPr>
          <p:cNvPr id="17" name="Rounded Rectangle 16"/>
          <p:cNvSpPr/>
          <p:nvPr/>
        </p:nvSpPr>
        <p:spPr>
          <a:xfrm>
            <a:off x="6226810" y="2819400"/>
            <a:ext cx="5397500" cy="1422400"/>
          </a:xfrm>
          <a:prstGeom prst="roundRect">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350" y="3002280"/>
            <a:ext cx="4884420" cy="274320"/>
          </a:xfrm>
          <a:prstGeom prst="rect">
            <a:avLst/>
          </a:prstGeom>
          <a:noFill/>
        </p:spPr>
        <p:txBody>
          <a:bodyPr wrap="square" lIns="0" rIns="0" tIns="0" bIns="0">
            <a:spAutoFit/>
          </a:bodyPr>
          <a:lstStyle/>
          <a:p>
            <a:pPr algn="l"/>
            <a:r>
              <a:rPr sz="1200" b="1">
                <a:solidFill>
                  <a:srgbClr val="23313C"/>
                </a:solidFill>
                <a:latin typeface="Meiryo"/>
              </a:rPr>
              <a:t>結果</a:t>
            </a:r>
          </a:p>
        </p:txBody>
      </p:sp>
      <p:sp>
        <p:nvSpPr>
          <p:cNvPr id="19" name="TextBox 18"/>
          <p:cNvSpPr txBox="1"/>
          <p:nvPr/>
        </p:nvSpPr>
        <p:spPr>
          <a:xfrm>
            <a:off x="6483350" y="3350260"/>
            <a:ext cx="4884420" cy="711200"/>
          </a:xfrm>
          <a:prstGeom prst="rect">
            <a:avLst/>
          </a:prstGeom>
          <a:noFill/>
        </p:spPr>
        <p:txBody>
          <a:bodyPr wrap="square" lIns="0" rIns="0" tIns="0" bIns="0">
            <a:spAutoFit/>
          </a:bodyPr>
          <a:lstStyle/>
          <a:p>
            <a:pPr algn="l">
              <a:lnSpc>
                <a:spcPct val="150000"/>
              </a:lnSpc>
            </a:pPr>
            <a:r>
              <a:rPr sz="1100" b="0">
                <a:solidFill>
                  <a:srgbClr val="4A5A68"/>
                </a:solidFill>
                <a:latin typeface="Meiryo"/>
              </a:rPr>
              <a:t>94.0M（Final の 2.2倍）で 0.6728。</a:t>
            </a:r>
          </a:p>
          <a:p>
            <a:pPr algn="l">
              <a:lnSpc>
                <a:spcPct val="150000"/>
              </a:lnSpc>
            </a:pPr>
            <a:r>
              <a:rPr sz="1100" b="0">
                <a:solidFill>
                  <a:srgbClr val="4A5A68"/>
                </a:solidFill>
                <a:latin typeface="Meiryo"/>
              </a:rPr>
              <a:t>Final の 0.6727 とまったく同じ。パラメータを増やしても伸びない。</a:t>
            </a:r>
          </a:p>
        </p:txBody>
      </p:sp>
      <p:sp>
        <p:nvSpPr>
          <p:cNvPr id="20" name="Rounded Rectangle 19"/>
          <p:cNvSpPr/>
          <p:nvPr/>
        </p:nvSpPr>
        <p:spPr>
          <a:xfrm>
            <a:off x="566420" y="4368800"/>
            <a:ext cx="11057890" cy="889000"/>
          </a:xfrm>
          <a:prstGeom prst="roundRect">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569" y="4368800"/>
            <a:ext cx="10435590" cy="889000"/>
          </a:xfrm>
          <a:prstGeom prst="rect">
            <a:avLst/>
          </a:prstGeom>
          <a:noFill/>
        </p:spPr>
        <p:txBody>
          <a:bodyPr wrap="square" lIns="0" rIns="0" tIns="0" bIns="0">
            <a:spAutoFit/>
          </a:bodyPr>
          <a:lstStyle/>
          <a:p>
            <a:pPr algn="l">
              <a:lnSpc>
                <a:spcPct val="145000"/>
              </a:lnSpc>
            </a:pPr>
            <a:r>
              <a:rPr sz="1350" b="1">
                <a:solidFill>
                  <a:srgbClr val="FFFFFF"/>
                </a:solidFill>
                <a:latin typeface="Meiryo"/>
              </a:rPr>
              <a:t>効かなかった理由：8×8 ではもう見比べる材料が残っていない。</a:t>
            </a:r>
          </a:p>
          <a:p>
            <a:pPr algn="l">
              <a:lnSpc>
                <a:spcPct val="145000"/>
              </a:lnSpc>
            </a:pPr>
            <a:r>
              <a:rPr sz="1350" b="0">
                <a:solidFill>
                  <a:srgbClr val="FFFFFF"/>
                </a:solidFill>
                <a:latin typeface="Meiryo"/>
              </a:rPr>
              <a:t>1画素が 71.7 m あり、箇所の典型サイズ 81 m 四方がすでに1画素ぶん。解像度を失ったあとで全体を見比べても遅い。</a:t>
            </a:r>
          </a:p>
        </p:txBody>
      </p:sp>
      <p:sp>
        <p:nvSpPr>
          <p:cNvPr id="22" name="TextBox 21"/>
          <p:cNvSpPr txBox="1"/>
          <p:nvPr/>
        </p:nvSpPr>
        <p:spPr>
          <a:xfrm>
            <a:off x="566420" y="5461000"/>
            <a:ext cx="11057890" cy="914400"/>
          </a:xfrm>
          <a:prstGeom prst="rect">
            <a:avLst/>
          </a:prstGeom>
          <a:noFill/>
        </p:spPr>
        <p:txBody>
          <a:bodyPr wrap="square" lIns="0" rIns="0" tIns="0" bIns="0">
            <a:spAutoFit/>
          </a:bodyPr>
          <a:lstStyle/>
          <a:p>
            <a:pPr algn="l">
              <a:lnSpc>
                <a:spcPct val="145000"/>
              </a:lnSpc>
            </a:pPr>
            <a:r>
              <a:rPr sz="1200" b="1">
                <a:solidFill>
                  <a:srgbClr val="23313C"/>
                </a:solidFill>
                <a:latin typeface="Meiryo"/>
              </a:rPr>
              <a:t>この読みが第3章④につながる。</a:t>
            </a:r>
            <a:r>
              <a:rPr sz="1200" b="0">
                <a:solidFill>
                  <a:srgbClr val="4A5A68"/>
                </a:solidFill>
                <a:latin typeface="Meiryo"/>
              </a:rPr>
              <a:t>　大域文脈そのものは要る。ただし </a:t>
            </a:r>
            <a:r>
              <a:rPr sz="1200" b="1">
                <a:solidFill>
                  <a:srgbClr val="23313C"/>
                </a:solidFill>
                <a:latin typeface="Meiryo"/>
              </a:rPr>
              <a:t>縮める前の 64×64 で、解像度を保ったまま</a:t>
            </a:r>
            <a:r>
              <a:rPr sz="1200" b="0">
                <a:solidFill>
                  <a:srgbClr val="4A5A68"/>
                </a:solidFill>
                <a:latin typeface="Meiryo"/>
              </a:rPr>
              <a:t>取らなければならない。それが dilation を使う ASPP で、実際そちらでは補助ヘッドの F値が +0.119 動いた。</a:t>
            </a:r>
          </a:p>
        </p:txBody>
      </p:sp>
      <p:sp>
        <p:nvSpPr>
          <p:cNvPr id="23" name="TextBox 22"/>
          <p:cNvSpPr txBox="1"/>
          <p:nvPr/>
        </p:nvSpPr>
        <p:spPr>
          <a:xfrm>
            <a:off x="11277600" y="6455410"/>
            <a:ext cx="457200" cy="219710"/>
          </a:xfrm>
          <a:prstGeom prst="rect">
            <a:avLst/>
          </a:prstGeom>
          <a:noFill/>
        </p:spPr>
        <p:txBody>
          <a:bodyPr wrap="square" lIns="0" rIns="0" tIns="0" bIns="0">
            <a:spAutoFit/>
          </a:bodyPr>
          <a:lstStyle/>
          <a:p>
            <a:pPr algn="r"/>
            <a:r>
              <a:rPr sz="1000" b="0">
                <a:solidFill>
                  <a:srgbClr val="4A5A68"/>
                </a:solidFill>
                <a:latin typeface="Meiryo"/>
              </a:rPr>
              <a:t>12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420" y="347980"/>
            <a:ext cx="11057890" cy="237490"/>
          </a:xfrm>
          <a:prstGeom prst="rect">
            <a:avLst/>
          </a:prstGeom>
          <a:noFill/>
        </p:spPr>
        <p:txBody>
          <a:bodyPr wrap="square" lIns="0" rIns="0" tIns="0" bIns="0">
            <a:spAutoFit/>
          </a:bodyPr>
          <a:lstStyle/>
          <a:p>
            <a:pPr algn="l"/>
            <a:r>
              <a:rPr sz="1200" b="1">
                <a:solidFill>
                  <a:srgbClr val="4A5A68"/>
                </a:solidFill>
                <a:latin typeface="Meiryo"/>
              </a:rPr>
              <a:t>第2章 ③</a:t>
            </a:r>
          </a:p>
        </p:txBody>
      </p:sp>
      <p:sp>
        <p:nvSpPr>
          <p:cNvPr id="3" name="TextBox 2"/>
          <p:cNvSpPr txBox="1"/>
          <p:nvPr/>
        </p:nvSpPr>
        <p:spPr>
          <a:xfrm>
            <a:off x="566420" y="603250"/>
            <a:ext cx="11057890" cy="585470"/>
          </a:xfrm>
          <a:prstGeom prst="rect">
            <a:avLst/>
          </a:prstGeom>
          <a:noFill/>
        </p:spPr>
        <p:txBody>
          <a:bodyPr wrap="square" lIns="0" rIns="0" tIns="0" bIns="0">
            <a:spAutoFit/>
          </a:bodyPr>
          <a:lstStyle/>
          <a:p>
            <a:pPr algn="l"/>
            <a:r>
              <a:rPr sz="2800" b="1">
                <a:solidFill>
                  <a:srgbClr val="23313C"/>
                </a:solidFill>
                <a:latin typeface="Meiryo"/>
              </a:rPr>
              <a:t>仕組み — Attention Gate</a:t>
            </a:r>
          </a:p>
        </p:txBody>
      </p:sp>
      <p:sp>
        <p:nvSpPr>
          <p:cNvPr id="4" name="TextBox 3"/>
          <p:cNvSpPr txBox="1"/>
          <p:nvPr/>
        </p:nvSpPr>
        <p:spPr>
          <a:xfrm>
            <a:off x="566420" y="1262380"/>
            <a:ext cx="11057890" cy="402590"/>
          </a:xfrm>
          <a:prstGeom prst="rect">
            <a:avLst/>
          </a:prstGeom>
          <a:noFill/>
        </p:spPr>
        <p:txBody>
          <a:bodyPr wrap="square" lIns="0" rIns="0" tIns="0" bIns="0">
            <a:spAutoFit/>
          </a:bodyPr>
          <a:lstStyle/>
          <a:p>
            <a:pPr algn="l">
              <a:lnSpc>
                <a:spcPct val="145000"/>
              </a:lnSpc>
            </a:pPr>
            <a:r>
              <a:rPr sz="1250" b="0">
                <a:solidFill>
                  <a:srgbClr val="4A5A68"/>
                </a:solidFill>
                <a:latin typeface="Meiryo"/>
              </a:rPr>
              <a:t>スキップ接続に「どこを強く渡すか」を決めるゲートを置く（Oktay et al., 2018）。重み付けの係数は、受け取る側のデコーダの都合で決まる。</a:t>
            </a:r>
          </a:p>
        </p:txBody>
      </p:sp>
      <p:sp>
        <p:nvSpPr>
          <p:cNvPr id="5" name="Rounded Rectangle 4"/>
          <p:cNvSpPr/>
          <p:nvPr/>
        </p:nvSpPr>
        <p:spPr>
          <a:xfrm>
            <a:off x="566420" y="1930400"/>
            <a:ext cx="2011680" cy="482600"/>
          </a:xfrm>
          <a:prstGeom prst="roundRect">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950" b="0">
                <a:solidFill>
                  <a:srgbClr val="FFFFFF"/>
                </a:solidFill>
                <a:latin typeface="Meiryo"/>
              </a:rPr>
              <a:t>デコーダ側 g</a:t>
            </a:r>
          </a:p>
          <a:p>
            <a:pPr algn="ctr">
              <a:lnSpc>
                <a:spcPct val="125000"/>
              </a:lnSpc>
            </a:pPr>
            <a:r>
              <a:rPr sz="950" b="0">
                <a:solidFill>
                  <a:srgbClr val="FFFFFF"/>
                </a:solidFill>
                <a:latin typeface="Meiryo"/>
              </a:rPr>
              <a:t>16×16 ・ 512ch</a:t>
            </a:r>
          </a:p>
        </p:txBody>
      </p:sp>
      <p:sp>
        <p:nvSpPr>
          <p:cNvPr id="6" name="Rounded Rectangle 5"/>
          <p:cNvSpPr/>
          <p:nvPr/>
        </p:nvSpPr>
        <p:spPr>
          <a:xfrm>
            <a:off x="566420" y="2946400"/>
            <a:ext cx="2011680" cy="482600"/>
          </a:xfrm>
          <a:prstGeom prst="round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950" b="0">
                <a:solidFill>
                  <a:srgbClr val="FFFFFF"/>
                </a:solidFill>
                <a:latin typeface="Meiryo"/>
              </a:rPr>
              <a:t>スキップ x</a:t>
            </a:r>
          </a:p>
          <a:p>
            <a:pPr algn="ctr">
              <a:lnSpc>
                <a:spcPct val="125000"/>
              </a:lnSpc>
            </a:pPr>
            <a:r>
              <a:rPr sz="950" b="0">
                <a:solidFill>
                  <a:srgbClr val="FFFFFF"/>
                </a:solidFill>
                <a:latin typeface="Meiryo"/>
              </a:rPr>
              <a:t>16×16 ・ 512ch</a:t>
            </a:r>
          </a:p>
        </p:txBody>
      </p:sp>
      <p:cxnSp>
        <p:nvCxnSpPr>
          <p:cNvPr id="7" name="Connector 6"/>
          <p:cNvCxnSpPr/>
          <p:nvPr/>
        </p:nvCxnSpPr>
        <p:spPr>
          <a:xfrm>
            <a:off x="2578100" y="2171700"/>
            <a:ext cx="508000" cy="177800"/>
          </a:xfrm>
          <a:prstGeom prst="line">
            <a:avLst/>
          </a:prstGeom>
          <a:ln w="15240">
            <a:solidFill>
              <a:srgbClr val="4A5A6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2578100" y="3009900"/>
            <a:ext cx="508000" cy="177800"/>
          </a:xfrm>
          <a:prstGeom prst="line">
            <a:avLst/>
          </a:prstGeom>
          <a:ln w="15240">
            <a:solidFill>
              <a:srgbClr val="4A5A6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86100" y="2349500"/>
            <a:ext cx="1600200" cy="660400"/>
          </a:xfrm>
          <a:prstGeom prst="roundRect">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900" b="0">
                <a:solidFill>
                  <a:srgbClr val="23313C"/>
                </a:solidFill>
                <a:latin typeface="Meiryo"/>
              </a:rPr>
              <a:t>それぞれ 1×1 Conv + BN</a:t>
            </a:r>
          </a:p>
          <a:p>
            <a:pPr algn="ctr">
              <a:lnSpc>
                <a:spcPct val="125000"/>
              </a:lnSpc>
            </a:pPr>
            <a:r>
              <a:rPr sz="900" b="0">
                <a:solidFill>
                  <a:srgbClr val="23313C"/>
                </a:solidFill>
                <a:latin typeface="Meiryo"/>
              </a:rPr>
              <a:t>で 256ch に落として足す</a:t>
            </a:r>
          </a:p>
          <a:p>
            <a:pPr algn="ctr">
              <a:lnSpc>
                <a:spcPct val="125000"/>
              </a:lnSpc>
            </a:pPr>
            <a:r>
              <a:rPr sz="900" b="0">
                <a:solidFill>
                  <a:srgbClr val="23313C"/>
                </a:solidFill>
                <a:latin typeface="Meiryo"/>
              </a:rPr>
              <a:t>→ ReLU</a:t>
            </a:r>
          </a:p>
        </p:txBody>
      </p:sp>
      <p:cxnSp>
        <p:nvCxnSpPr>
          <p:cNvPr id="10" name="Connector 9"/>
          <p:cNvCxnSpPr/>
          <p:nvPr/>
        </p:nvCxnSpPr>
        <p:spPr>
          <a:xfrm>
            <a:off x="4686300" y="2679700"/>
            <a:ext cx="508000" cy="0"/>
          </a:xfrm>
          <a:prstGeom prst="line">
            <a:avLst/>
          </a:prstGeom>
          <a:ln w="15240">
            <a:solidFill>
              <a:srgbClr val="4A5A68"/>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94300" y="2349500"/>
            <a:ext cx="1600200" cy="660400"/>
          </a:xfrm>
          <a:prstGeom prst="roundRect">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900" b="0">
                <a:solidFill>
                  <a:srgbClr val="23313C"/>
                </a:solidFill>
                <a:latin typeface="Meiryo"/>
              </a:rPr>
              <a:t>1×1 Conv + BN で 1ch</a:t>
            </a:r>
          </a:p>
          <a:p>
            <a:pPr algn="ctr">
              <a:lnSpc>
                <a:spcPct val="125000"/>
              </a:lnSpc>
            </a:pPr>
            <a:r>
              <a:rPr sz="900" b="0">
                <a:solidFill>
                  <a:srgbClr val="23313C"/>
                </a:solidFill>
                <a:latin typeface="Meiryo"/>
              </a:rPr>
              <a:t>→ sigmoid</a:t>
            </a:r>
          </a:p>
          <a:p>
            <a:pPr algn="ctr">
              <a:lnSpc>
                <a:spcPct val="125000"/>
              </a:lnSpc>
            </a:pPr>
            <a:r>
              <a:rPr sz="900" b="0">
                <a:solidFill>
                  <a:srgbClr val="23313C"/>
                </a:solidFill>
                <a:latin typeface="Meiryo"/>
              </a:rPr>
              <a:t>→ 係数 ψ（0〜1）</a:t>
            </a:r>
          </a:p>
        </p:txBody>
      </p:sp>
      <p:cxnSp>
        <p:nvCxnSpPr>
          <p:cNvPr id="12" name="Connector 11"/>
          <p:cNvCxnSpPr/>
          <p:nvPr/>
        </p:nvCxnSpPr>
        <p:spPr>
          <a:xfrm>
            <a:off x="6794500" y="2679700"/>
            <a:ext cx="508000" cy="0"/>
          </a:xfrm>
          <a:prstGeom prst="line">
            <a:avLst/>
          </a:prstGeom>
          <a:ln w="15240">
            <a:solidFill>
              <a:srgbClr val="4A5A68"/>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02500" y="2438400"/>
            <a:ext cx="1600200" cy="482600"/>
          </a:xfrm>
          <a:prstGeom prst="roundRect">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1050" b="0">
                <a:solidFill>
                  <a:srgbClr val="FFFFFF"/>
                </a:solidFill>
                <a:latin typeface="Meiryo"/>
              </a:rPr>
              <a:t>x × ψ</a:t>
            </a:r>
          </a:p>
          <a:p>
            <a:pPr algn="ctr">
              <a:lnSpc>
                <a:spcPct val="125000"/>
              </a:lnSpc>
            </a:pPr>
            <a:r>
              <a:rPr sz="1050" b="0">
                <a:solidFill>
                  <a:srgbClr val="FFFFFF"/>
                </a:solidFill>
                <a:latin typeface="Meiryo"/>
              </a:rPr>
              <a:t>デコーダへ</a:t>
            </a:r>
          </a:p>
        </p:txBody>
      </p:sp>
      <p:sp>
        <p:nvSpPr>
          <p:cNvPr id="14" name="Rounded Rectangle 13"/>
          <p:cNvSpPr/>
          <p:nvPr/>
        </p:nvSpPr>
        <p:spPr>
          <a:xfrm>
            <a:off x="9156700" y="1930400"/>
            <a:ext cx="2467610" cy="1498600"/>
          </a:xfrm>
          <a:prstGeom prst="roundRect">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3240" y="2113280"/>
            <a:ext cx="1954530" cy="274320"/>
          </a:xfrm>
          <a:prstGeom prst="rect">
            <a:avLst/>
          </a:prstGeom>
          <a:noFill/>
        </p:spPr>
        <p:txBody>
          <a:bodyPr wrap="square" lIns="0" rIns="0" tIns="0" bIns="0">
            <a:spAutoFit/>
          </a:bodyPr>
          <a:lstStyle/>
          <a:p>
            <a:pPr algn="l"/>
            <a:r>
              <a:rPr sz="1200" b="1">
                <a:solidFill>
                  <a:srgbClr val="23313C"/>
                </a:solidFill>
                <a:latin typeface="Meiryo"/>
              </a:rPr>
              <a:t>どこに何個入るか</a:t>
            </a:r>
          </a:p>
        </p:txBody>
      </p:sp>
      <p:sp>
        <p:nvSpPr>
          <p:cNvPr id="16" name="TextBox 15"/>
          <p:cNvSpPr txBox="1"/>
          <p:nvPr/>
        </p:nvSpPr>
        <p:spPr>
          <a:xfrm>
            <a:off x="9413240" y="2461260"/>
            <a:ext cx="1954530" cy="787400"/>
          </a:xfrm>
          <a:prstGeom prst="rect">
            <a:avLst/>
          </a:prstGeom>
          <a:noFill/>
        </p:spPr>
        <p:txBody>
          <a:bodyPr wrap="square" lIns="0" rIns="0" tIns="0" bIns="0">
            <a:spAutoFit/>
          </a:bodyPr>
          <a:lstStyle/>
          <a:p>
            <a:pPr algn="l">
              <a:lnSpc>
                <a:spcPct val="150000"/>
              </a:lnSpc>
            </a:pPr>
            <a:r>
              <a:rPr sz="1050" b="0">
                <a:solidFill>
                  <a:srgbClr val="4A5A68"/>
                </a:solidFill>
                <a:latin typeface="Meiryo"/>
              </a:rPr>
              <a:t>4段（128/64/32/16）× 2枝（地形量・航空写真）</a:t>
            </a:r>
          </a:p>
          <a:p>
            <a:pPr algn="l">
              <a:lnSpc>
                <a:spcPct val="150000"/>
              </a:lnSpc>
            </a:pPr>
            <a:r>
              <a:rPr sz="1050" b="0">
                <a:solidFill>
                  <a:srgbClr val="4A5A68"/>
                </a:solidFill>
                <a:latin typeface="Meiryo"/>
              </a:rPr>
              <a:t>= 16個のゲート</a:t>
            </a:r>
          </a:p>
        </p:txBody>
      </p:sp>
      <p:sp>
        <p:nvSpPr>
          <p:cNvPr id="17" name="Rounded Rectangle 16"/>
          <p:cNvSpPr/>
          <p:nvPr/>
        </p:nvSpPr>
        <p:spPr>
          <a:xfrm>
            <a:off x="566420" y="3759200"/>
            <a:ext cx="5397500" cy="1320800"/>
          </a:xfrm>
          <a:prstGeom prst="roundRect">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942079"/>
            <a:ext cx="4884420" cy="274320"/>
          </a:xfrm>
          <a:prstGeom prst="rect">
            <a:avLst/>
          </a:prstGeom>
          <a:noFill/>
        </p:spPr>
        <p:txBody>
          <a:bodyPr wrap="square" lIns="0" rIns="0" tIns="0" bIns="0">
            <a:spAutoFit/>
          </a:bodyPr>
          <a:lstStyle/>
          <a:p>
            <a:pPr algn="l"/>
            <a:r>
              <a:rPr sz="1200" b="1">
                <a:solidFill>
                  <a:srgbClr val="23313C"/>
                </a:solidFill>
                <a:latin typeface="Meiryo"/>
              </a:rPr>
              <a:t>注意係数の実測（正解領域の内と外）</a:t>
            </a:r>
          </a:p>
        </p:txBody>
      </p:sp>
      <p:sp>
        <p:nvSpPr>
          <p:cNvPr id="19" name="TextBox 18"/>
          <p:cNvSpPr txBox="1"/>
          <p:nvPr/>
        </p:nvSpPr>
        <p:spPr>
          <a:xfrm>
            <a:off x="822960" y="4290060"/>
            <a:ext cx="4884420" cy="609600"/>
          </a:xfrm>
          <a:prstGeom prst="rect">
            <a:avLst/>
          </a:prstGeom>
          <a:noFill/>
        </p:spPr>
        <p:txBody>
          <a:bodyPr wrap="square" lIns="0" rIns="0" tIns="0" bIns="0">
            <a:spAutoFit/>
          </a:bodyPr>
          <a:lstStyle/>
          <a:p>
            <a:pPr algn="l">
              <a:lnSpc>
                <a:spcPct val="150000"/>
              </a:lnSpc>
            </a:pPr>
            <a:r>
              <a:rPr sz="1100" b="0">
                <a:solidFill>
                  <a:srgbClr val="4A5A68"/>
                </a:solidFill>
                <a:latin typeface="Meiryo"/>
              </a:rPr>
              <a:t>正解の中 0.705 ／ 外 0.453。</a:t>
            </a:r>
          </a:p>
          <a:p>
            <a:pPr algn="l">
              <a:lnSpc>
                <a:spcPct val="150000"/>
              </a:lnSpc>
            </a:pPr>
            <a:r>
              <a:rPr sz="1100" b="0">
                <a:solidFill>
                  <a:srgbClr val="4A5A68"/>
                </a:solidFill>
                <a:latin typeface="Meiryo"/>
              </a:rPr>
              <a:t>ゲートは意図どおり絞り込めている。</a:t>
            </a:r>
          </a:p>
        </p:txBody>
      </p:sp>
      <p:sp>
        <p:nvSpPr>
          <p:cNvPr id="20" name="Rounded Rectangle 19"/>
          <p:cNvSpPr/>
          <p:nvPr/>
        </p:nvSpPr>
        <p:spPr>
          <a:xfrm>
            <a:off x="6226810" y="3759200"/>
            <a:ext cx="5397500" cy="1320800"/>
          </a:xfrm>
          <a:prstGeom prst="roundRect">
            <a:avLst/>
          </a:prstGeom>
          <a:solidFill>
            <a:srgbClr val="F1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83350" y="3942079"/>
            <a:ext cx="4884420" cy="274320"/>
          </a:xfrm>
          <a:prstGeom prst="rect">
            <a:avLst/>
          </a:prstGeom>
          <a:noFill/>
        </p:spPr>
        <p:txBody>
          <a:bodyPr wrap="square" lIns="0" rIns="0" tIns="0" bIns="0">
            <a:spAutoFit/>
          </a:bodyPr>
          <a:lstStyle/>
          <a:p>
            <a:pPr algn="l"/>
            <a:r>
              <a:rPr sz="1200" b="1">
                <a:solidFill>
                  <a:srgbClr val="23313C"/>
                </a:solidFill>
                <a:latin typeface="Meiryo"/>
              </a:rPr>
              <a:t>それでも F値は動かない</a:t>
            </a:r>
          </a:p>
        </p:txBody>
      </p:sp>
      <p:sp>
        <p:nvSpPr>
          <p:cNvPr id="22" name="TextBox 21"/>
          <p:cNvSpPr txBox="1"/>
          <p:nvPr/>
        </p:nvSpPr>
        <p:spPr>
          <a:xfrm>
            <a:off x="6483350" y="4290060"/>
            <a:ext cx="4884420" cy="609600"/>
          </a:xfrm>
          <a:prstGeom prst="rect">
            <a:avLst/>
          </a:prstGeom>
          <a:noFill/>
        </p:spPr>
        <p:txBody>
          <a:bodyPr wrap="square" lIns="0" rIns="0" tIns="0" bIns="0">
            <a:spAutoFit/>
          </a:bodyPr>
          <a:lstStyle/>
          <a:p>
            <a:pPr algn="l">
              <a:lnSpc>
                <a:spcPct val="150000"/>
              </a:lnSpc>
            </a:pPr>
            <a:r>
              <a:rPr sz="1100" b="0">
                <a:solidFill>
                  <a:srgbClr val="4A5A68"/>
                </a:solidFill>
                <a:latin typeface="Meiryo"/>
              </a:rPr>
              <a:t>Attention 0.6763 に対し Final 0.6727。</a:t>
            </a:r>
          </a:p>
          <a:p>
            <a:pPr algn="l">
              <a:lnSpc>
                <a:spcPct val="150000"/>
              </a:lnSpc>
            </a:pPr>
            <a:r>
              <a:rPr sz="1100" b="0">
                <a:solidFill>
                  <a:srgbClr val="4A5A68"/>
                </a:solidFill>
                <a:latin typeface="Meiryo"/>
              </a:rPr>
              <a:t>既存4構造の帯 0.672〜0.681 の中。</a:t>
            </a:r>
          </a:p>
        </p:txBody>
      </p:sp>
      <p:sp>
        <p:nvSpPr>
          <p:cNvPr id="23" name="Rounded Rectangle 22"/>
          <p:cNvSpPr/>
          <p:nvPr/>
        </p:nvSpPr>
        <p:spPr>
          <a:xfrm>
            <a:off x="566420" y="5308600"/>
            <a:ext cx="11057890" cy="889000"/>
          </a:xfrm>
          <a:prstGeom prst="roundRect">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569" y="5308600"/>
            <a:ext cx="10435590" cy="889000"/>
          </a:xfrm>
          <a:prstGeom prst="rect">
            <a:avLst/>
          </a:prstGeom>
          <a:noFill/>
        </p:spPr>
        <p:txBody>
          <a:bodyPr wrap="square" lIns="0" rIns="0" tIns="0" bIns="0">
            <a:spAutoFit/>
          </a:bodyPr>
          <a:lstStyle/>
          <a:p>
            <a:pPr algn="l">
              <a:lnSpc>
                <a:spcPct val="145000"/>
              </a:lnSpc>
            </a:pPr>
            <a:r>
              <a:rPr sz="1350" b="1">
                <a:solidFill>
                  <a:srgbClr val="FFFFFF"/>
                </a:solidFill>
                <a:latin typeface="Meiryo"/>
              </a:rPr>
              <a:t>「効いていない」のではなく「冗長」。</a:t>
            </a:r>
            <a:r>
              <a:rPr sz="1350" b="0">
                <a:solidFill>
                  <a:srgbClr val="FFFFFF"/>
                </a:solidFill>
                <a:latin typeface="Meiryo"/>
              </a:rPr>
              <a:t>ゲートは既にある特徴を重み付けし直すだけで、何を強調すべきかは教わっていない。</a:t>
            </a:r>
          </a:p>
          <a:p>
            <a:pPr algn="l">
              <a:lnSpc>
                <a:spcPct val="145000"/>
              </a:lnSpc>
            </a:pPr>
            <a:r>
              <a:rPr sz="1350" b="0">
                <a:solidFill>
                  <a:srgbClr val="FFFFFF"/>
                </a:solidFill>
                <a:latin typeface="Meiryo"/>
              </a:rPr>
              <a:t>そこで第3章では、このゲートの中身を損失で縛る（監督Attention）。</a:t>
            </a:r>
          </a:p>
        </p:txBody>
      </p:sp>
      <p:sp>
        <p:nvSpPr>
          <p:cNvPr id="25" name="TextBox 24"/>
          <p:cNvSpPr txBox="1"/>
          <p:nvPr/>
        </p:nvSpPr>
        <p:spPr>
          <a:xfrm>
            <a:off x="11277600" y="6455410"/>
            <a:ext cx="457200" cy="219710"/>
          </a:xfrm>
          <a:prstGeom prst="rect">
            <a:avLst/>
          </a:prstGeom>
          <a:noFill/>
        </p:spPr>
        <p:txBody>
          <a:bodyPr wrap="square" lIns="0" rIns="0" tIns="0" bIns="0">
            <a:spAutoFit/>
          </a:bodyPr>
          <a:lstStyle/>
          <a:p>
            <a:pPr algn="r"/>
            <a:r>
              <a:rPr sz="1000" b="0">
                <a:solidFill>
                  <a:srgbClr val="4A5A68"/>
                </a:solidFill>
                <a:latin typeface="Meiryo"/>
              </a:rPr>
              <a:t>11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420" y="347980"/>
            <a:ext cx="11057890" cy="237490"/>
          </a:xfrm>
          <a:prstGeom prst="rect">
            <a:avLst/>
          </a:prstGeom>
          <a:noFill/>
        </p:spPr>
        <p:txBody>
          <a:bodyPr wrap="square" lIns="0" rIns="0" tIns="0" bIns="0">
            <a:spAutoFit/>
          </a:bodyPr>
          <a:lstStyle/>
          <a:p>
            <a:pPr algn="l"/>
            <a:r>
              <a:rPr sz="1200" b="1">
                <a:solidFill>
                  <a:srgbClr val="4A5A68"/>
                </a:solidFill>
                <a:latin typeface="Meiryo"/>
              </a:rPr>
              <a:t>第2章 ②</a:t>
            </a:r>
          </a:p>
        </p:txBody>
      </p:sp>
      <p:sp>
        <p:nvSpPr>
          <p:cNvPr id="3" name="TextBox 2"/>
          <p:cNvSpPr txBox="1"/>
          <p:nvPr/>
        </p:nvSpPr>
        <p:spPr>
          <a:xfrm>
            <a:off x="566420" y="603250"/>
            <a:ext cx="11057890" cy="585470"/>
          </a:xfrm>
          <a:prstGeom prst="rect">
            <a:avLst/>
          </a:prstGeom>
          <a:noFill/>
        </p:spPr>
        <p:txBody>
          <a:bodyPr wrap="square" lIns="0" rIns="0" tIns="0" bIns="0">
            <a:spAutoFit/>
          </a:bodyPr>
          <a:lstStyle/>
          <a:p>
            <a:pPr algn="l"/>
            <a:r>
              <a:rPr sz="2800" b="1">
                <a:solidFill>
                  <a:srgbClr val="23313C"/>
                </a:solidFill>
                <a:latin typeface="Meiryo"/>
              </a:rPr>
              <a:t>仕組み — 6つの構造はどこが違うか</a:t>
            </a:r>
          </a:p>
        </p:txBody>
      </p:sp>
      <p:sp>
        <p:nvSpPr>
          <p:cNvPr id="4" name="TextBox 3"/>
          <p:cNvSpPr txBox="1"/>
          <p:nvPr/>
        </p:nvSpPr>
        <p:spPr>
          <a:xfrm>
            <a:off x="566420" y="1262380"/>
            <a:ext cx="11057890" cy="402590"/>
          </a:xfrm>
          <a:prstGeom prst="rect">
            <a:avLst/>
          </a:prstGeom>
          <a:noFill/>
        </p:spPr>
        <p:txBody>
          <a:bodyPr wrap="square" lIns="0" rIns="0" tIns="0" bIns="0">
            <a:spAutoFit/>
          </a:bodyPr>
          <a:lstStyle/>
          <a:p>
            <a:pPr algn="l">
              <a:lnSpc>
                <a:spcPct val="145000"/>
              </a:lnSpc>
            </a:pPr>
            <a:r>
              <a:rPr sz="1250" b="0">
                <a:solidFill>
                  <a:srgbClr val="4A5A68"/>
                </a:solidFill>
                <a:latin typeface="Meiryo"/>
              </a:rPr>
              <a:t>違いは2点しかない。2つの入力を どこで合流させるか と、そこに 何を足すか。性能の差はほぼ前者で決まった。</a:t>
            </a:r>
          </a:p>
        </p:txBody>
      </p:sp>
      <p:sp>
        <p:nvSpPr>
          <p:cNvPr id="5" name="Rounded Rectangle 4"/>
          <p:cNvSpPr/>
          <p:nvPr/>
        </p:nvSpPr>
        <p:spPr>
          <a:xfrm>
            <a:off x="566420" y="1816100"/>
            <a:ext cx="1188720" cy="411480"/>
          </a:xfrm>
          <a:prstGeom prst="round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1150" b="1">
                <a:solidFill>
                  <a:srgbClr val="FFFFFF"/>
                </a:solidFill>
                <a:latin typeface="Meiryo"/>
              </a:rPr>
              <a:t>Early</a:t>
            </a:r>
          </a:p>
        </p:txBody>
      </p:sp>
      <p:sp>
        <p:nvSpPr>
          <p:cNvPr id="6" name="TextBox 5"/>
          <p:cNvSpPr txBox="1"/>
          <p:nvPr/>
        </p:nvSpPr>
        <p:spPr>
          <a:xfrm>
            <a:off x="1938020" y="1907539"/>
            <a:ext cx="4064000" cy="274320"/>
          </a:xfrm>
          <a:prstGeom prst="rect">
            <a:avLst/>
          </a:prstGeom>
          <a:noFill/>
        </p:spPr>
        <p:txBody>
          <a:bodyPr wrap="square" lIns="0" rIns="0" tIns="0" bIns="0">
            <a:spAutoFit/>
          </a:bodyPr>
          <a:lstStyle/>
          <a:p>
            <a:pPr algn="l"/>
            <a:r>
              <a:rPr sz="1100" b="0">
                <a:solidFill>
                  <a:srgbClr val="4A5A68"/>
                </a:solidFill>
                <a:latin typeface="Meiryo"/>
              </a:rPr>
              <a:t>入口で連結してから1本の U-Net に通す</a:t>
            </a:r>
          </a:p>
        </p:txBody>
      </p:sp>
      <p:sp>
        <p:nvSpPr>
          <p:cNvPr id="7" name="Rounded Rectangle 6"/>
          <p:cNvSpPr/>
          <p:nvPr/>
        </p:nvSpPr>
        <p:spPr>
          <a:xfrm>
            <a:off x="566420" y="2336800"/>
            <a:ext cx="1188720" cy="411480"/>
          </a:xfrm>
          <a:prstGeom prst="roundRect">
            <a:avLst/>
          </a:prstGeom>
          <a:solidFill>
            <a:srgbClr val="5B7B8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1150" b="1">
                <a:solidFill>
                  <a:srgbClr val="FFFFFF"/>
                </a:solidFill>
                <a:latin typeface="Meiryo"/>
              </a:rPr>
              <a:t>Middle</a:t>
            </a:r>
          </a:p>
        </p:txBody>
      </p:sp>
      <p:sp>
        <p:nvSpPr>
          <p:cNvPr id="8" name="TextBox 7"/>
          <p:cNvSpPr txBox="1"/>
          <p:nvPr/>
        </p:nvSpPr>
        <p:spPr>
          <a:xfrm>
            <a:off x="1938020" y="2428240"/>
            <a:ext cx="4064000" cy="274320"/>
          </a:xfrm>
          <a:prstGeom prst="rect">
            <a:avLst/>
          </a:prstGeom>
          <a:noFill/>
        </p:spPr>
        <p:txBody>
          <a:bodyPr wrap="square" lIns="0" rIns="0" tIns="0" bIns="0">
            <a:spAutoFit/>
          </a:bodyPr>
          <a:lstStyle/>
          <a:p>
            <a:pPr algn="l"/>
            <a:r>
              <a:rPr sz="1100" b="0">
                <a:solidFill>
                  <a:srgbClr val="4A5A68"/>
                </a:solidFill>
                <a:latin typeface="Meiryo"/>
              </a:rPr>
              <a:t>各段で連結しながら進む</a:t>
            </a:r>
          </a:p>
        </p:txBody>
      </p:sp>
      <p:sp>
        <p:nvSpPr>
          <p:cNvPr id="9" name="Rounded Rectangle 8"/>
          <p:cNvSpPr/>
          <p:nvPr/>
        </p:nvSpPr>
        <p:spPr>
          <a:xfrm>
            <a:off x="566420" y="2857500"/>
            <a:ext cx="1188720" cy="411480"/>
          </a:xfrm>
          <a:prstGeom prst="roundRect">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1150" b="1">
                <a:solidFill>
                  <a:srgbClr val="FFFFFF"/>
                </a:solidFill>
                <a:latin typeface="Meiryo"/>
              </a:rPr>
              <a:t>Final</a:t>
            </a:r>
          </a:p>
        </p:txBody>
      </p:sp>
      <p:sp>
        <p:nvSpPr>
          <p:cNvPr id="10" name="TextBox 9"/>
          <p:cNvSpPr txBox="1"/>
          <p:nvPr/>
        </p:nvSpPr>
        <p:spPr>
          <a:xfrm>
            <a:off x="1938020" y="2948940"/>
            <a:ext cx="4064000" cy="274320"/>
          </a:xfrm>
          <a:prstGeom prst="rect">
            <a:avLst/>
          </a:prstGeom>
          <a:noFill/>
        </p:spPr>
        <p:txBody>
          <a:bodyPr wrap="square" lIns="0" rIns="0" tIns="0" bIns="0">
            <a:spAutoFit/>
          </a:bodyPr>
          <a:lstStyle/>
          <a:p>
            <a:pPr algn="l"/>
            <a:r>
              <a:rPr sz="1100" b="0">
                <a:solidFill>
                  <a:srgbClr val="4A5A68"/>
                </a:solidFill>
                <a:latin typeface="Meiryo"/>
              </a:rPr>
              <a:t>最後（ボトルネック 8×8）で初めて連結する ← 出発点</a:t>
            </a:r>
          </a:p>
        </p:txBody>
      </p:sp>
      <p:sp>
        <p:nvSpPr>
          <p:cNvPr id="11" name="TextBox 10"/>
          <p:cNvSpPr txBox="1"/>
          <p:nvPr/>
        </p:nvSpPr>
        <p:spPr>
          <a:xfrm>
            <a:off x="566420" y="3479800"/>
            <a:ext cx="5461000" cy="274320"/>
          </a:xfrm>
          <a:prstGeom prst="rect">
            <a:avLst/>
          </a:prstGeom>
          <a:noFill/>
        </p:spPr>
        <p:txBody>
          <a:bodyPr wrap="square" lIns="0" rIns="0" tIns="0" bIns="0">
            <a:spAutoFit/>
          </a:bodyPr>
          <a:lstStyle/>
          <a:p>
            <a:pPr algn="l"/>
            <a:r>
              <a:rPr sz="1200" b="1">
                <a:solidFill>
                  <a:srgbClr val="23313C"/>
                </a:solidFill>
                <a:latin typeface="Meiryo"/>
              </a:rPr>
              <a:t>Final に機構を足したのが残りの2つ</a:t>
            </a:r>
          </a:p>
        </p:txBody>
      </p:sp>
      <p:sp>
        <p:nvSpPr>
          <p:cNvPr id="12" name="Rounded Rectangle 11"/>
          <p:cNvSpPr/>
          <p:nvPr/>
        </p:nvSpPr>
        <p:spPr>
          <a:xfrm>
            <a:off x="566420" y="3822700"/>
            <a:ext cx="1188720" cy="411480"/>
          </a:xfrm>
          <a:prstGeom prst="roundRect">
            <a:avLst/>
          </a:prstGeom>
          <a:solidFill>
            <a:srgbClr val="3D6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1150" b="1">
                <a:solidFill>
                  <a:srgbClr val="FFFFFF"/>
                </a:solidFill>
                <a:latin typeface="Meiryo"/>
              </a:rPr>
              <a:t>Attention</a:t>
            </a:r>
          </a:p>
        </p:txBody>
      </p:sp>
      <p:sp>
        <p:nvSpPr>
          <p:cNvPr id="13" name="TextBox 12"/>
          <p:cNvSpPr txBox="1"/>
          <p:nvPr/>
        </p:nvSpPr>
        <p:spPr>
          <a:xfrm>
            <a:off x="1938020" y="3914140"/>
            <a:ext cx="4064000" cy="274320"/>
          </a:xfrm>
          <a:prstGeom prst="rect">
            <a:avLst/>
          </a:prstGeom>
          <a:noFill/>
        </p:spPr>
        <p:txBody>
          <a:bodyPr wrap="square" lIns="0" rIns="0" tIns="0" bIns="0">
            <a:spAutoFit/>
          </a:bodyPr>
          <a:lstStyle/>
          <a:p>
            <a:pPr algn="l"/>
            <a:r>
              <a:rPr sz="1100" b="0">
                <a:solidFill>
                  <a:srgbClr val="4A5A68"/>
                </a:solidFill>
                <a:latin typeface="Meiryo"/>
              </a:rPr>
              <a:t>スキップ接続にゲートを 16個（4段×2枝）置く</a:t>
            </a:r>
          </a:p>
        </p:txBody>
      </p:sp>
      <p:sp>
        <p:nvSpPr>
          <p:cNvPr id="14" name="Rounded Rectangle 13"/>
          <p:cNvSpPr/>
          <p:nvPr/>
        </p:nvSpPr>
        <p:spPr>
          <a:xfrm>
            <a:off x="566420" y="4343400"/>
            <a:ext cx="1188720" cy="411480"/>
          </a:xfrm>
          <a:prstGeom prst="roundRect">
            <a:avLst/>
          </a:prstGeom>
          <a:solidFill>
            <a:srgbClr val="3D6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 rIns="27940" tIns="0" bIns="0" wrap="square"/>
          <a:lstStyle/>
          <a:p>
            <a:pPr algn="ctr">
              <a:lnSpc>
                <a:spcPct val="125000"/>
              </a:lnSpc>
            </a:pPr>
            <a:r>
              <a:rPr sz="1150" b="1">
                <a:solidFill>
                  <a:srgbClr val="FFFFFF"/>
                </a:solidFill>
                <a:latin typeface="Meiryo"/>
              </a:rPr>
              <a:t>TransUNet</a:t>
            </a:r>
          </a:p>
        </p:txBody>
      </p:sp>
      <p:sp>
        <p:nvSpPr>
          <p:cNvPr id="15" name="TextBox 14"/>
          <p:cNvSpPr txBox="1"/>
          <p:nvPr/>
        </p:nvSpPr>
        <p:spPr>
          <a:xfrm>
            <a:off x="1938020" y="4434840"/>
            <a:ext cx="4064000" cy="274320"/>
          </a:xfrm>
          <a:prstGeom prst="rect">
            <a:avLst/>
          </a:prstGeom>
          <a:noFill/>
        </p:spPr>
        <p:txBody>
          <a:bodyPr wrap="square" lIns="0" rIns="0" tIns="0" bIns="0">
            <a:spAutoFit/>
          </a:bodyPr>
          <a:lstStyle/>
          <a:p>
            <a:pPr algn="l"/>
            <a:r>
              <a:rPr sz="1100" b="0">
                <a:solidFill>
                  <a:srgbClr val="4A5A68"/>
                </a:solidFill>
                <a:latin typeface="Meiryo"/>
              </a:rPr>
              <a:t>ボトルネックに自己注意を 4層 入れる</a:t>
            </a:r>
          </a:p>
        </p:txBody>
      </p:sp>
      <p:sp>
        <p:nvSpPr>
          <p:cNvPr id="16" name="TextBox 15"/>
          <p:cNvSpPr txBox="1"/>
          <p:nvPr/>
        </p:nvSpPr>
        <p:spPr>
          <a:xfrm>
            <a:off x="6327140" y="1879600"/>
            <a:ext cx="2489200" cy="254000"/>
          </a:xfrm>
          <a:prstGeom prst="rect">
            <a:avLst/>
          </a:prstGeom>
          <a:noFill/>
        </p:spPr>
        <p:txBody>
          <a:bodyPr wrap="square" lIns="0" rIns="0" tIns="0" bIns="0">
            <a:spAutoFit/>
          </a:bodyPr>
          <a:lstStyle/>
          <a:p>
            <a:pPr algn="l"/>
            <a:r>
              <a:rPr sz="1050" b="1">
                <a:solidFill>
                  <a:srgbClr val="23313C"/>
                </a:solidFill>
                <a:latin typeface="Meiryo"/>
              </a:rPr>
              <a:t>構造</a:t>
            </a:r>
          </a:p>
        </p:txBody>
      </p:sp>
      <p:sp>
        <p:nvSpPr>
          <p:cNvPr id="17" name="TextBox 16"/>
          <p:cNvSpPr txBox="1"/>
          <p:nvPr/>
        </p:nvSpPr>
        <p:spPr>
          <a:xfrm>
            <a:off x="8816340" y="1879600"/>
            <a:ext cx="1219200" cy="254000"/>
          </a:xfrm>
          <a:prstGeom prst="rect">
            <a:avLst/>
          </a:prstGeom>
          <a:noFill/>
        </p:spPr>
        <p:txBody>
          <a:bodyPr wrap="square" lIns="0" rIns="0" tIns="0" bIns="0">
            <a:spAutoFit/>
          </a:bodyPr>
          <a:lstStyle/>
          <a:p>
            <a:pPr algn="r"/>
            <a:r>
              <a:rPr sz="1050" b="1">
                <a:solidFill>
                  <a:srgbClr val="23313C"/>
                </a:solidFill>
                <a:latin typeface="Meiryo"/>
              </a:rPr>
              <a:t>合流位置</a:t>
            </a:r>
          </a:p>
        </p:txBody>
      </p:sp>
      <p:sp>
        <p:nvSpPr>
          <p:cNvPr id="18" name="TextBox 17"/>
          <p:cNvSpPr txBox="1"/>
          <p:nvPr/>
        </p:nvSpPr>
        <p:spPr>
          <a:xfrm>
            <a:off x="10035540" y="1879600"/>
            <a:ext cx="762000" cy="254000"/>
          </a:xfrm>
          <a:prstGeom prst="rect">
            <a:avLst/>
          </a:prstGeom>
          <a:noFill/>
        </p:spPr>
        <p:txBody>
          <a:bodyPr wrap="square" lIns="0" rIns="0" tIns="0" bIns="0">
            <a:spAutoFit/>
          </a:bodyPr>
          <a:lstStyle/>
          <a:p>
            <a:pPr algn="r"/>
            <a:r>
              <a:rPr sz="1050" b="1">
                <a:solidFill>
                  <a:srgbClr val="23313C"/>
                </a:solidFill>
                <a:latin typeface="Meiryo"/>
              </a:rPr>
              <a:t>パラメータ</a:t>
            </a:r>
          </a:p>
        </p:txBody>
      </p:sp>
      <p:sp>
        <p:nvSpPr>
          <p:cNvPr id="19" name="TextBox 18"/>
          <p:cNvSpPr txBox="1"/>
          <p:nvPr/>
        </p:nvSpPr>
        <p:spPr>
          <a:xfrm>
            <a:off x="10797540" y="1879600"/>
            <a:ext cx="825500" cy="254000"/>
          </a:xfrm>
          <a:prstGeom prst="rect">
            <a:avLst/>
          </a:prstGeom>
          <a:noFill/>
        </p:spPr>
        <p:txBody>
          <a:bodyPr wrap="square" lIns="0" rIns="0" tIns="0" bIns="0">
            <a:spAutoFit/>
          </a:bodyPr>
          <a:lstStyle/>
          <a:p>
            <a:pPr algn="r"/>
            <a:r>
              <a:rPr sz="1050" b="1">
                <a:solidFill>
                  <a:srgbClr val="23313C"/>
                </a:solidFill>
                <a:latin typeface="Meiryo"/>
              </a:rPr>
              <a:t>広島 面積F</a:t>
            </a:r>
          </a:p>
        </p:txBody>
      </p:sp>
      <p:cxnSp>
        <p:nvCxnSpPr>
          <p:cNvPr id="20" name="Connector 19"/>
          <p:cNvCxnSpPr/>
          <p:nvPr/>
        </p:nvCxnSpPr>
        <p:spPr>
          <a:xfrm>
            <a:off x="6327140" y="2159000"/>
            <a:ext cx="5295900" cy="0"/>
          </a:xfrm>
          <a:prstGeom prst="line">
            <a:avLst/>
          </a:prstGeom>
          <a:ln w="15240">
            <a:solidFill>
              <a:srgbClr val="4A5A6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327140" y="2222500"/>
            <a:ext cx="2489200" cy="254000"/>
          </a:xfrm>
          <a:prstGeom prst="rect">
            <a:avLst/>
          </a:prstGeom>
          <a:noFill/>
        </p:spPr>
        <p:txBody>
          <a:bodyPr wrap="square" lIns="0" rIns="0" tIns="0" bIns="0">
            <a:spAutoFit/>
          </a:bodyPr>
          <a:lstStyle/>
          <a:p>
            <a:pPr algn="l"/>
            <a:r>
              <a:rPr sz="1050" b="0">
                <a:solidFill>
                  <a:srgbClr val="4A5A68"/>
                </a:solidFill>
                <a:latin typeface="Meiryo"/>
              </a:rPr>
              <a:t>単一入力（SAM のみ）</a:t>
            </a:r>
          </a:p>
        </p:txBody>
      </p:sp>
      <p:sp>
        <p:nvSpPr>
          <p:cNvPr id="22" name="TextBox 21"/>
          <p:cNvSpPr txBox="1"/>
          <p:nvPr/>
        </p:nvSpPr>
        <p:spPr>
          <a:xfrm>
            <a:off x="8816340" y="2222500"/>
            <a:ext cx="1219200" cy="254000"/>
          </a:xfrm>
          <a:prstGeom prst="rect">
            <a:avLst/>
          </a:prstGeom>
          <a:noFill/>
        </p:spPr>
        <p:txBody>
          <a:bodyPr wrap="square" lIns="0" rIns="0" tIns="0" bIns="0">
            <a:spAutoFit/>
          </a:bodyPr>
          <a:lstStyle/>
          <a:p>
            <a:pPr algn="r"/>
            <a:r>
              <a:rPr sz="1050" b="0">
                <a:solidFill>
                  <a:srgbClr val="4A5A68"/>
                </a:solidFill>
                <a:latin typeface="Meiryo"/>
              </a:rPr>
              <a:t>—</a:t>
            </a:r>
          </a:p>
        </p:txBody>
      </p:sp>
      <p:sp>
        <p:nvSpPr>
          <p:cNvPr id="23" name="TextBox 22"/>
          <p:cNvSpPr txBox="1"/>
          <p:nvPr/>
        </p:nvSpPr>
        <p:spPr>
          <a:xfrm>
            <a:off x="10035540" y="2222500"/>
            <a:ext cx="762000" cy="254000"/>
          </a:xfrm>
          <a:prstGeom prst="rect">
            <a:avLst/>
          </a:prstGeom>
          <a:noFill/>
        </p:spPr>
        <p:txBody>
          <a:bodyPr wrap="square" lIns="0" rIns="0" tIns="0" bIns="0">
            <a:spAutoFit/>
          </a:bodyPr>
          <a:lstStyle/>
          <a:p>
            <a:pPr algn="r"/>
            <a:r>
              <a:rPr sz="1050" b="0">
                <a:solidFill>
                  <a:srgbClr val="4A5A68"/>
                </a:solidFill>
                <a:latin typeface="Meiryo"/>
              </a:rPr>
              <a:t>31.0M</a:t>
            </a:r>
          </a:p>
        </p:txBody>
      </p:sp>
      <p:sp>
        <p:nvSpPr>
          <p:cNvPr id="24" name="TextBox 23"/>
          <p:cNvSpPr txBox="1"/>
          <p:nvPr/>
        </p:nvSpPr>
        <p:spPr>
          <a:xfrm>
            <a:off x="10797540" y="2222500"/>
            <a:ext cx="825500" cy="254000"/>
          </a:xfrm>
          <a:prstGeom prst="rect">
            <a:avLst/>
          </a:prstGeom>
          <a:noFill/>
        </p:spPr>
        <p:txBody>
          <a:bodyPr wrap="square" lIns="0" rIns="0" tIns="0" bIns="0">
            <a:spAutoFit/>
          </a:bodyPr>
          <a:lstStyle/>
          <a:p>
            <a:pPr algn="r"/>
            <a:r>
              <a:rPr sz="1050" b="0">
                <a:solidFill>
                  <a:srgbClr val="4A5A68"/>
                </a:solidFill>
                <a:latin typeface="Meiryo"/>
              </a:rPr>
              <a:t>0.5688</a:t>
            </a:r>
          </a:p>
        </p:txBody>
      </p:sp>
      <p:sp>
        <p:nvSpPr>
          <p:cNvPr id="25" name="TextBox 24"/>
          <p:cNvSpPr txBox="1"/>
          <p:nvPr/>
        </p:nvSpPr>
        <p:spPr>
          <a:xfrm>
            <a:off x="6327140" y="2565400"/>
            <a:ext cx="2489200" cy="254000"/>
          </a:xfrm>
          <a:prstGeom prst="rect">
            <a:avLst/>
          </a:prstGeom>
          <a:noFill/>
        </p:spPr>
        <p:txBody>
          <a:bodyPr wrap="square" lIns="0" rIns="0" tIns="0" bIns="0">
            <a:spAutoFit/>
          </a:bodyPr>
          <a:lstStyle/>
          <a:p>
            <a:pPr algn="l"/>
            <a:r>
              <a:rPr sz="1050" b="0">
                <a:solidFill>
                  <a:srgbClr val="4A5A68"/>
                </a:solidFill>
                <a:latin typeface="Meiryo"/>
              </a:rPr>
              <a:t>Early</a:t>
            </a:r>
          </a:p>
        </p:txBody>
      </p:sp>
      <p:sp>
        <p:nvSpPr>
          <p:cNvPr id="26" name="TextBox 25"/>
          <p:cNvSpPr txBox="1"/>
          <p:nvPr/>
        </p:nvSpPr>
        <p:spPr>
          <a:xfrm>
            <a:off x="8816340" y="2565400"/>
            <a:ext cx="1219200" cy="254000"/>
          </a:xfrm>
          <a:prstGeom prst="rect">
            <a:avLst/>
          </a:prstGeom>
          <a:noFill/>
        </p:spPr>
        <p:txBody>
          <a:bodyPr wrap="square" lIns="0" rIns="0" tIns="0" bIns="0">
            <a:spAutoFit/>
          </a:bodyPr>
          <a:lstStyle/>
          <a:p>
            <a:pPr algn="r"/>
            <a:r>
              <a:rPr sz="1050" b="0">
                <a:solidFill>
                  <a:srgbClr val="4A5A68"/>
                </a:solidFill>
                <a:latin typeface="Meiryo"/>
              </a:rPr>
              <a:t>入口</a:t>
            </a:r>
          </a:p>
        </p:txBody>
      </p:sp>
      <p:sp>
        <p:nvSpPr>
          <p:cNvPr id="27" name="TextBox 26"/>
          <p:cNvSpPr txBox="1"/>
          <p:nvPr/>
        </p:nvSpPr>
        <p:spPr>
          <a:xfrm>
            <a:off x="10035540" y="2565400"/>
            <a:ext cx="762000" cy="254000"/>
          </a:xfrm>
          <a:prstGeom prst="rect">
            <a:avLst/>
          </a:prstGeom>
          <a:noFill/>
        </p:spPr>
        <p:txBody>
          <a:bodyPr wrap="square" lIns="0" rIns="0" tIns="0" bIns="0">
            <a:spAutoFit/>
          </a:bodyPr>
          <a:lstStyle/>
          <a:p>
            <a:pPr algn="r"/>
            <a:r>
              <a:rPr sz="1050" b="0">
                <a:solidFill>
                  <a:srgbClr val="4A5A68"/>
                </a:solidFill>
                <a:latin typeface="Meiryo"/>
              </a:rPr>
              <a:t>31.0M</a:t>
            </a:r>
          </a:p>
        </p:txBody>
      </p:sp>
      <p:sp>
        <p:nvSpPr>
          <p:cNvPr id="28" name="TextBox 27"/>
          <p:cNvSpPr txBox="1"/>
          <p:nvPr/>
        </p:nvSpPr>
        <p:spPr>
          <a:xfrm>
            <a:off x="10797540" y="2565400"/>
            <a:ext cx="825500" cy="254000"/>
          </a:xfrm>
          <a:prstGeom prst="rect">
            <a:avLst/>
          </a:prstGeom>
          <a:noFill/>
        </p:spPr>
        <p:txBody>
          <a:bodyPr wrap="square" lIns="0" rIns="0" tIns="0" bIns="0">
            <a:spAutoFit/>
          </a:bodyPr>
          <a:lstStyle/>
          <a:p>
            <a:pPr algn="r"/>
            <a:r>
              <a:rPr sz="1050" b="0">
                <a:solidFill>
                  <a:srgbClr val="4A5A68"/>
                </a:solidFill>
                <a:latin typeface="Meiryo"/>
              </a:rPr>
              <a:t>0.6363</a:t>
            </a:r>
          </a:p>
        </p:txBody>
      </p:sp>
      <p:sp>
        <p:nvSpPr>
          <p:cNvPr id="29" name="TextBox 28"/>
          <p:cNvSpPr txBox="1"/>
          <p:nvPr/>
        </p:nvSpPr>
        <p:spPr>
          <a:xfrm>
            <a:off x="6327140" y="2908300"/>
            <a:ext cx="2489200" cy="254000"/>
          </a:xfrm>
          <a:prstGeom prst="rect">
            <a:avLst/>
          </a:prstGeom>
          <a:noFill/>
        </p:spPr>
        <p:txBody>
          <a:bodyPr wrap="square" lIns="0" rIns="0" tIns="0" bIns="0">
            <a:spAutoFit/>
          </a:bodyPr>
          <a:lstStyle/>
          <a:p>
            <a:pPr algn="l"/>
            <a:r>
              <a:rPr sz="1050" b="0">
                <a:solidFill>
                  <a:srgbClr val="4A5A68"/>
                </a:solidFill>
                <a:latin typeface="Meiryo"/>
              </a:rPr>
              <a:t>Middle</a:t>
            </a:r>
          </a:p>
        </p:txBody>
      </p:sp>
      <p:sp>
        <p:nvSpPr>
          <p:cNvPr id="30" name="TextBox 29"/>
          <p:cNvSpPr txBox="1"/>
          <p:nvPr/>
        </p:nvSpPr>
        <p:spPr>
          <a:xfrm>
            <a:off x="8816340" y="2908300"/>
            <a:ext cx="1219200" cy="254000"/>
          </a:xfrm>
          <a:prstGeom prst="rect">
            <a:avLst/>
          </a:prstGeom>
          <a:noFill/>
        </p:spPr>
        <p:txBody>
          <a:bodyPr wrap="square" lIns="0" rIns="0" tIns="0" bIns="0">
            <a:spAutoFit/>
          </a:bodyPr>
          <a:lstStyle/>
          <a:p>
            <a:pPr algn="r"/>
            <a:r>
              <a:rPr sz="1050" b="0">
                <a:solidFill>
                  <a:srgbClr val="4A5A68"/>
                </a:solidFill>
                <a:latin typeface="Meiryo"/>
              </a:rPr>
              <a:t>各段</a:t>
            </a:r>
          </a:p>
        </p:txBody>
      </p:sp>
      <p:sp>
        <p:nvSpPr>
          <p:cNvPr id="31" name="TextBox 30"/>
          <p:cNvSpPr txBox="1"/>
          <p:nvPr/>
        </p:nvSpPr>
        <p:spPr>
          <a:xfrm>
            <a:off x="10035540" y="2908300"/>
            <a:ext cx="762000" cy="254000"/>
          </a:xfrm>
          <a:prstGeom prst="rect">
            <a:avLst/>
          </a:prstGeom>
          <a:noFill/>
        </p:spPr>
        <p:txBody>
          <a:bodyPr wrap="square" lIns="0" rIns="0" tIns="0" bIns="0">
            <a:spAutoFit/>
          </a:bodyPr>
          <a:lstStyle/>
          <a:p>
            <a:pPr algn="r"/>
            <a:r>
              <a:rPr sz="1050" b="0">
                <a:solidFill>
                  <a:srgbClr val="4A5A68"/>
                </a:solidFill>
                <a:latin typeface="Meiryo"/>
              </a:rPr>
              <a:t>44.3M</a:t>
            </a:r>
          </a:p>
        </p:txBody>
      </p:sp>
      <p:sp>
        <p:nvSpPr>
          <p:cNvPr id="32" name="TextBox 31"/>
          <p:cNvSpPr txBox="1"/>
          <p:nvPr/>
        </p:nvSpPr>
        <p:spPr>
          <a:xfrm>
            <a:off x="10797540" y="2908300"/>
            <a:ext cx="825500" cy="254000"/>
          </a:xfrm>
          <a:prstGeom prst="rect">
            <a:avLst/>
          </a:prstGeom>
          <a:noFill/>
        </p:spPr>
        <p:txBody>
          <a:bodyPr wrap="square" lIns="0" rIns="0" tIns="0" bIns="0">
            <a:spAutoFit/>
          </a:bodyPr>
          <a:lstStyle/>
          <a:p>
            <a:pPr algn="r"/>
            <a:r>
              <a:rPr sz="1050" b="0">
                <a:solidFill>
                  <a:srgbClr val="4A5A68"/>
                </a:solidFill>
                <a:latin typeface="Meiryo"/>
              </a:rPr>
              <a:t>0.6721</a:t>
            </a:r>
          </a:p>
        </p:txBody>
      </p:sp>
      <p:sp>
        <p:nvSpPr>
          <p:cNvPr id="33" name="TextBox 32"/>
          <p:cNvSpPr txBox="1"/>
          <p:nvPr/>
        </p:nvSpPr>
        <p:spPr>
          <a:xfrm>
            <a:off x="6327140" y="3251200"/>
            <a:ext cx="2489200" cy="254000"/>
          </a:xfrm>
          <a:prstGeom prst="rect">
            <a:avLst/>
          </a:prstGeom>
          <a:noFill/>
        </p:spPr>
        <p:txBody>
          <a:bodyPr wrap="square" lIns="0" rIns="0" tIns="0" bIns="0">
            <a:spAutoFit/>
          </a:bodyPr>
          <a:lstStyle/>
          <a:p>
            <a:pPr algn="l"/>
            <a:r>
              <a:rPr sz="1050" b="0">
                <a:solidFill>
                  <a:srgbClr val="4A5A68"/>
                </a:solidFill>
                <a:latin typeface="Meiryo"/>
              </a:rPr>
              <a:t>Final（出発点）</a:t>
            </a:r>
          </a:p>
        </p:txBody>
      </p:sp>
      <p:sp>
        <p:nvSpPr>
          <p:cNvPr id="34" name="TextBox 33"/>
          <p:cNvSpPr txBox="1"/>
          <p:nvPr/>
        </p:nvSpPr>
        <p:spPr>
          <a:xfrm>
            <a:off x="8816340" y="3251200"/>
            <a:ext cx="1219200" cy="254000"/>
          </a:xfrm>
          <a:prstGeom prst="rect">
            <a:avLst/>
          </a:prstGeom>
          <a:noFill/>
        </p:spPr>
        <p:txBody>
          <a:bodyPr wrap="square" lIns="0" rIns="0" tIns="0" bIns="0">
            <a:spAutoFit/>
          </a:bodyPr>
          <a:lstStyle/>
          <a:p>
            <a:pPr algn="r"/>
            <a:r>
              <a:rPr sz="1050" b="0">
                <a:solidFill>
                  <a:srgbClr val="4A5A68"/>
                </a:solidFill>
                <a:latin typeface="Meiryo"/>
              </a:rPr>
              <a:t>ボトルネック</a:t>
            </a:r>
          </a:p>
        </p:txBody>
      </p:sp>
      <p:sp>
        <p:nvSpPr>
          <p:cNvPr id="35" name="TextBox 34"/>
          <p:cNvSpPr txBox="1"/>
          <p:nvPr/>
        </p:nvSpPr>
        <p:spPr>
          <a:xfrm>
            <a:off x="10035540" y="3251200"/>
            <a:ext cx="762000" cy="254000"/>
          </a:xfrm>
          <a:prstGeom prst="rect">
            <a:avLst/>
          </a:prstGeom>
          <a:noFill/>
        </p:spPr>
        <p:txBody>
          <a:bodyPr wrap="square" lIns="0" rIns="0" tIns="0" bIns="0">
            <a:spAutoFit/>
          </a:bodyPr>
          <a:lstStyle/>
          <a:p>
            <a:pPr algn="r"/>
            <a:r>
              <a:rPr sz="1050" b="0">
                <a:solidFill>
                  <a:srgbClr val="4A5A68"/>
                </a:solidFill>
                <a:latin typeface="Meiryo"/>
              </a:rPr>
              <a:t>43.6M</a:t>
            </a:r>
          </a:p>
        </p:txBody>
      </p:sp>
      <p:sp>
        <p:nvSpPr>
          <p:cNvPr id="36" name="TextBox 35"/>
          <p:cNvSpPr txBox="1"/>
          <p:nvPr/>
        </p:nvSpPr>
        <p:spPr>
          <a:xfrm>
            <a:off x="10797540" y="3251200"/>
            <a:ext cx="825500" cy="254000"/>
          </a:xfrm>
          <a:prstGeom prst="rect">
            <a:avLst/>
          </a:prstGeom>
          <a:noFill/>
        </p:spPr>
        <p:txBody>
          <a:bodyPr wrap="square" lIns="0" rIns="0" tIns="0" bIns="0">
            <a:spAutoFit/>
          </a:bodyPr>
          <a:lstStyle/>
          <a:p>
            <a:pPr algn="r"/>
            <a:r>
              <a:rPr sz="1050" b="0">
                <a:solidFill>
                  <a:srgbClr val="4A5A68"/>
                </a:solidFill>
                <a:latin typeface="Meiryo"/>
              </a:rPr>
              <a:t>0.6727</a:t>
            </a:r>
          </a:p>
        </p:txBody>
      </p:sp>
      <p:sp>
        <p:nvSpPr>
          <p:cNvPr id="37" name="TextBox 36"/>
          <p:cNvSpPr txBox="1"/>
          <p:nvPr/>
        </p:nvSpPr>
        <p:spPr>
          <a:xfrm>
            <a:off x="6327140" y="3594100"/>
            <a:ext cx="2489200" cy="254000"/>
          </a:xfrm>
          <a:prstGeom prst="rect">
            <a:avLst/>
          </a:prstGeom>
          <a:noFill/>
        </p:spPr>
        <p:txBody>
          <a:bodyPr wrap="square" lIns="0" rIns="0" tIns="0" bIns="0">
            <a:spAutoFit/>
          </a:bodyPr>
          <a:lstStyle/>
          <a:p>
            <a:pPr algn="l"/>
            <a:r>
              <a:rPr sz="1050" b="0">
                <a:solidFill>
                  <a:srgbClr val="4A5A68"/>
                </a:solidFill>
                <a:latin typeface="Meiryo"/>
              </a:rPr>
              <a:t>Attention</a:t>
            </a:r>
          </a:p>
        </p:txBody>
      </p:sp>
      <p:sp>
        <p:nvSpPr>
          <p:cNvPr id="38" name="TextBox 37"/>
          <p:cNvSpPr txBox="1"/>
          <p:nvPr/>
        </p:nvSpPr>
        <p:spPr>
          <a:xfrm>
            <a:off x="8816340" y="3594100"/>
            <a:ext cx="1219200" cy="254000"/>
          </a:xfrm>
          <a:prstGeom prst="rect">
            <a:avLst/>
          </a:prstGeom>
          <a:noFill/>
        </p:spPr>
        <p:txBody>
          <a:bodyPr wrap="square" lIns="0" rIns="0" tIns="0" bIns="0">
            <a:spAutoFit/>
          </a:bodyPr>
          <a:lstStyle/>
          <a:p>
            <a:pPr algn="r"/>
            <a:r>
              <a:rPr sz="1050" b="0">
                <a:solidFill>
                  <a:srgbClr val="4A5A68"/>
                </a:solidFill>
                <a:latin typeface="Meiryo"/>
              </a:rPr>
              <a:t>ボトルネック</a:t>
            </a:r>
          </a:p>
        </p:txBody>
      </p:sp>
      <p:sp>
        <p:nvSpPr>
          <p:cNvPr id="39" name="TextBox 38"/>
          <p:cNvSpPr txBox="1"/>
          <p:nvPr/>
        </p:nvSpPr>
        <p:spPr>
          <a:xfrm>
            <a:off x="10035540" y="3594100"/>
            <a:ext cx="762000" cy="254000"/>
          </a:xfrm>
          <a:prstGeom prst="rect">
            <a:avLst/>
          </a:prstGeom>
          <a:noFill/>
        </p:spPr>
        <p:txBody>
          <a:bodyPr wrap="square" lIns="0" rIns="0" tIns="0" bIns="0">
            <a:spAutoFit/>
          </a:bodyPr>
          <a:lstStyle/>
          <a:p>
            <a:pPr algn="r"/>
            <a:r>
              <a:rPr sz="1050" b="0">
                <a:solidFill>
                  <a:srgbClr val="4A5A68"/>
                </a:solidFill>
                <a:latin typeface="Meiryo"/>
              </a:rPr>
              <a:t>44.3M</a:t>
            </a:r>
          </a:p>
        </p:txBody>
      </p:sp>
      <p:sp>
        <p:nvSpPr>
          <p:cNvPr id="40" name="TextBox 39"/>
          <p:cNvSpPr txBox="1"/>
          <p:nvPr/>
        </p:nvSpPr>
        <p:spPr>
          <a:xfrm>
            <a:off x="10797540" y="3594100"/>
            <a:ext cx="825500" cy="254000"/>
          </a:xfrm>
          <a:prstGeom prst="rect">
            <a:avLst/>
          </a:prstGeom>
          <a:noFill/>
        </p:spPr>
        <p:txBody>
          <a:bodyPr wrap="square" lIns="0" rIns="0" tIns="0" bIns="0">
            <a:spAutoFit/>
          </a:bodyPr>
          <a:lstStyle/>
          <a:p>
            <a:pPr algn="r"/>
            <a:r>
              <a:rPr sz="1050" b="0">
                <a:solidFill>
                  <a:srgbClr val="4A5A68"/>
                </a:solidFill>
                <a:latin typeface="Meiryo"/>
              </a:rPr>
              <a:t>0.6763</a:t>
            </a:r>
          </a:p>
        </p:txBody>
      </p:sp>
      <p:sp>
        <p:nvSpPr>
          <p:cNvPr id="41" name="TextBox 40"/>
          <p:cNvSpPr txBox="1"/>
          <p:nvPr/>
        </p:nvSpPr>
        <p:spPr>
          <a:xfrm>
            <a:off x="6327140" y="3937000"/>
            <a:ext cx="2489200" cy="254000"/>
          </a:xfrm>
          <a:prstGeom prst="rect">
            <a:avLst/>
          </a:prstGeom>
          <a:noFill/>
        </p:spPr>
        <p:txBody>
          <a:bodyPr wrap="square" lIns="0" rIns="0" tIns="0" bIns="0">
            <a:spAutoFit/>
          </a:bodyPr>
          <a:lstStyle/>
          <a:p>
            <a:pPr algn="l"/>
            <a:r>
              <a:rPr sz="1050" b="0">
                <a:solidFill>
                  <a:srgbClr val="4A5A68"/>
                </a:solidFill>
                <a:latin typeface="Meiryo"/>
              </a:rPr>
              <a:t>TransUNet</a:t>
            </a:r>
          </a:p>
        </p:txBody>
      </p:sp>
      <p:sp>
        <p:nvSpPr>
          <p:cNvPr id="42" name="TextBox 41"/>
          <p:cNvSpPr txBox="1"/>
          <p:nvPr/>
        </p:nvSpPr>
        <p:spPr>
          <a:xfrm>
            <a:off x="8816340" y="3937000"/>
            <a:ext cx="1219200" cy="254000"/>
          </a:xfrm>
          <a:prstGeom prst="rect">
            <a:avLst/>
          </a:prstGeom>
          <a:noFill/>
        </p:spPr>
        <p:txBody>
          <a:bodyPr wrap="square" lIns="0" rIns="0" tIns="0" bIns="0">
            <a:spAutoFit/>
          </a:bodyPr>
          <a:lstStyle/>
          <a:p>
            <a:pPr algn="r"/>
            <a:r>
              <a:rPr sz="1050" b="0">
                <a:solidFill>
                  <a:srgbClr val="4A5A68"/>
                </a:solidFill>
                <a:latin typeface="Meiryo"/>
              </a:rPr>
              <a:t>ボトルネック</a:t>
            </a:r>
          </a:p>
        </p:txBody>
      </p:sp>
      <p:sp>
        <p:nvSpPr>
          <p:cNvPr id="43" name="TextBox 42"/>
          <p:cNvSpPr txBox="1"/>
          <p:nvPr/>
        </p:nvSpPr>
        <p:spPr>
          <a:xfrm>
            <a:off x="10035540" y="3937000"/>
            <a:ext cx="762000" cy="254000"/>
          </a:xfrm>
          <a:prstGeom prst="rect">
            <a:avLst/>
          </a:prstGeom>
          <a:noFill/>
        </p:spPr>
        <p:txBody>
          <a:bodyPr wrap="square" lIns="0" rIns="0" tIns="0" bIns="0">
            <a:spAutoFit/>
          </a:bodyPr>
          <a:lstStyle/>
          <a:p>
            <a:pPr algn="r"/>
            <a:r>
              <a:rPr sz="1050" b="0">
                <a:solidFill>
                  <a:srgbClr val="4A5A68"/>
                </a:solidFill>
                <a:latin typeface="Meiryo"/>
              </a:rPr>
              <a:t>94.0M</a:t>
            </a:r>
          </a:p>
        </p:txBody>
      </p:sp>
      <p:sp>
        <p:nvSpPr>
          <p:cNvPr id="44" name="TextBox 43"/>
          <p:cNvSpPr txBox="1"/>
          <p:nvPr/>
        </p:nvSpPr>
        <p:spPr>
          <a:xfrm>
            <a:off x="10797540" y="3937000"/>
            <a:ext cx="825500" cy="254000"/>
          </a:xfrm>
          <a:prstGeom prst="rect">
            <a:avLst/>
          </a:prstGeom>
          <a:noFill/>
        </p:spPr>
        <p:txBody>
          <a:bodyPr wrap="square" lIns="0" rIns="0" tIns="0" bIns="0">
            <a:spAutoFit/>
          </a:bodyPr>
          <a:lstStyle/>
          <a:p>
            <a:pPr algn="r"/>
            <a:r>
              <a:rPr sz="1050" b="0">
                <a:solidFill>
                  <a:srgbClr val="4A5A68"/>
                </a:solidFill>
                <a:latin typeface="Meiryo"/>
              </a:rPr>
              <a:t>0.6728</a:t>
            </a:r>
          </a:p>
        </p:txBody>
      </p:sp>
      <p:cxnSp>
        <p:nvCxnSpPr>
          <p:cNvPr id="45" name="Connector 44"/>
          <p:cNvCxnSpPr/>
          <p:nvPr/>
        </p:nvCxnSpPr>
        <p:spPr>
          <a:xfrm>
            <a:off x="6327140" y="4216400"/>
            <a:ext cx="5295900" cy="0"/>
          </a:xfrm>
          <a:prstGeom prst="line">
            <a:avLst/>
          </a:prstGeom>
          <a:ln w="15240">
            <a:solidFill>
              <a:srgbClr val="4A5A68"/>
            </a:solidFill>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566420" y="4864100"/>
            <a:ext cx="11057890" cy="889000"/>
          </a:xfrm>
          <a:prstGeom prst="roundRect">
            <a:avLst/>
          </a:prstGeom>
          <a:solidFill>
            <a:srgbClr val="23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77569" y="4864100"/>
            <a:ext cx="10435590" cy="889000"/>
          </a:xfrm>
          <a:prstGeom prst="rect">
            <a:avLst/>
          </a:prstGeom>
          <a:noFill/>
        </p:spPr>
        <p:txBody>
          <a:bodyPr wrap="square" lIns="0" rIns="0" tIns="0" bIns="0">
            <a:spAutoFit/>
          </a:bodyPr>
          <a:lstStyle/>
          <a:p>
            <a:pPr algn="l">
              <a:lnSpc>
                <a:spcPct val="145000"/>
              </a:lnSpc>
            </a:pPr>
            <a:r>
              <a:rPr sz="1350" b="1">
                <a:solidFill>
                  <a:srgbClr val="FFFFFF"/>
                </a:solidFill>
                <a:latin typeface="Meiryo"/>
              </a:rPr>
              <a:t>融合位置だけが効いた。</a:t>
            </a:r>
            <a:r>
              <a:rPr sz="1350" b="0">
                <a:solidFill>
                  <a:srgbClr val="FFFFFF"/>
                </a:solidFill>
                <a:latin typeface="Meiryo"/>
              </a:rPr>
              <a:t>入口で足す Early は −0.036 と明確に悪いが、Middle 以降は 0.672〜0.676 に収まる。</a:t>
            </a:r>
          </a:p>
          <a:p>
            <a:pPr algn="l">
              <a:lnSpc>
                <a:spcPct val="145000"/>
              </a:lnSpc>
            </a:pPr>
            <a:r>
              <a:rPr sz="1350" b="0">
                <a:solidFill>
                  <a:srgbClr val="FFFFFF"/>
                </a:solidFill>
                <a:latin typeface="Meiryo"/>
              </a:rPr>
              <a:t>パラメータを 2.2倍（94M）にしても伸びない。次の2枚で、その中身を見る。</a:t>
            </a:r>
          </a:p>
        </p:txBody>
      </p:sp>
      <p:sp>
        <p:nvSpPr>
          <p:cNvPr id="48" name="TextBox 47"/>
          <p:cNvSpPr txBox="1"/>
          <p:nvPr/>
        </p:nvSpPr>
        <p:spPr>
          <a:xfrm>
            <a:off x="566420" y="5969000"/>
            <a:ext cx="11057890" cy="457200"/>
          </a:xfrm>
          <a:prstGeom prst="rect">
            <a:avLst/>
          </a:prstGeom>
          <a:noFill/>
        </p:spPr>
        <p:txBody>
          <a:bodyPr wrap="square" lIns="0" rIns="0" tIns="0" bIns="0">
            <a:spAutoFit/>
          </a:bodyPr>
          <a:lstStyle/>
          <a:p>
            <a:pPr algn="l">
              <a:lnSpc>
                <a:spcPct val="140000"/>
              </a:lnSpc>
            </a:pPr>
            <a:r>
              <a:rPr sz="1200" b="0">
                <a:solidFill>
                  <a:srgbClr val="4A5A68"/>
                </a:solidFill>
                <a:latin typeface="Meiryo"/>
              </a:rPr>
              <a:t>Early が悪いのは、傾斜角の数値と写真の RGB という性質の違うものを、生のまま足し合わせて混ぜてしまうため。別々に符号化してから合流させれば、どこで合流しても差は出ない。</a:t>
            </a:r>
          </a:p>
        </p:txBody>
      </p:sp>
      <p:sp>
        <p:nvSpPr>
          <p:cNvPr id="49" name="TextBox 48"/>
          <p:cNvSpPr txBox="1"/>
          <p:nvPr/>
        </p:nvSpPr>
        <p:spPr>
          <a:xfrm>
            <a:off x="11277600" y="6455410"/>
            <a:ext cx="457200" cy="219710"/>
          </a:xfrm>
          <a:prstGeom prst="rect">
            <a:avLst/>
          </a:prstGeom>
          <a:noFill/>
        </p:spPr>
        <p:txBody>
          <a:bodyPr wrap="square" lIns="0" rIns="0" tIns="0" bIns="0">
            <a:spAutoFit/>
          </a:bodyPr>
          <a:lstStyle/>
          <a:p>
            <a:pPr algn="r"/>
            <a:r>
              <a:rPr sz="1000" b="0">
                <a:solidFill>
                  <a:srgbClr val="4A5A68"/>
                </a:solidFill>
                <a:latin typeface="Meiryo"/>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370</TotalTime>
  <Words>3229</Words>
  <Application>Microsoft Macintosh PowerPoint</Application>
  <PresentationFormat>ワイド画面</PresentationFormat>
  <Paragraphs>814</Paragraphs>
  <Slides>36</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36</vt:i4>
      </vt:variant>
    </vt:vector>
  </HeadingPairs>
  <TitlesOfParts>
    <vt:vector size="40" baseType="lpstr">
      <vt:lpstr>Meiryo</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颯真 賀屋</cp:lastModifiedBy>
  <cp:revision>3</cp:revision>
  <dcterms:created xsi:type="dcterms:W3CDTF">2013-01-27T09:14:16Z</dcterms:created>
  <dcterms:modified xsi:type="dcterms:W3CDTF">2026-10-04T19:14:21Z</dcterms:modified>
  <cp:category/>
</cp:coreProperties>
</file>