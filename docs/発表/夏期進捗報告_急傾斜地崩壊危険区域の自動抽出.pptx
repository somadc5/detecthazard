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面積F</c:v>
                </c:pt>
              </c:strCache>
            </c:strRef>
          </c:tx>
          <c:spPr>
            <a:solidFill>
              <a:srgbClr val="5B7B8C"/>
            </a:solidFill>
          </c:spPr>
          <c:cat>
            <c:strRef>
              <c:f>Sheet1!$A$2:$A$7</c:f>
              <c:strCache>
                <c:ptCount val="6"/>
                <c:pt idx="0">
                  <c:v>Early
融合</c:v>
                </c:pt>
                <c:pt idx="1">
                  <c:v>Middle
融合</c:v>
                </c:pt>
                <c:pt idx="2">
                  <c:v>Final
融合</c:v>
                </c:pt>
                <c:pt idx="3">
                  <c:v>Attention</c:v>
                </c:pt>
                <c:pt idx="4">
                  <c:v>TransUNet</c:v>
                </c:pt>
                <c:pt idx="5">
                  <c:v>拡張あり
Final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0.6363</c:v>
                </c:pt>
                <c:pt idx="1">
                  <c:v>0.6721</c:v>
                </c:pt>
                <c:pt idx="2">
                  <c:v>0.6727</c:v>
                </c:pt>
                <c:pt idx="3">
                  <c:v>0.6763</c:v>
                </c:pt>
                <c:pt idx="4">
                  <c:v>0.6728</c:v>
                </c:pt>
                <c:pt idx="5">
                  <c:v>0.6974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3D6B4A"/>
            </a:solidFill>
          </c:spPr>
          <c:cat>
            <c:strRef>
              <c:f>Sheet1!$A$2:$A$7</c:f>
              <c:strCache>
                <c:ptCount val="6"/>
                <c:pt idx="0">
                  <c:v>Early
融合</c:v>
                </c:pt>
                <c:pt idx="1">
                  <c:v>Middle
融合</c:v>
                </c:pt>
                <c:pt idx="2">
                  <c:v>Final
融合</c:v>
                </c:pt>
                <c:pt idx="3">
                  <c:v>Attention</c:v>
                </c:pt>
                <c:pt idx="4">
                  <c:v>TransUNet</c:v>
                </c:pt>
                <c:pt idx="5">
                  <c:v>拡張あり
Final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0.6023</c:v>
                </c:pt>
                <c:pt idx="1">
                  <c:v>0.6547</c:v>
                </c:pt>
                <c:pt idx="2">
                  <c:v>0.6506</c:v>
                </c:pt>
                <c:pt idx="3">
                  <c:v>0.6545</c:v>
                </c:pt>
                <c:pt idx="4">
                  <c:v>0.6459</c:v>
                </c:pt>
                <c:pt idx="5">
                  <c:v>0.6642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3"/>
          <c:min val="0.58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eiryo"/>
            </a:defRPr>
          </a:pPr>
        </a:p>
      </c:txPr>
    </c:legend>
    <c:dispBlanksAs val="gap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3D6B4A"/>
            </a:solidFill>
          </c:spPr>
          <c:cat>
            <c:strRef>
              <c:f>Sheet1!$A$2:$A$4</c:f>
              <c:strCache>
                <c:ptCount val="3"/>
                <c:pt idx="0">
                  <c:v>正規化なし</c:v>
                </c:pt>
                <c:pt idx="1">
                  <c:v>p = 0.5</c:v>
                </c:pt>
                <c:pt idx="2">
                  <c:v>p = 1.0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0.6506</c:v>
                </c:pt>
                <c:pt idx="1">
                  <c:v>0.6596</c:v>
                </c:pt>
                <c:pt idx="2">
                  <c:v>0.6378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箇所Recall</c:v>
                </c:pt>
              </c:strCache>
            </c:strRef>
          </c:tx>
          <c:spPr>
            <a:solidFill>
              <a:srgbClr val="5B7B8C"/>
            </a:solidFill>
          </c:spPr>
          <c:cat>
            <c:strRef>
              <c:f>Sheet1!$A$2:$A$4</c:f>
              <c:strCache>
                <c:ptCount val="3"/>
                <c:pt idx="0">
                  <c:v>正規化なし</c:v>
                </c:pt>
                <c:pt idx="1">
                  <c:v>p = 0.5</c:v>
                </c:pt>
                <c:pt idx="2">
                  <c:v>p = 1.0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0.6188</c:v>
                </c:pt>
                <c:pt idx="1">
                  <c:v>0.6463</c:v>
                </c:pt>
                <c:pt idx="2">
                  <c:v>0.5953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8"/>
          <c:min val="0.56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eiryo"/>
            </a:defRPr>
          </a:pPr>
        </a:p>
      </c:txPr>
    </c:legend>
    <c:dispBlanksAs val="gap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TP=0 タイル / 検出できたタイル の比</c:v>
                </c:pt>
              </c:strCache>
            </c:strRef>
          </c:tx>
          <c:spPr>
            <a:solidFill>
              <a:srgbClr val="5B7B8C"/>
            </a:solidFill>
          </c:spPr>
          <c:cat>
            <c:strRef>
              <c:f>Sheet1!$A$2:$A$5</c:f>
              <c:strCache>
                <c:ptCount val="4"/>
                <c:pt idx="0">
                  <c:v>enc1</c:v>
                </c:pt>
                <c:pt idx="1">
                  <c:v>enc2</c:v>
                </c:pt>
                <c:pt idx="2">
                  <c:v>enc3</c:v>
                </c:pt>
                <c:pt idx="3">
                  <c:v>enc4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1.04</c:v>
                </c:pt>
                <c:pt idx="2">
                  <c:v>1.37</c:v>
                </c:pt>
                <c:pt idx="3">
                  <c:v>1.12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8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箇所F</c:v>
                </c:pt>
              </c:strCache>
            </c:strRef>
          </c:tx>
          <c:spPr>
            <a:solidFill>
              <a:srgbClr val="5B7B8C"/>
            </a:solidFill>
          </c:spPr>
          <c:cat>
            <c:strRef>
              <c:f>Sheet1!$A$2:$A$4</c:f>
              <c:strCache>
                <c:ptCount val="3"/>
                <c:pt idx="0">
                  <c:v>単純平均</c:v>
                </c:pt>
                <c:pt idx="1">
                  <c:v>最大</c:v>
                </c:pt>
                <c:pt idx="2">
                  <c:v>中心重みつき平均
（cos 窓）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0.7102</c:v>
                </c:pt>
                <c:pt idx="1">
                  <c:v>0.6974</c:v>
                </c:pt>
                <c:pt idx="2">
                  <c:v>0.7446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8"/>
          <c:min val="0.65"/>
        </c:scaling>
        <c:delete val="0"/>
        <c:axPos val="l"/>
        <c:majorGridlines>
          <c:spPr>
            <a:ln w="6350">
              <a:solidFill>
                <a:srgbClr val="DCDCD6"/>
              </a:solidFill>
            </a:ln>
          </c:spPr>
        </c:majorGridlines>
        <c:numFmt formatCode="0.000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Meiry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eiry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7830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2026年 夏期 進捗報告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032631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急傾斜地崩壊危険区域の自動抽出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47872"/>
            <a:ext cx="99605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の内部をどこまで触れば精度が上がるのか</a:t>
            </a:r>
            <a:r>
              <a:rPr sz="18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—— 29条件の実験で確かめた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617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1389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学習した条件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4617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51389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自作した構造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4617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51389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評価の軸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46177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62,717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513892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評価したタイル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広島県で学習・島根県で汎化を検証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夏期にやったこと — 3つの柱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1700784"/>
            <a:ext cx="457200" cy="457200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91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評価のしかたを作った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71216"/>
            <a:ext cx="299923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面積（画素）だけでなく「箇所数」で数える評価を設計・実装した。飲み込み問題を定量化し、被覆方式を採用。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62856" y="1700784"/>
            <a:ext cx="457200" cy="457200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591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29条件を学習・評価した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71216"/>
            <a:ext cx="299923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既存6構造の比較に加え、U-Net の内部を触る構造改良を8種類自作して学習した。損失関数と入力の与え方も振った。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26464"/>
            <a:ext cx="3547872" cy="28529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84464" y="1700784"/>
            <a:ext cx="457200" cy="4572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591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なぜ効かないかを診断した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871216"/>
            <a:ext cx="299923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失敗タイルの性質、層ごとの活性、受容野を測り、律速がモデルの表現力ではないことを突き止めた。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9028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4590288"/>
            <a:ext cx="10436047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 </a:t>
            </a: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学習側の改良は8本試して1本も出発点を超えず、効いたのは</a:t>
            </a: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推論のやり方を変えること</a:t>
            </a: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だけだった。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問題はモデルの表現力ではなく、128×128 のタイルに切って与えるという「問題の立て方」の側にあった。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使ったデータ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38,148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9339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広島県 全タイル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1463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14,816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848" y="199339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警戒区域を含む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463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23,332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99339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背景のみ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3688" y="14630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5B7B8C"/>
                </a:solidFill>
                <a:latin typeface="Meiryo"/>
                <a:ea typeface="Meiryo"/>
                <a:cs typeface="Meiryo"/>
              </a:rPr>
              <a:t>24,569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199339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島根県（汎化検証）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2608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638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タイルの仕様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584448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・128 × 128 画素／1辺 573 m（4.48 m/画素）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・格子間隔 経度 0.00625° × 緯度 0.00416667°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・重複なく県全体を覆い、8近傍が揃うタイルは 93.9%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926080"/>
            <a:ext cx="5297119" cy="2331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1968" y="3163824"/>
            <a:ext cx="4748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学習・評価の分け方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584448"/>
            <a:ext cx="474847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・6 : 2 : 2（train_test_split, random_state=42）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・広島テスト 2,964枚／正解の箇所 8,977個</a:t>
            </a: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・1タイルあたり平均 3.03箇所。島根は全24,569枚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7784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広島で学習し、一度も学習に使っていない島根県で汎化を見る。島根の値が広島より一段低いのは、県が変わると地形の出方が変わるため。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入力は3種類 — 地形量と航空写真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1609344"/>
            <a:ext cx="585216" cy="585216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7393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傾斜量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774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DEM から計算した傾斜角。急斜面がそのまま信号になる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72584" y="1609344"/>
            <a:ext cx="585216" cy="585216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DEM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177393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標高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3774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生の標高値。傾斜は CNN に学ばせる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89888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03920" y="1609344"/>
            <a:ext cx="585216" cy="585216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177393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航空写真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RGB 3チャネル。植生・造成・宅地の手がかり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3621024"/>
          <a:ext cx="11055096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0253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入力の組み合わせ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島根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SAM のみ（航空写真なし）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0.5688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0.5386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0.3623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DEM のみ（航空写真なし）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0.5928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0.5414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0.3482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SAM + 航空写真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0.5381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DEM + 航空写真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0.6744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0.6362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0.5485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66928" y="580644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航空写真を足すと広島の面積F が +0.08〜0.10、島根では +0.18〜0.20 上がる。この「入力を増やす」効き方が、以降のどの学習側の工夫よりも大きい。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1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評価のしかたを作った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面積（画素）で測ると「何箇所見つけたか」が分からない。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行政が扱う単位は箇所なので、箇所数で数える評価を設計した。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評価の単位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面積 ／ 箇所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4206240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488289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評価の範囲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通常 ／ 境界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4206240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488289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対応づけ方式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被覆 ／ IoU 2種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面積評価だけでは足りない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物体検出で普通に使う「IoU でしきい値判定して1対1に対応づける」方式は、この課題では2つの落とし穴があった。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83664"/>
            <a:ext cx="5532120" cy="33101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210312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飲み込み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23744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近接した正解を1つの予測がまとめて覆うと、1対1ではそのうち1個しか TP にできず、残りは見逃し扱いになる。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22191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833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886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2個以上を覆う予測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2428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1,803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30682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飲み込まれた正解（20.1%）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66344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47274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1予測が覆う最大数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883664"/>
            <a:ext cx="5532120" cy="33101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IoU が構造的に上がらない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23744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正解が小さいと、少しのずれで IoU が 0.3 を割る。100px 未満が 1,984個（22%）あり、そこは最良 IoU 平均が 0.159 しかない。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822191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0.388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886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正解ごとの最良 IoU 平均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2428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0.159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30682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100px 未満での平均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66344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7274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100px 未満の割合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04688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7824" y="5504688"/>
            <a:ext cx="1043604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飲み込まれた正解は、実際には予測にほぼ覆われている</a:t>
            </a: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（被覆 ≥0.5 を 89.9% が通過）</a:t>
            </a: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のに、IoU では 37.7% しか通らない。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採用した評価 — 被覆方式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1609344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判定の決め方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8"/>
            <a:ext cx="4983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正解を検出できた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　⇔ 正解の 50% 以上が予測に覆われている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予測が的中した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　⇔ 予測の 30% 以上が正解に当たっている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371600"/>
            <a:ext cx="5297119" cy="20116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01968" y="1609344"/>
            <a:ext cx="47484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固定したしきい値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29968"/>
            <a:ext cx="47484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・連結性 8近傍（4近傍でも 0.6504 対 0.6506 でほぼ不変）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・最小サイズ 10px（100px にすると 0.6506 → 0.6996 と大きく動くため固定）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639312"/>
          <a:ext cx="11055096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0253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対応づけ方式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箇所Recall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箇所Precision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被覆（0.5 / 0.3）← 本表に出す値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0.6188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0.6858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被覆（0.3 / 0.3）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0.6858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0.6743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IoU 多対1（0.3）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0.5068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0.5617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IoU 厳密1対1（0.3）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0.4998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0.5590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0.5277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0644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同じ予測でも方式を変えると箇所F が 0.53〜0.67 まで動く。どの方式で測った値かを書かずに精度を比べることはできない。以降の箇所F はすべて被覆（0.5 / 0.3）。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第1章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評価の軸を4つに整理した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1645920"/>
            <a:ext cx="402336" cy="402336"/>
          </a:xfrm>
          <a:prstGeom prst="ellipse">
            <a:avLst/>
          </a:prstGeom>
          <a:solidFill>
            <a:srgbClr val="5B7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824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面積評価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12848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画素単位の Recall / Precision / F値。従来から使っている指標。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716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601968" y="1645920"/>
            <a:ext cx="402336" cy="402336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6824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箇所数評価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212848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かたまり単位で数える。被覆方式。行政の単位に近い。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1247" y="3474720"/>
            <a:ext cx="402336" cy="402336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5112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境界評価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タイル中央 96×96 だけで測る。外周の切れ端の影響を外す。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3200400"/>
            <a:ext cx="5532120" cy="16459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601968" y="3474720"/>
            <a:ext cx="402336" cy="402336"/>
          </a:xfrm>
          <a:prstGeom prst="ellipse">
            <a:avLst/>
          </a:prstGeom>
          <a:solidFill>
            <a:srgbClr val="C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896" y="351129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オーバーラップ推論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041648"/>
            <a:ext cx="4983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3×3近傍を貼り合わせ、64px ずつずらした9窓で推論して統合する。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93792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①②は「何を数えるか」、③④は「どこを・どう推論するか」の軸。④は学習をやり直さず、すべての重みに後から掛けられる。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70448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この④が、結果として唯一はっきり効いた施策になった（第5章）。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2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既存モデルを横に並べて比べた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2つの入力（地形量・航空写真）をどこで融合するか、注意機構や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Transformer を入れるか。6構造 × 2入力 を同じ条件で学習した。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31M〜94M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646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パラメータの幅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0.636〜0.699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646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広島 面積F の幅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0.063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646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最良と最悪の差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第2章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既存6構造の比較（広島・警戒あり2,964枚）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298448"/>
          <a:ext cx="11057839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43984"/>
            <a:ext cx="5532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入力の融合位置だけが効いた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エンコーダの入口で足す Early 融合は明確に悪い（−0.036）。Middle 以降は 0.672〜0.676 に収まり差がつかない。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4443984"/>
            <a:ext cx="529711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注意機構・Transformer・パラメータ量は効かない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TransUNet は 94M（Final の2.2倍）あるのに 0.6728 で同じ。パラメータを増やしても伸びない。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760720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5760720"/>
            <a:ext cx="10436047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既存4構造（Middle / Final / Attention / Trans）は 0.672〜0.681 の帯に収まる。この帯の幅が、以降「効いた」と言えるかどうかの基準になる。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第2章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データ拡張だけが過学習を解いた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55096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017520"/>
                <a:gridCol w="2377440"/>
                <a:gridCol w="236829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最良エポックの位置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訓練F1 − 検証F1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最良 検証F1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拡張なし（15条件）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全体の 2.6〜7.3%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0.33 〜 0.39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 〜 0.69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拡張あり（3条件）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全体の 69〜90%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0.098 〜 0.101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0.691 〜 0.695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27432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拡張なしの条件は、学習の最初の数%で検証F1 がピークに達し、あとは訓練F1 だけが伸びていく。訓練と検証の差 0.33〜0.39 は、ほぼ暗記しているということ。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7" y="393192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広島では効く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334256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面積F 0.6727 → 0.6974（+0.025）。既存構造の帯（0.672〜0.681）をはっきり抜ける唯一の学習側の施策。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703320"/>
            <a:ext cx="5297119" cy="169164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01968" y="3931920"/>
            <a:ext cx="47484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島根には効かない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334256"/>
            <a:ext cx="47484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島根 面積F 0.5381 → 0.5409（+0.003）。過学習は解けているが、県をまたぐ汎化は改善しない。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過学習が解けても汎化しない、という形。つまり「広島を暗記していたから島根で落ちる」のではなく、島根が落ちる理由は別にある。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3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の内部を触る構造を8種類自作した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既存構造の比較では差がつかなかったので、どの層に何を足せば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変わるのかを切り分けられる形で、自分で構造を作って試した。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6460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自作した構造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6460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触った場所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 / ボトルネック / 統合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42.3M〜52.7M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6460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パラメータ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自作した構造 — どこを触ったか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103120"/>
                <a:gridCol w="5394960"/>
                <a:gridCol w="1362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名称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触った場所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何をしたか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パラメータ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1段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skip2（64×64）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存在マップの補助ヘッドを付け、1/2 の正解で教える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3段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skip1,2,3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128/64/32 の3段に監督を入れ、λ を段数で割る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44.10M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監督Attention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存在マップを sigmoid に通し skip×(1+attn) で増幅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同・ブランチ別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skip2（枝ごと）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地形量と航空写真で別のヘッドを持たせる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43.73M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ASPP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skip2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dilation 1/2/4/8 + 大域プーリングで受容野を広げる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44.29M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8×8 ではなく 16×16 で計算（dilation=2 で補償）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42.72M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32×32 まで上げる（未学習）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42.32M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全スケール結合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デコーダ全段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全解像度のスキップを各段に直接渡す（未学習）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52.66M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最初の6つは学習・評価まで済み。出力ストライド4と全スケール結合は条件を作って実装・動作確認まで終えた段階（前の6つが効かなかったため優先度を下げた）。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深層監督と監督Attention — 中間層に答えを教える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U-Net のスキップ接続は、エンコーダの特徴をそのままデコーダに渡している。そこに「ここに警戒区域があるか」を直接教える補助ヘッドを付けた。正解は最大プーリングで縮める（平均では小さい箇所が消えるため）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49424"/>
          <a:ext cx="110642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463040"/>
                <a:gridCol w="1371600"/>
                <a:gridCol w="1463040"/>
                <a:gridCol w="137160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予測/正解 面積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bg10（この系統の出発点）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深層監督 1段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1.598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深層監督 3段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1.573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監督Attention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0.6671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0.6449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+0.020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1.706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41648"/>
            <a:ext cx="5532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効いた：100〜3000px の見逃しが減る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監督を入れた段の解像度（64×64）で表現できるサイズに効く。100〜3000px で見逃しが計 −71箇所。50px 以下は 4×4 画素しかなく届かない。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4041648"/>
            <a:ext cx="529711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悪化した：予測が塗り広がる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変調が x×(1+sigmoid) の残差型なので増幅方向にしか働かない。予測面積比 1.512→1.706。箇所F は稼げるが面積Precision を落とす。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段を3つに増やすと、1段版で効いていた改善がむしろ失われた。λ=0.5 を段数で割ったため 64×64 への配分が 0.5→0.167 に薄まったから。段を増やすなら総圧力も増やす必要がある。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ASPP — 受容野を広げると補助ヘッドは劇的に良くなる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補助ヘッドは Conv 3×3 だけで、64×64 での受容野は 26.9 m しかない。典型的な箇所は1辺 81 m なので届いていない。dilation 1/2/4/8 と大域プーリングを足した。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139696"/>
          <a:ext cx="5532120" cy="1078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1188720"/>
                <a:gridCol w="868680"/>
                <a:gridCol w="960120"/>
                <a:gridCol w="7315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受容野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Recall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Precision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深層監督のみ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26.9 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0.5754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573 m まで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0.7139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0.6759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0.6944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9184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補助ヘッド単体の性能（64×64 の存在マップ）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2139696"/>
            <a:ext cx="5297119" cy="148132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01968" y="2322576"/>
            <a:ext cx="47484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ところが本体の出力は変わらない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724912"/>
            <a:ext cx="47484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補助ヘッド　F +0.119</a:t>
            </a:r>
          </a:p>
          <a:p>
            <a:pPr algn="l">
              <a:lnSpc>
                <a:spcPct val="160000"/>
              </a:lnSpc>
            </a:pPr>
            <a:r>
              <a:rPr sz="13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本体の出力　面積F +0.009 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770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+0.119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074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補助ヘッド単体の改善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38770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+0.009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4074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本体出力の改善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87705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13倍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4074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見合わない差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4064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5084064"/>
            <a:ext cx="1043604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 </a:t>
            </a: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スキップ接続の質を上げても、デコーダはそれを使わない。</a:t>
            </a: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「文脈不足」という診断は正しかったが、文脈を足す場所が間違っていた。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8076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逆方向からも確かめた。補助ヘッドの予測を本体出力に OR で統合すると、箇所Precision が 0.750 → 0.300 に崩壊した。信号はあるが鋭くない。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ボトルネックの解像度を上げる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ASPP の結果から「デコーダが信用しているのはボトルネック経路のほうだ」と読んだ。ならばボトルネックの解像度を上げれば効くはず。pool4 を通さず 8×8（71.7 m/画素）ではなく 16×16（35.8 m/画素）で計算し、受容野は dilation=2 で補った。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304288"/>
          <a:ext cx="1106424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371600"/>
                <a:gridCol w="1280160"/>
                <a:gridCol w="1371600"/>
                <a:gridCol w="128016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bg10 比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TP=0 タイル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ASPP（スキップ側）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0.6730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0.6327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287枚（最少）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+0.014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931920"/>
            <a:ext cx="11057839" cy="15727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4151376"/>
            <a:ext cx="104360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読みは支持されなかった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10436047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解像度を2倍にしても、スキップ側に ASPP を入れただけの条件（+0.009）を面積Fで超えない（+0.007）。前ページとあわせると、スキップ側もボトルネック側も律速ではないことになる。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ここで「U-Net のどの層を触っても動かない」ことが見えてきた。触った場所はエンコーダ・スキップ・ボトルネック・デコーダへの入力・損失・入力データの6か所。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損失関数 — 小さい箇所を重く扱う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画素で平均を取ると、小さい箇所は大きい箇所に比べて 8.45倍 過小評価される。箇所ごとに重みの総和が揃うよう正規化した損失（p で強さを調整）を実装した。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56816"/>
          <a:ext cx="55321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27648" y="1956816"/>
            <a:ext cx="5297119" cy="30175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01968" y="2176272"/>
            <a:ext cx="47484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非単調 — 機構が効いていない証拠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615184"/>
            <a:ext cx="474847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強くすれば単調に上がるはずが、p=1.0 では出発点より下がる。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理由：被覆0.5 を落ちた箇所の 69.4% は「1画素も出ていない」状態で、ロジットが負に張り付き勾配が飽和している。重みを8倍しても勾配は0のまま。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重み付けが届くのは「あと少しで当たる画素」だけで、それは全体の 5.9% しかない。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266944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p=1.0 は「現状の過小評価 8.45倍 をちょうど打ち消す」設定として選んだのに悪化した。設計の意図どおりに動かない場合、機構より先に勾配が届いているかを見るべきだった。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第3章 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背景タイルを学習に混ぜる（bg_ratio）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従来は警戒区域を含むタイルだけで学習していた。実運用では背景が 61% を占めるので、背景タイルを1割混ぜて「出さないこと」も学ばせた。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11680"/>
          <a:ext cx="11055096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2194560"/>
                <a:gridCol w="2194560"/>
                <a:gridCol w="300837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島根 背景での過検出画素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0（従来）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2,234,652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2,016,145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差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−0.009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−218,507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621024"/>
            <a:ext cx="5532120" cy="1783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7" y="384048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狙いは達成、でも F値は下がる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279392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背景での過検出は確かに減った。しかし「棄却を学ぶ」ことと「警戒区域を当てる」ことはトレードオフで、後者が下がった。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3621024"/>
            <a:ext cx="5297119" cy="1783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01968" y="3840480"/>
            <a:ext cx="47484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副作用：薄く広がる方向に変わった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4279392"/>
            <a:ext cx="47484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誤検出の画素数は減ったが、誤検出が出てしまうタイル数は島根で 3,848 → 5,456枚に増えた。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6928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この条件は後にテスト集合の汚染が見つかり、当初「+0.056 で最大の改善」と報告していた値を全面的に訂正した（第6章）。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4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なぜ効かないのかを測った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8本の構造改良がどれも動かないので、「どこで失敗しているのか」を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タイル単位・層単位で測った。ここが今期いちばんの収穫。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282枚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1画素も当てられないタイル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正解が外周16px帯にある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3条件のいずれかに該当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まったく当てられないタイルの正体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正解に1画素も重ならないタイル 282枚（2,964枚中 9.5%）の性質を、検出できたタイルと比べた。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56816"/>
          <a:ext cx="11055096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/>
                <a:gridCol w="1463040"/>
                <a:gridCol w="1463040"/>
                <a:gridCol w="282549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枚数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割合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検出できたタイルでは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正解が全部 外周16px帯にある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61%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10.7%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傾斜コントラストが負（正解の方が緩斜面）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169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60%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50.9%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小さい（平均 300px 未満）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83%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いずれかに該当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268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95%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85615"/>
            <a:ext cx="5532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① タイルの切り方の問題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61% は正解がタイルの外周16px帯にしかない。検出できたタイルでは 10.7% なので、6倍の偏り。箇所が隣のタイルにまたがって切れている。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3785615"/>
            <a:ext cx="529711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② 入力に答えが無い問題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60% は正解領域のほうが周囲より緩斜面（中央値 −1.410°）。地形量からは「ここが危険」と判断できない。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532120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5532120"/>
            <a:ext cx="10436047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失敗の大半はモデルの表現力不足ではなく、</a:t>
            </a:r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問題の与え方（①）と入力の不足（②）</a:t>
            </a: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で説明できる。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情報はエンコーダでは失われていない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当初は「最初の CNN やボトルネックで小さい箇所の情報が消えている」と考えていた。各段の活性について、正解領域と周囲のコントラストを測って確かめた。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2121408"/>
          <a:ext cx="60350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12064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1.0 を超えていれば「失敗タイルのほうがコントラストが強い」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30568" y="2121408"/>
            <a:ext cx="4794199" cy="29260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04888" y="2340864"/>
            <a:ext cx="424555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予想は外れた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2779776"/>
            <a:ext cx="424555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失敗タイルでも、活性のコントラストは検出できたタイルと同等かむしろ高い（enc2 で1.04倍、enc3 で1.37倍）。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エンコーダは「そこに何かある」ことを捉えている。情報が消えているのではなく、デコーダがそれを出力に変換できていない。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71500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この測定で「ボトルネックで情報が消えている」という当初の見立てが主因でないと分かり、以降は受容野と統合のしかたに狙いを移した。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第4章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クラス不均衡は問題の立て方が違った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676656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21945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学習に使った集合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正例（警戒区域）の割合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警戒ありタイルのみ（従来）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9.33%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5.22%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背景込み全 38,148枚（実運用の分布）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1.05%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07808" y="1371600"/>
            <a:ext cx="4016959" cy="15727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82127" y="1609344"/>
            <a:ext cx="346831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正例を重く扱う箇所正規化損失は ±0.004 でほぼ無効だった。正例が少ないことが問題なら、ここが効くはず。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63824"/>
            <a:ext cx="11057839" cy="868680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3163824"/>
            <a:ext cx="1043604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「正例が少ない」のではなく「負例の多様性が足りない」</a:t>
            </a:r>
            <a:r>
              <a:rPr sz="16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—— これが実態だった。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43400"/>
            <a:ext cx="5532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根拠 1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bg_ratio は正例の割合を 9.33% → 5.22% に下げた（不均衡を悪化させた）のに、背景での過検出は確実に減った。負例を見せたことが効いている。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4343400"/>
            <a:ext cx="529711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根拠 2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逆に正例を重くする損失（箇所正規化）は非単調で、強めると下がった。正例側に伸びしろが無い。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疑似データで正例を増やす方向は、この診断からは優先度が低い。むしろ実運用の分布（正例 1.05%）に近い負例をどう見せるかが課題。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5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唯一効いたもの — オーバーラップ推論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 61% が「正解がタイルの外周にある」なら、タイルの切り方を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変えればよい。学習はやり直さず、推論のやり方だけを変えた。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+0.047〜+0.060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箇所F の改善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学習不要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既存の重みに後から適用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282 → 163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当てられないタイル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第5章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3×3 近傍を貼り合わせ、9窓ずらして推論する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対象タイルと周囲8枚を 384×384 に貼り合わせ、64px ずつずらした9つの窓で推論する。外周にあった箇所が、どれかの窓では中心に来る。統合は中心ほど重い cos 窓での平均。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31136"/>
          <a:ext cx="11055095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463040"/>
                <a:gridCol w="1371600"/>
                <a:gridCol w="1463040"/>
                <a:gridCol w="1371600"/>
                <a:gridCol w="163677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従来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OL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従来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OL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 の差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FinalFusion_SAM_APM（出発点）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0.6513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0.6543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0.6799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0.6135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+0.060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 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0.6815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0.6780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+0.053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9651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+0.047〜+0.060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2686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どの重みでも効く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09651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103 / 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462686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境界で切れた箇所の救済（59.9%）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09651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93.9%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462686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8近傍が揃うタイル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0352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77824" y="5303520"/>
            <a:ext cx="1043604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学習側のどの改良（±0.01）よりも一桁大きく、しかも再学習が要らない。</a:t>
            </a:r>
            <a:r>
              <a:rPr sz="14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モデルではなくタイルの切り方が最大のボトルネックだった。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72784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広島の全38,148タイルは格子に重複なく載るので、近傍の貼り合わせが成立する。欠けた近傍は中央タイルの鏡像で埋めている。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第5章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統合のしかたで結果が大きく変わる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9つの窓の予測をどう1枚にまとめるか。ここを誤ると、せっかくの効果が消える。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20240"/>
          <a:ext cx="60350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30568" y="1920240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04888" y="2066544"/>
            <a:ext cx="4245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単純平均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4888" y="2395728"/>
            <a:ext cx="424555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境界付近の予測が薄まり Recall が落ちる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30568" y="2990088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04888" y="3136392"/>
            <a:ext cx="4245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B85042"/>
                </a:solidFill>
                <a:latin typeface="Meiryo"/>
                <a:ea typeface="Meiryo"/>
                <a:cs typeface="Meiryo"/>
              </a:rPr>
              <a:t>最大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3465576"/>
            <a:ext cx="424555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どれか1窓の誤検出を拾い Precision が落ちる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0568" y="4059935"/>
            <a:ext cx="4794199" cy="969264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04888" y="4206240"/>
            <a:ext cx="42455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cos 窓（採用）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4535423"/>
            <a:ext cx="4245559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中心ほど重く平均する。窓の端の不確かな予測を弱める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66944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この比較は当時のテスト集合（汚染あり）で測ったものなので絶対値は高めに出ているが、規則どうしの大小関係は変わらない。差は 0.047 あり、施策そのものの効果と同じ大きさ。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「やり方を変える」施策では、ハイパーパラメータ1つが施策の有無と同じだけ効く。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第 6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研究の進め方で学んだこと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結果そのものと同じくらい大きかったのが、実験の管理のしかた。</a:t>
            </a:r>
          </a:p>
          <a:p>
            <a:pPr algn="l">
              <a:lnSpc>
                <a:spcPct val="160000"/>
              </a:lnSpc>
            </a:pPr>
            <a:r>
              <a:rPr sz="1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途中で、報告していた値が間違っていたことが分かった。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58.9%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828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テスト集合に混ざっていた学習タイル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約 0.07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48828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過大に出ていた F値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42062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2つ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8828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ひっくり返った結論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第6章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テスト集合の汚染 — 報告値が約0.07 過大だった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5783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学習ノートブックと評価スクリプトで、テスト集合の作り方が食い違っていた。train_test_split は要素数に依存するので、同じ random_state=42 でも別の分割になる。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993392"/>
          <a:ext cx="11055096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291840"/>
                <a:gridCol w="447141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分割の対象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できるテスト集合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学習ノートブック（正）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背景込み 17,149件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警戒2,946 + 背景484 = 3,430枚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評価スクリプト（誤）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警戒ありのみ 14,816件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2,964枚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310128"/>
            <a:ext cx="11057839" cy="804672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3310128"/>
            <a:ext cx="10436047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結果、評価に使った2,964枚のうち </a:t>
            </a:r>
            <a:r>
              <a:rPr sz="15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1,746枚（58.9%）が学習に使ったタイルだった。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352544"/>
          <a:ext cx="6766560" cy="1133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463040"/>
                <a:gridCol w="118872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訂正前（誤）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訂正後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差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bg_ratio = 0.1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0.7285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bg10 + ASPP + ストライド8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0.7403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−0.070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07808" y="4352544"/>
            <a:ext cx="4016959" cy="1133856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82127" y="4553712"/>
            <a:ext cx="346831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ひっくり返った結論：「bg_ratio が最大の改善」「ストライド8 が唯一 bg10 を超えた」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60720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汚染していた評価 58件を削除し、分割ロジックを修正して全条件を測り直した。まとめ資料も全面改訂した。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第6章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再発を防ぐために直したこと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71600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41247" y="1682496"/>
            <a:ext cx="475488" cy="475488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572768"/>
            <a:ext cx="9777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テスト集合の定義が2か所にあった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56816"/>
            <a:ext cx="97776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学習ノートブックと評価スクリプトの両方に分割ロジックがあり、片方だけ変えるとずれる。本来は共通ライブラリに1つ置いて両方から呼ぶべき。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60320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1247" y="2871215"/>
            <a:ext cx="475488" cy="475488"/>
          </a:xfrm>
          <a:prstGeom prst="ellipse">
            <a:avLst/>
          </a:prstGeom>
          <a:solidFill>
            <a:srgbClr val="C89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761488"/>
            <a:ext cx="9777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config が効いていなかった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145536"/>
            <a:ext cx="97776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エポック数と bg_ratio がノートブックに直書きされており、設定ファイルの値が無視されていた。設定から読むよう全ノートブックを修正。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49039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1247" y="4059935"/>
            <a:ext cx="475488" cy="475488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950207"/>
            <a:ext cx="9777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結果を1件1ファイルで残す形にした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334255"/>
            <a:ext cx="97776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条件・機械・日時・テスト集合・評価方式を1件ごとに JSON で保存し、そこから表を組み立てる。いま 614件。重複 ID を検査する手順も入れた。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37759"/>
            <a:ext cx="11057839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41247" y="5248655"/>
            <a:ext cx="475488" cy="475488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5138927"/>
            <a:ext cx="9777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早期終了を入れた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522975"/>
            <a:ext cx="977767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最良エポックは 41〜73 だった。1000エポック回していた時間の8割以上が無駄。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44768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2台のPC（Ubuntu / Windows）でブランチを分けて並行に学習し、PR 経由で統合する運用も整えた。重みは外部SSDに置き、リポジトリには入れない。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総括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学習側の施策 — 出発点 0.6727 / 0.6506 を超えたか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2377440"/>
                <a:gridCol w="1737360"/>
                <a:gridCol w="1737360"/>
                <a:gridCol w="154533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施策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触った場所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面積F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広島 箇所F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判定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データ拡張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入力（前処理）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0.6974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○ +0.025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監督Attention ブランチ別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0.6776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0.6523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8923E"/>
                          </a:solidFill>
                          <a:latin typeface="Meiryo"/>
                          <a:ea typeface="Meiryo"/>
                          <a:cs typeface="Meiryo"/>
                        </a:rPr>
                        <a:t>△ +0.005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箇所正規化損失 p=0.5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損失関数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8923E"/>
                          </a:solidFill>
                          <a:latin typeface="Meiryo"/>
                          <a:ea typeface="Meiryo"/>
                          <a:cs typeface="Meiryo"/>
                        </a:rPr>
                        <a:t>△ +0.004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ASPP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0.6730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0.6327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4A5A68"/>
                          </a:solidFill>
                          <a:latin typeface="Meiryo"/>
                          <a:ea typeface="Meiryo"/>
                          <a:cs typeface="Meiryo"/>
                        </a:rPr>
                        <a:t>× ±0.000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出力ストライド 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ボトルネック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箇所正規化損失 p=1.0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損失関数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0.6692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0.6378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深層監督 1段 / 3段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スキップ接続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0.6404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背景タイル混入 bg=0.1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入力データ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0.6636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0.6252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B85042"/>
                          </a:solidFill>
                          <a:latin typeface="Meiryo"/>
                          <a:ea typeface="Meiryo"/>
                          <a:cs typeface="Meiryo"/>
                        </a:rPr>
                        <a:t>× −0.009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80974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既存4構造が収まる帯は 0.672〜0.681、検証F1 上位10エポックのゆらぎ幅は 0.003〜0.005。この帯とゆらぎを超えたのはデータ拡張だけ。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6400"/>
            <a:ext cx="11057839" cy="841248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5486400"/>
            <a:ext cx="10436047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一方、オーバーラップ推論（学習不要）は 箇所F +0.047〜+0.060。</a:t>
            </a:r>
            <a:r>
              <a:rPr sz="14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　学習側の最良（+0.025）の2倍以上。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1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分かったこと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389888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353312"/>
            <a:ext cx="10143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U-Net の内部をどう触っても ±0.01 しか動かない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5" y="1755648"/>
            <a:ext cx="1005199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エンコーダ・スキップ・ボトルネック・デコーダへの入力・損失・入力データの6か所を触ったが、どれも律速ではなかった。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505456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468880"/>
            <a:ext cx="10143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スキップ接続の質はデコーダにとって律速ではない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871216"/>
            <a:ext cx="1005199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ASPP で補助ヘッド単体は F +0.119 改善したのに、本体は +0.009 しか動かない。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21024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584448"/>
            <a:ext cx="10143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失敗の 61% はタイルの切り方で説明できる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986784"/>
            <a:ext cx="1005199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1画素も当てられないタイルの 61% は、正解が全部タイルの外周16px帯にある。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4736592"/>
            <a:ext cx="420624" cy="420624"/>
          </a:xfrm>
          <a:prstGeom prst="ellipse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700016"/>
            <a:ext cx="101434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タイルの切り方を変えるだけで +0.05 動く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5102352"/>
            <a:ext cx="10051999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A7BEAE"/>
                </a:solidFill>
                <a:latin typeface="Meiryo"/>
                <a:ea typeface="Meiryo"/>
                <a:cs typeface="Meiryo"/>
              </a:rPr>
              <a:t>オーバーラップ推論は学習不要で 箇所F +0.047〜+0.060。学習側の最良の2倍以上。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結論：</a:t>
            </a: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「モデルが悪い」のではなく「問題の与え方が悪い」。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今後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1057839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次にやること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556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35024"/>
          <a:ext cx="11055096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3474720"/>
                <a:gridCol w="6035040"/>
                <a:gridCol w="9052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順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やること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状態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オーバーラップ推論を島根でも測る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広島で +0.047〜+0.060。近傍に学習タイルが含まれる影響を外す必要がある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窓数・統合の重みを詰める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9窓・cos窓しか試していない。16窓やガウス窓で伸びるか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航空写真の解像度を上げる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いま9倍に縮めて捨てている。入力側の情報量を戻す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建物・土地利用を入力に足す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当てられないタイルの 60% は傾斜コントラストが負で、地形からは答えが出ない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複数シードで再現性を確かめる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0.005 の差を議論する前提。島根で監督を足すほど単調に良くなる兆候の検証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未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572000"/>
            <a:ext cx="11057839" cy="13258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4791456"/>
            <a:ext cx="1043604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3 と 4 は「入力を増やす」方向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193792"/>
            <a:ext cx="1043604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学習側の工夫が一通り尽きた以上、入力に無い情報を足すしか残っていない、というのがここまでの結論。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08192"/>
            <a:ext cx="104177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作成済みで未学習の条件（出力ストライド4、全スケール結合3本、bg30 / bg50）も残っているが、同系統が効かなかったので優先度は下げている。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