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3" r:id="rId4"/>
    <p:sldId id="258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面積F</c:v>
                </c:pt>
              </c:strCache>
            </c:strRef>
          </c:tx>
          <c:spPr>
            <a:solidFill>
              <a:srgbClr val="5B7B8C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Early
融合</c:v>
                </c:pt>
                <c:pt idx="1">
                  <c:v>Middle
融合</c:v>
                </c:pt>
                <c:pt idx="2">
                  <c:v>Final
融合</c:v>
                </c:pt>
                <c:pt idx="3">
                  <c:v>Attention</c:v>
                </c:pt>
                <c:pt idx="4">
                  <c:v>TransUNet</c:v>
                </c:pt>
                <c:pt idx="5">
                  <c:v>拡張あり
Final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0.63629999999999998</c:v>
                </c:pt>
                <c:pt idx="1">
                  <c:v>0.67210000000000003</c:v>
                </c:pt>
                <c:pt idx="2">
                  <c:v>0.67269999999999996</c:v>
                </c:pt>
                <c:pt idx="3">
                  <c:v>0.67630000000000001</c:v>
                </c:pt>
                <c:pt idx="4">
                  <c:v>0.67279999999999995</c:v>
                </c:pt>
                <c:pt idx="5">
                  <c:v>0.69740000000000002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1BE-4F42-8F84-D67D7C0292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3D6B4A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Early
融合</c:v>
                </c:pt>
                <c:pt idx="1">
                  <c:v>Middle
融合</c:v>
                </c:pt>
                <c:pt idx="2">
                  <c:v>Final
融合</c:v>
                </c:pt>
                <c:pt idx="3">
                  <c:v>Attention</c:v>
                </c:pt>
                <c:pt idx="4">
                  <c:v>TransUNet</c:v>
                </c:pt>
                <c:pt idx="5">
                  <c:v>拡張あり
Final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0.60229999999999995</c:v>
                </c:pt>
                <c:pt idx="1">
                  <c:v>0.65469999999999995</c:v>
                </c:pt>
                <c:pt idx="2">
                  <c:v>0.65059999999999996</c:v>
                </c:pt>
                <c:pt idx="3">
                  <c:v>0.65449999999999997</c:v>
                </c:pt>
                <c:pt idx="4">
                  <c:v>0.64590000000000003</c:v>
                </c:pt>
                <c:pt idx="5">
                  <c:v>0.66420000000000001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1BE-4F42-8F84-D67D7C0292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3"/>
          <c:min val="0.57999999999999996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Meiryo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3D6B4A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正規化なし</c:v>
                </c:pt>
                <c:pt idx="1">
                  <c:v>p = 0.5</c:v>
                </c:pt>
                <c:pt idx="2">
                  <c:v>p = 1.0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0.65059999999999996</c:v>
                </c:pt>
                <c:pt idx="1">
                  <c:v>0.65959999999999996</c:v>
                </c:pt>
                <c:pt idx="2">
                  <c:v>0.63780000000000003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77-9E4E-A9CD-0B0533B8AD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箇所Recall</c:v>
                </c:pt>
              </c:strCache>
            </c:strRef>
          </c:tx>
          <c:spPr>
            <a:solidFill>
              <a:srgbClr val="5B7B8C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正規化なし</c:v>
                </c:pt>
                <c:pt idx="1">
                  <c:v>p = 0.5</c:v>
                </c:pt>
                <c:pt idx="2">
                  <c:v>p = 1.0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0.61880000000000002</c:v>
                </c:pt>
                <c:pt idx="1">
                  <c:v>0.64629999999999999</c:v>
                </c:pt>
                <c:pt idx="2">
                  <c:v>0.59530000000000005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F77-9E4E-A9CD-0B0533B8AD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8"/>
          <c:min val="0.56000000000000005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Meiryo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TP=0 タイル / 検出できたタイル の比</c:v>
                </c:pt>
              </c:strCache>
            </c:strRef>
          </c:tx>
          <c:spPr>
            <a:solidFill>
              <a:srgbClr val="5B7B8C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enc1</c:v>
                </c:pt>
                <c:pt idx="1">
                  <c:v>enc2</c:v>
                </c:pt>
                <c:pt idx="2">
                  <c:v>enc3</c:v>
                </c:pt>
                <c:pt idx="3">
                  <c:v>enc4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1.04</c:v>
                </c:pt>
                <c:pt idx="2">
                  <c:v>1.37</c:v>
                </c:pt>
                <c:pt idx="3">
                  <c:v>1.1200000000000001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67-3345-BD9E-0C13486312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5"/>
          <c:min val="0.8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5B7B8C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latin typeface="Meiryo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単純平均</c:v>
                </c:pt>
                <c:pt idx="1">
                  <c:v>最大</c:v>
                </c:pt>
                <c:pt idx="2">
                  <c:v>中心重みつき平均
（cos 窓）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0.71020000000000005</c:v>
                </c:pt>
                <c:pt idx="1">
                  <c:v>0.69740000000000002</c:v>
                </c:pt>
                <c:pt idx="2">
                  <c:v>0.74460000000000004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171-8048-8CE1-15B1979623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78"/>
          <c:min val="0.65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2026年 夏期 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032631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急傾斜地崩壊危険区域の自動抽出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47872"/>
            <a:ext cx="996055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の内部をどこまで触れば精度が上がるのか</a:t>
            </a:r>
            <a:r>
              <a:rPr sz="18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—— 29条件の実験で確かめた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6177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38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学習した条件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46177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5138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自作した構造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46177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5138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評価の軸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46177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62,717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51389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評価したタイル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広島県で学習・島根県で汎化を検証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夏期にやったこと — 3つの柱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700784"/>
            <a:ext cx="457200" cy="457200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評価のしかたを作った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面積（画素）だけでなく「箇所数」で数える評価を設計・実装した。飲み込み問題を定量化し、被覆方式を採用。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562856" y="1700784"/>
            <a:ext cx="457200" cy="457200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59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29条件を学習・評価した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既存6構造の比較に加え、U-Net の内部を触る構造改良を8種類自作して学習した。損失関数と入力の与え方も振った。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84464" y="1700784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59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なぜ効かないかを診断した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失敗タイルの性質、層ごとの活性、受容野を測り、律速がモデルの表現力ではないことを突き止めた。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9028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4590288"/>
            <a:ext cx="1043604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 </a:t>
            </a: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学習側の改良は8本試して1本も出発点を超えず、効いたのは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推論のやり方を変えること</a:t>
            </a: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だけだった。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問題はモデルの表現力ではなく、128×128 のタイルに切って与えるという「問題の立て方」の側にあった。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40850-4CC5-661A-93B1-0C4B1C82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256A-EBBC-6A68-2ED5-A512B5FD48E9}"/>
              </a:ext>
            </a:extLst>
          </p:cNvPr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全体像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6326E-E9BB-BFF3-AA9F-AD3865E864C2}"/>
              </a:ext>
            </a:extLst>
          </p:cNvPr>
          <p:cNvSpPr txBox="1"/>
          <p:nvPr/>
        </p:nvSpPr>
        <p:spPr>
          <a:xfrm>
            <a:off x="566928" y="603504"/>
            <a:ext cx="110578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夏期にやったこと</a:t>
            </a:r>
            <a:r>
              <a:rPr sz="2800" b="1" dirty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F5957-6876-6C23-C274-4AF27E8D534A}"/>
              </a:ext>
            </a:extLst>
          </p:cNvPr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3C9619-FA89-B9D4-34FC-20BDAB87766E}"/>
              </a:ext>
            </a:extLst>
          </p:cNvPr>
          <p:cNvSpPr/>
          <p:nvPr/>
        </p:nvSpPr>
        <p:spPr>
          <a:xfrm>
            <a:off x="566928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E0F625-DD2C-8357-1B51-208BA9098873}"/>
              </a:ext>
            </a:extLst>
          </p:cNvPr>
          <p:cNvSpPr/>
          <p:nvPr/>
        </p:nvSpPr>
        <p:spPr>
          <a:xfrm>
            <a:off x="841247" y="1700784"/>
            <a:ext cx="457200" cy="457200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8B81D-5585-DB4E-7D95-0C0791C7D925}"/>
              </a:ext>
            </a:extLst>
          </p:cNvPr>
          <p:cNvSpPr txBox="1"/>
          <p:nvPr/>
        </p:nvSpPr>
        <p:spPr>
          <a:xfrm>
            <a:off x="841247" y="2359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評価のしかたを作った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A69A8-9D27-A569-AE88-F1E216ABFA82}"/>
              </a:ext>
            </a:extLst>
          </p:cNvPr>
          <p:cNvSpPr txBox="1"/>
          <p:nvPr/>
        </p:nvSpPr>
        <p:spPr>
          <a:xfrm>
            <a:off x="841247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 err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面積（画素）だけでなく「箇所数」で数える評価を設計・実装した。飲み込み問題を定量化し、被覆方式を採用</a:t>
            </a:r>
            <a:r>
              <a:rPr sz="1200" b="0" dirty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4648C6-32E0-7746-972B-B1D8E5BCB31E}"/>
              </a:ext>
            </a:extLst>
          </p:cNvPr>
          <p:cNvSpPr/>
          <p:nvPr/>
        </p:nvSpPr>
        <p:spPr>
          <a:xfrm>
            <a:off x="4288536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0A84FD-7585-2B1B-766B-A4007C87C752}"/>
              </a:ext>
            </a:extLst>
          </p:cNvPr>
          <p:cNvSpPr/>
          <p:nvPr/>
        </p:nvSpPr>
        <p:spPr>
          <a:xfrm>
            <a:off x="4562856" y="1700784"/>
            <a:ext cx="457200" cy="457200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BE522-45C0-EF3B-62A0-A861BCC86714}"/>
              </a:ext>
            </a:extLst>
          </p:cNvPr>
          <p:cNvSpPr txBox="1"/>
          <p:nvPr/>
        </p:nvSpPr>
        <p:spPr>
          <a:xfrm>
            <a:off x="4562856" y="235915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altLang="en-US"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改良モデルで</a:t>
            </a:r>
            <a:r>
              <a:rPr sz="1500" b="1" dirty="0" err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学習・評価した</a:t>
            </a:r>
            <a:endParaRPr sz="1500" b="1" dirty="0">
              <a:solidFill>
                <a:srgbClr val="23313C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865CF-0724-6104-B2C7-B0132FEF29C8}"/>
              </a:ext>
            </a:extLst>
          </p:cNvPr>
          <p:cNvSpPr txBox="1"/>
          <p:nvPr/>
        </p:nvSpPr>
        <p:spPr>
          <a:xfrm>
            <a:off x="4562856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既存6構造の比較に加え、U-Net の内部を触る構造改良を8種類自作して学習した。損失関数と入力の与え方も振った。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6F84A7-995D-C489-F8B5-64769EDCD0F8}"/>
              </a:ext>
            </a:extLst>
          </p:cNvPr>
          <p:cNvSpPr/>
          <p:nvPr/>
        </p:nvSpPr>
        <p:spPr>
          <a:xfrm>
            <a:off x="8010144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87E139-40EE-DFB2-0D81-BCD3436EAB0B}"/>
              </a:ext>
            </a:extLst>
          </p:cNvPr>
          <p:cNvSpPr/>
          <p:nvPr/>
        </p:nvSpPr>
        <p:spPr>
          <a:xfrm>
            <a:off x="8284464" y="1700784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6A8A9D-7430-6775-431F-6E241A75CAD2}"/>
              </a:ext>
            </a:extLst>
          </p:cNvPr>
          <p:cNvSpPr txBox="1"/>
          <p:nvPr/>
        </p:nvSpPr>
        <p:spPr>
          <a:xfrm>
            <a:off x="8284464" y="2359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なぜ効かないかを診断した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569C7C-126D-141C-872D-0312905ED403}"/>
              </a:ext>
            </a:extLst>
          </p:cNvPr>
          <p:cNvSpPr txBox="1"/>
          <p:nvPr/>
        </p:nvSpPr>
        <p:spPr>
          <a:xfrm>
            <a:off x="8284464" y="2871216"/>
            <a:ext cx="29992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失敗タイルの性質、層ごとの活性、受容野を測り、律速がモデルの表現力ではないことを突き止めた。</a:t>
            </a:r>
          </a:p>
        </p:txBody>
      </p:sp>
    </p:spTree>
    <p:extLst>
      <p:ext uri="{BB962C8B-B14F-4D97-AF65-F5344CB8AC3E}">
        <p14:creationId xmlns:p14="http://schemas.microsoft.com/office/powerpoint/2010/main" val="24914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使ったデータ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38,148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9339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広島県 全タイル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14630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14,816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199339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警戒区域を含む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4630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23,332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99339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背景のみ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0672" y="1465167"/>
            <a:ext cx="466535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5B7B8C"/>
                </a:solidFill>
                <a:latin typeface="Meiryo"/>
                <a:ea typeface="Meiryo"/>
                <a:cs typeface="Meiryo"/>
              </a:rPr>
              <a:t>24,569</a:t>
            </a:r>
            <a:r>
              <a:rPr lang="ja-JP" altLang="en-US" sz="3600" b="1">
                <a:solidFill>
                  <a:srgbClr val="5B7B8C"/>
                </a:solidFill>
                <a:latin typeface="Meiryo"/>
                <a:ea typeface="Meiryo"/>
                <a:cs typeface="Meiryo"/>
              </a:rPr>
              <a:t>（全タイル）</a:t>
            </a:r>
            <a:endParaRPr sz="3600" b="1" dirty="0">
              <a:solidFill>
                <a:srgbClr val="5B7B8C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3688" y="199339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島根県（汎化検証）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2608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1638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タイルの仕様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584448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・128 × 128 画素／1辺 573 m（4.48 m/画素）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・格子間隔 経度 0.00625° × 緯度 0.00416667°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・重複なく県全体を覆い、8近傍が揃うタイルは 93.9%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926080"/>
            <a:ext cx="5297119" cy="2331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3163824"/>
            <a:ext cx="47484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学習・評価の分け方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584448"/>
            <a:ext cx="474847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・6 : 2 : 2（train_test_split, random_state=42）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・広島テスト 2,964枚／正解の箇所 8,977個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・1タイルあたり平均 3.03箇所。島根は全24,569枚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7784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広島で学習し、一度も学習に使っていない島根県で汎化を見る。島根の値が広島より一段低いのは、県が変わると地形の出方が変わるため。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入力は3種類 — 地形量と航空写真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609344"/>
            <a:ext cx="585216" cy="585216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傾斜量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DEM から計算した傾斜角。急斜面がそのまま信号になる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72584" y="1609344"/>
            <a:ext cx="585216" cy="585216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DEM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標高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7744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生の標高値。傾斜は CNN に学ばせる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0" y="1609344"/>
            <a:ext cx="585216" cy="585216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航空写真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RGB 3チャネル。植生・造成・宅地の手がかり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621024"/>
          <a:ext cx="11055096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入力の組み合わせ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島根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SAM のみ（航空写真なし）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0.5688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0.5386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0.3623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DEM のみ（航空写真なし）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0.5928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0.5414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0.3482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SAM + 航空写真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0.5381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DEM + 航空写真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0.6744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0.6362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0.5485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66928" y="580644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航空写真を足すと広島の面積F が +0.08〜0.10、島根では +0.18〜0.20 上がる。この「入力を増やす」効き方が、以降のどの学習側の工夫よりも大きい。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面積評価だけでは足りない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dirty="0" err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物体検出で普通に使う「IoU</a:t>
            </a:r>
            <a:r>
              <a:rPr sz="1350" b="0" dirty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 でしきい値判定して1対1に対応づける」方式は、この課題では2つの落とし穴があった。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83664"/>
            <a:ext cx="5532120" cy="33101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飲み込み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23744"/>
            <a:ext cx="4983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近接した正解を1つの予測がまとめて覆うと、1対1ではそのうち1個しか TP にできず、残りは見逃し扱いになる。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22191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833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2個以上を覆う予測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24281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1,803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3068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飲み込まれた正解（20.1%）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66344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47274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1予測が覆う最大数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83664"/>
            <a:ext cx="5532120" cy="33101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IoU が構造的に上がらない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23744"/>
            <a:ext cx="4983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正解が小さいと、少しのずれで IoU が 0.3 を割る。100px 未満が 1,984個（22%）あり、そこは最良 IoU 平均が 0.159 しかない。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822191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0.388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正解ごとの最良 IoU 平均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24281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0.159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3068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100px 未満での平均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66344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7274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100px 未満の割合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04688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5504688"/>
            <a:ext cx="10436047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飲み込まれた正解は、実際には予測にほぼ覆われている</a:t>
            </a: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（被覆 ≥0.5 を 89.9% が通過）</a:t>
            </a: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のに、IoU では 37.7% しか通らない。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採用した評価 — 被覆方式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09344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判定の決め方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8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正解を検出できた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　⇔ 正解の 50% 以上が予測に覆われている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予測が的中した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　⇔ 予測の 30% 以上が正解に当たっている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371600"/>
            <a:ext cx="5297119" cy="20116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609344"/>
            <a:ext cx="47484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固定したしきい値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29968"/>
            <a:ext cx="474847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・連結性 8近傍（4近傍でも 0.6504 対 0.6506 でほぼ不変）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・最小サイズ 10px（100px にすると 0.6506 → 0.6996 と大きく動くため固定）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639312"/>
          <a:ext cx="11055096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対応づけ方式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箇所Recall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箇所Precision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被覆（0.5 / 0.3）← 本表に出す値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0.6188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被覆（0.3 / 0.3）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0.6858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0.6743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IoU 多対1（0.3）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0.5068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0.5617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IoU 厳密1対1（0.3）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0.4998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0.5590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0.5277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0644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同じ予測でも方式を変えると箇所F が 0.53〜0.67 まで動く。どの方式で測った値かを書かずに精度を比べることはできない。以降の箇所F はすべて被覆（0.5 / 0.3）。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評価の軸を4つに整理した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645920"/>
            <a:ext cx="402336" cy="402336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8249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面積評価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12848"/>
            <a:ext cx="49834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画素単位の Recall / Precision / F値。従来から使っている指標。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716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601968" y="1645920"/>
            <a:ext cx="402336" cy="402336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68249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箇所数評価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212848"/>
            <a:ext cx="49834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かたまり単位で数える。被覆方式。行政の単位に近い。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3474720"/>
            <a:ext cx="402336" cy="402336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51129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境界評価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49834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タイル中央 96×96 だけで測る。外周の切れ端の影響を外す。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2004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01968" y="3474720"/>
            <a:ext cx="402336" cy="402336"/>
          </a:xfrm>
          <a:prstGeom prst="ellipse">
            <a:avLst/>
          </a:prstGeom>
          <a:solidFill>
            <a:srgbClr val="C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51129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オーバーラップ推論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041648"/>
            <a:ext cx="49834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3×3近傍を貼り合わせ、64px ずつずらした9窓で推論して統合する。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93792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①②は「何を数えるか」、③④は「どこを・どう推論するか」の軸。④は学習をやり直さず、すべての重みに後から掛けられる。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この④が、結果として唯一はっきり効いた施策になった（第5章）。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第2章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ベースになる構造 — 2枝 U-Net（Final 融合）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地形量と航空写真を別々のエンコーダで符号化し、ボトルネックで初めて連結する。各解像度のスキップ接続は、両枝を連結してデコーダに渡す。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810512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128×128  64ch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41401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128×128  64ch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10512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64×64  128ch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41401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64×64  128ch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048256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26080" y="2651760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94960" y="1810512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32×32  256ch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41401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32×32  256ch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048256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651760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1810512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16×16  512ch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1401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16×16  512ch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048256"/>
            <a:ext cx="365759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0" y="2651760"/>
            <a:ext cx="365759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1901952"/>
            <a:ext cx="603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傾斜量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05456"/>
            <a:ext cx="603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航空写真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112264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ボトルネック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8×8  1024ch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048256"/>
            <a:ext cx="640080" cy="24688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235440" y="2404872"/>
            <a:ext cx="640080" cy="24688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88720" y="405993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128×128  64ch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05993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64×64  128ch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405993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32×32  256ch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059936"/>
            <a:ext cx="1737360" cy="47548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16×16  512ch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132320" y="4297680"/>
            <a:ext cx="365759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029200" y="4297680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926080" y="4297680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189720" y="2587752"/>
            <a:ext cx="1554480" cy="1472184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72600" y="3163824"/>
            <a:ext cx="2240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アップサンプリング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57400" y="2944368"/>
            <a:ext cx="0" cy="1078992"/>
          </a:xfrm>
          <a:prstGeom prst="line">
            <a:avLst/>
          </a:prstGeom>
          <a:ln w="1397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60520" y="2944368"/>
            <a:ext cx="0" cy="1078992"/>
          </a:xfrm>
          <a:prstGeom prst="line">
            <a:avLst/>
          </a:prstGeom>
          <a:ln w="20320">
            <a:solidFill>
              <a:srgbClr val="B850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263640" y="2944368"/>
            <a:ext cx="0" cy="1078992"/>
          </a:xfrm>
          <a:prstGeom prst="line">
            <a:avLst/>
          </a:prstGeom>
          <a:ln w="1397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66759" y="2944368"/>
            <a:ext cx="0" cy="1078992"/>
          </a:xfrm>
          <a:prstGeom prst="line">
            <a:avLst/>
          </a:prstGeom>
          <a:ln w="1397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88720" y="4700016"/>
            <a:ext cx="1737360" cy="402336"/>
          </a:xfrm>
          <a:prstGeom prst="roundRect">
            <a:avLst>
              <a:gd name="adj" fmla="val 1000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出力 128×128  1ch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57400" y="4535424"/>
            <a:ext cx="0" cy="164592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" y="5248656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点線＝スキップ接続。両枝を連結して渡す。赤い線が skip2 で、第3章の改良はここを触る。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この構造が出発点 </a:t>
            </a: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FinalFusion_SAM_APM（43.58M・面積F 0.6727 / 箇所F 0.6506）</a:t>
            </a:r>
            <a:r>
              <a:rPr sz="13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。以降の比較はすべてこれを基準にする。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第2章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既存6構造の比較（広島・警戒あり2,964枚）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298448"/>
          <a:ext cx="11057839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43984"/>
            <a:ext cx="5532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入力の融合位置だけが効いた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エンコーダの入口で足す Early 融合は明確に悪い（−0.036）。Middle 以降は 0.672〜0.676 に収まり差がつかない。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4443984"/>
            <a:ext cx="529711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注意機構・Transformer・パラメータ量は効かない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TransUNet は 94M（Final の2.2倍）あるのに 0.6728 で同じ。パラメータを増やしても伸びない。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760720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5760720"/>
            <a:ext cx="1043604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既存4構造（Middle / Final / Attention / Trans）は 0.672〜0.681 の帯に収まる。この帯の幅が、以降「効いた」と言えるかどうかの基準になる。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第2章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データ拡張だけが過学習を解いた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55096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最良エポックの位置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訓練F1 − 検証F1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最良 検証F1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拡張なし（15条件）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全体の 2.6〜7.3%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0.33 〜 0.39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 〜 0.69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拡張あり（3条件）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全体の 69〜90%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0.098 〜 0.101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0.691 〜 0.695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2743200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拡張なしの条件は、学習の最初の数%で検証F1 がピークに達し、あとは訓練F1 だけが伸びていく。訓練と検証の差 0.33〜0.39 は、ほぼ暗記しているということ。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93192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広島では効く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334256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面積F 0.6727 → 0.6974（+0.025）。既存構造の帯（0.672〜0.681）をはっきり抜ける唯一の学習側の施策。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703320"/>
            <a:ext cx="5297119" cy="16916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3931920"/>
            <a:ext cx="47484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島根には効かない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334256"/>
            <a:ext cx="474847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島根 面積F 0.5381 → 0.5409（+0.003）。過学習は解けているが、県をまたぐ汎化は改善しない。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過学習が解けても汎化しない、という形。つまり「広島を暗記していたから島根で落ちる」のではなく、島根が落ちる理由は別にある。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3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の内部を触る構造を8種類自作した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既存構造の比較では差がつかなかったので、どの層に何を足せば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変わるのかを切り分けられる形で、自分で構造を作って試した。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646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自作した構造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646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触った場所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 / ボトルネック / 統合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42.3M〜52.7M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646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パラメータ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自作した構造 — どこを触ったか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名称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触った場所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何をしたか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パラメータ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1段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skip2（64×64）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存在マップの補助ヘッドを付け、1/2 の正解で教える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3段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skip1,2,3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128/64/32 の3段に監督を入れ、λ を段数で割る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44.10M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監督Attention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存在マップを sigmoid に通し skip×(1+attn) で増幅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同・ブランチ別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skip2（枝ごと）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地形量と航空写真で別のヘッドを持たせる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ASPP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dilation 1/2/4/8 + 大域プーリングで受容野を広げる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44.29M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8×8 ではなく 16×16 で計算（dilation=2 で補償）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42.72M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32×32 まで上げる（未学習）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42.32M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全スケール結合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デコーダ全段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全解像度のスキップを各段に直接渡す（未学習）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52.66M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最初の6つは学習・評価まで済み。出力ストライド4と全スケール結合は条件を作って実装・動作確認まで終えた段階（前の6つが効かなかったため優先度を下げた）。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仕組み — 深層監督と監督Attention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skip2（64×64・256ch）に小さなヘッドを足し、「ここに警戒区域があるか」を直接教える。出てきた存在マップの使い道が2つに分かれる。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2103120" cy="566928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skip2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64×64 ・ 256ch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0048" y="2203704"/>
            <a:ext cx="5943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64408" y="1920240"/>
            <a:ext cx="2286000" cy="56692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補助ヘッド</a:t>
            </a: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Conv3×3 → BN → ReLU → Conv1×1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50408" y="2203704"/>
            <a:ext cx="5943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44768" y="1920240"/>
            <a:ext cx="2011680" cy="566928"/>
          </a:xfrm>
          <a:prstGeom prst="roundRect">
            <a:avLst>
              <a:gd name="adj" fmla="val 10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存在マップ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64×64 ・ 1ch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1572768"/>
            <a:ext cx="2788920" cy="530352"/>
          </a:xfrm>
          <a:prstGeom prst="roundRect">
            <a:avLst>
              <a:gd name="adj" fmla="val 1000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(a) 深層監督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156448" y="1837943"/>
            <a:ext cx="640080" cy="265177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96528" y="2212848"/>
            <a:ext cx="2788920" cy="768096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正解を最大プーリングで 64×64 に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落としたものを教師にして損失を足す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（λ = 0.5）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01568"/>
            <a:ext cx="2788920" cy="530352"/>
          </a:xfrm>
          <a:prstGeom prst="roundRect">
            <a:avLst>
              <a:gd name="adj" fmla="val 1000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(b) 監督Attention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56816" y="2487168"/>
            <a:ext cx="5193792" cy="91440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4041648"/>
            <a:ext cx="2788920" cy="768096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sigmoid に通して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skip2 × (1 + 存在マップ)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でスキップを増幅する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55848" y="4425696"/>
            <a:ext cx="64008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95928" y="4169663"/>
            <a:ext cx="2103120" cy="512064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デコーダへ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401568"/>
            <a:ext cx="5114239" cy="1408176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3584448"/>
            <a:ext cx="47484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最大プーリングを使う理由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31920"/>
            <a:ext cx="47484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平均プーリングだと、1/2 に落とす段階で小さい箇所が薄まって消える。最大なら「そこに1画素でもあるか」が残る。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47488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ブランチ別版（SupAttnPB）は、このヘッドを連結前に地形量と航空写真で別々に持たせたもの。既存の Attention 構造が枝ごとにゲートを持つ設計と揃う。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2414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変調が x×(1+sigmoid) の残差型なので、</a:t>
            </a:r>
            <a:r>
              <a:rPr sz="13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増やす方向にしか働かない</a:t>
            </a:r>
            <a:r>
              <a:rPr sz="13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。これが次ページの副作用につながる。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 — 深層監督と監督Attention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前ページの仕組みを bg10 の上に足して学習した。比較はすべて bg10 基準。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38528"/>
          <a:ext cx="11064240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予測/正解 面積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bg10（この系統の出発点）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深層監督 1段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1.598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深層監督 3段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1.573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監督Attention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0.6671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0.6449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+0.020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1.706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133087"/>
            <a:ext cx="5532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効いた：100〜3000px の見逃しが減る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監督を入れた段の解像度（64×64）で表現できるサイズに効く。100〜3000px で見逃しが計 −71箇所。50px 以下は 4×4 画素しかなく届かない。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4133087"/>
            <a:ext cx="529711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悪化した：予測が塗り広がる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変調が x×(1+sigmoid) の残差型なので増幅方向にしか働かない。予測面積比 1.512→1.706。箇所F は稼げるが面積Precision を落とす。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段を3つに増やすと、1段版で効いていた改善がむしろ失われた。λ=0.5 を段数で割ったため 64×64 への配分が 0.5→0.167 に薄まったから。段を増やすなら総圧力も増やす必要がある。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仕組み — ASPP で受容野を広げる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補助ヘッドは Conv 3×3 だけで受容野は 26.9 m。飛び飛びに見る畳み込みを並べる。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825496"/>
            <a:ext cx="1600200" cy="566928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skip2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64×64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865376"/>
            <a:ext cx="2148840" cy="438912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1496" y="1965960"/>
            <a:ext cx="868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 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67128" y="2084832"/>
            <a:ext cx="685800" cy="102412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07608" y="2084832"/>
            <a:ext cx="868680" cy="102412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52928" y="2377440"/>
            <a:ext cx="2148840" cy="438912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3×3 d=2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247802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45 m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167128" y="2596896"/>
            <a:ext cx="685800" cy="512064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07608" y="2596896"/>
            <a:ext cx="868680" cy="512064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2928" y="2889504"/>
            <a:ext cx="2148840" cy="438912"/>
          </a:xfrm>
          <a:prstGeom prst="roundRect">
            <a:avLst>
              <a:gd name="adj" fmla="val 1000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3×3 d=4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99008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81 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67128" y="3108960"/>
            <a:ext cx="68580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07608" y="3108960"/>
            <a:ext cx="86868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52928" y="3401568"/>
            <a:ext cx="2148840" cy="438912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3×3 d=8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350215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152 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7128" y="3108960"/>
            <a:ext cx="685800" cy="512064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07608" y="3108960"/>
            <a:ext cx="868680" cy="512064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52928" y="3913632"/>
            <a:ext cx="2148840" cy="438912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大域プーリング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4014216"/>
            <a:ext cx="868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573 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67128" y="3108960"/>
            <a:ext cx="685800" cy="102412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07608" y="3108960"/>
            <a:ext cx="868680" cy="1024128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47488" y="159105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見える範囲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76288" y="2825496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連結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39327" y="3108960"/>
            <a:ext cx="54864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87967" y="2825496"/>
            <a:ext cx="1463040" cy="566928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1×1 で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256ch に戻す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51007" y="3108960"/>
            <a:ext cx="548641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899648" y="2825496"/>
            <a:ext cx="722376" cy="566928"/>
          </a:xfrm>
          <a:prstGeom prst="roundRect">
            <a:avLst>
              <a:gd name="adj" fmla="val 10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343814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残差で skip2 に足す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45152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480974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なぜ dilation なのか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138928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プーリングで広げると解像度が落ちる。dilation なら 64×64 のまま取れる。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645152"/>
            <a:ext cx="5297119" cy="1078992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1968" y="4809744"/>
            <a:ext cx="47484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81 m を強調している理由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138928"/>
            <a:ext cx="474847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箇所の典型サイズ（中央値 328px）が約 81 m 四方。d=4 の枝がそこを見る。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94360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TransUNet の大域文脈はボトルネック（8×8）にあり、解像度を失ったあとに足している。dilation は解像度を保ったまま取るので別物。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 — ASPP は補助ヘッドだけを劇的に良くした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補助ヘッドは Conv 3×3 だけで、64×64 での受容野は 26.9 m しかない。典型的な箇所は1辺 81 m なので届いていない。dilation 1/2/4/8 と大域プーリングを足した。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139696"/>
          <a:ext cx="5532120" cy="1078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受容野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Recall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Precision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深層監督のみ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26.9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0.5754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573 m まで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0.7139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0.6759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0.6944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9184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補助ヘッド単体の性能（64×64 の存在マップ）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2139696"/>
            <a:ext cx="5297119" cy="14813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2322576"/>
            <a:ext cx="47484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ところが本体の出力は変わらない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724912"/>
            <a:ext cx="47484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補助ヘッド　F +0.119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本体の出力　面積F +0.009 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7705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+0.119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0740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補助ヘッド単体の改善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87705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+0.009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40740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本体出力の改善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87705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13倍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40740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見合わない差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4064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5084064"/>
            <a:ext cx="10436047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 </a:t>
            </a: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スキップ接続の質を上げても、デコーダはそれを使わない。</a:t>
            </a: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「文脈不足」という診断は正しかったが、文脈を足す場所が間違っていた。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8076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逆方向からも確かめた。補助ヘッドの予測を本体出力に OR で統合すると、箇所Precision が 0.750 → 0.300 に崩壊した。信号はあるが鋭くない。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仕組み — ボトルネックの解像度を上げる（出力ストライド）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ボトルネックは 8×8 で、1画素が 71.7 m ある。300px 以下の箇所はここで1画素未満になる。プーリングを1段抜いて 16×16 で計算する。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848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従来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1956816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128×128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4.5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956816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64×64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9.0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75887" y="2212848"/>
            <a:ext cx="365761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0" y="1719072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1956816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32×32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17.9 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96127" y="2212848"/>
            <a:ext cx="365761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7840" y="1719072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8" y="1956816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16×16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35.8 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16368" y="2212848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0" y="1719072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1956816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8×8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71.7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36608" y="2212848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18320" y="1719072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2596896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プーリング4回（↓ が1回ぶん）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2552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ストライド8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21408" y="3127248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128×128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4.5 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41648" y="3127248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64×64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9.0 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75887" y="3383280"/>
            <a:ext cx="365761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0" y="2889504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1888" y="3127248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32×32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17.9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96127" y="3383280"/>
            <a:ext cx="365761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77840" y="2889504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127248"/>
            <a:ext cx="1554480" cy="512064"/>
          </a:xfrm>
          <a:prstGeom prst="roundRect">
            <a:avLst>
              <a:gd name="adj" fmla="val 1000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16×16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35.8 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16368" y="3383280"/>
            <a:ext cx="365760" cy="0"/>
          </a:xfrm>
          <a:prstGeom prst="line">
            <a:avLst/>
          </a:prstGeom>
          <a:ln w="15875">
            <a:solidFill>
              <a:srgbClr val="4A5A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80" y="2889504"/>
            <a:ext cx="402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32552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← pool4 を通さない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041648"/>
            <a:ext cx="11057839" cy="128016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4224528"/>
            <a:ext cx="1043604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ただし、そのままでは受容野が半分になる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4572000"/>
            <a:ext cx="1043604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ボトルネックの畳み込みに dilation=2 を入れて補う（8×8 での 5画素 = 358 m → 16×16 で dilation 2 の 9画素 = 323 m）。もう 16×16 なので up4 の逆畳み込みは不要になり、チャネルを半分にする 1×1 に置き換える。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04688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メモリは約4倍になる。出力ストライド4（32×32）も実装したが、ストライド8 が出発点を超えなかったので学習は保留している。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 — ボトルネックの解像度を上げる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ASPP の結果から「デコーダが信用しているのはボトルネック経路のほうだ」と読んだ。ならばボトルネックの解像度を上げれば効くはず。pool4 を通さず 8×8（71.7 m/画素）ではなく 16×16（35.8 m/画素）で計算し、受容野は dilation=2 で補った。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04288"/>
          <a:ext cx="1106424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TP=0 タイル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ASPP（スキップ側）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0.6730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0.6327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287枚（最少）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931920"/>
            <a:ext cx="11057839" cy="15727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4151376"/>
            <a:ext cx="1043604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読みは支持されなかった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36047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解像度を2倍にしても、スキップ側に ASPP を入れただけの条件（+0.009）を面積Fで超えない（+0.007）。前ページとあわせると、スキップ側もボトルネック側も律速ではないことになる。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ここで「U-Net のどの層を触っても動かない」ことが見えてきた。触った場所はエンコーダ・スキップ・ボトルネック・デコーダへの入力・損失・入力データの6か所。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仕組み — 全スケール結合（実装済み・未学習）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ここまでは「スキップに何を足すか」を変えてきた。最後に「どう渡すか」を変える。UNet3+ の考え方で、デコーダの各段が全解像度のスキップを受け取る。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828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128×128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45643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128×128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64×64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45643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64×64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828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32×32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345643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32×32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288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16×16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45643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16×16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920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スキップ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4787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デコーダ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8288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ボトルネック 8×8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2286000"/>
            <a:ext cx="0" cy="1133856"/>
          </a:xfrm>
          <a:prstGeom prst="line">
            <a:avLst/>
          </a:prstGeom>
          <a:ln w="1270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2286000"/>
            <a:ext cx="0" cy="1133856"/>
          </a:xfrm>
          <a:prstGeom prst="line">
            <a:avLst/>
          </a:prstGeom>
          <a:ln w="1270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2286000"/>
            <a:ext cx="0" cy="1133856"/>
          </a:xfrm>
          <a:prstGeom prst="line">
            <a:avLst/>
          </a:prstGeom>
          <a:ln w="1270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03919" y="2286000"/>
            <a:ext cx="0" cy="1133856"/>
          </a:xfrm>
          <a:prstGeom prst="line">
            <a:avLst/>
          </a:prstGeom>
          <a:ln w="12700">
            <a:solidFill>
              <a:srgbClr val="4A5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94560" y="2286000"/>
            <a:ext cx="2103120" cy="1133856"/>
          </a:xfrm>
          <a:prstGeom prst="line">
            <a:avLst/>
          </a:prstGeom>
          <a:ln w="19050">
            <a:solidFill>
              <a:srgbClr val="B850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297680" y="2286000"/>
            <a:ext cx="2103120" cy="1133856"/>
          </a:xfrm>
          <a:prstGeom prst="line">
            <a:avLst/>
          </a:prstGeom>
          <a:ln w="19050">
            <a:solidFill>
              <a:srgbClr val="B850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297680" y="2286000"/>
            <a:ext cx="4206239" cy="1133856"/>
          </a:xfrm>
          <a:prstGeom prst="line">
            <a:avLst/>
          </a:prstGeom>
          <a:ln w="19050">
            <a:solidFill>
              <a:srgbClr val="B850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297680" y="2286000"/>
            <a:ext cx="6355080" cy="1133856"/>
          </a:xfrm>
          <a:prstGeom prst="line">
            <a:avLst/>
          </a:prstGeom>
          <a:ln w="19050">
            <a:solidFill>
              <a:srgbClr val="B850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40782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細い点線＝従来（同じ解像度のスキップだけ）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4078224"/>
            <a:ext cx="58457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太い赤線＝全スケール結合。</a:t>
            </a: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64×64 の段が他の全解像度も受け取る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6928" y="4498848"/>
          <a:ext cx="11055096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パラメータ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batch 32 の VRAM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ベース（2枝 U-Net）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43.58M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学習・評価済み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全スケール結合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52.66M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9.26 GB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未学習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＋ ブランチ別監督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52.81M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9.39 GB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未学習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＋ ブランチ別 ASPP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53.36M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10.58 GB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未学習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" y="6144768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浅い段は縮小、深い段は拡大してから渡す。畳み込みの順番を誤ると1ステップ 24.6 秒かかった。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損失関数 — 小さい箇所を重く扱う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画素で平均を取ると、小さい箇所は大きい箇所に比べて 8.45倍 過小評価される。箇所ごとに重みの総和が揃うよう正規化した損失（p で強さを調整）を実装した。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56816"/>
          <a:ext cx="55321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27648" y="1956816"/>
            <a:ext cx="5297119" cy="30175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176272"/>
            <a:ext cx="47484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非単調 — 機構が効いていない証拠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615184"/>
            <a:ext cx="4748479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強くすれば単調に上がるはずが、p=1.0 では出発点より下がる。</a:t>
            </a:r>
          </a:p>
          <a:p>
            <a:pPr algn="l">
              <a:lnSpc>
                <a:spcPct val="155000"/>
              </a:lnSpc>
            </a:pPr>
            <a:endParaRPr sz="1200" b="0">
              <a:solidFill>
                <a:srgbClr val="4A5A68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理由：被覆0.5 を落ちた箇所の 69.4% は「1画素も出ていない」状態で、ロジットが負に張り付き勾配が飽和している。重みを8倍しても勾配は0のまま。</a:t>
            </a:r>
          </a:p>
          <a:p>
            <a:pPr algn="l">
              <a:lnSpc>
                <a:spcPct val="155000"/>
              </a:lnSpc>
            </a:pPr>
            <a:endParaRPr sz="1200" b="0">
              <a:solidFill>
                <a:srgbClr val="4A5A68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重み付けが届くのは「あと少しで当たる画素」だけで、それは全体の 5.9% しかない。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66944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p=1.0 は「現状の過小評価 8.45倍 をちょうど打ち消す」設定として選んだのに悪化した。設計の意図どおりに動かない場合、機構より先に勾配が届いているかを見るべきだった。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背景タイルを学習に混ぜる（bg_ratio）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従来は警戒区域を含むタイルだけで学習していた。実運用では背景が 61% を占めるので、背景タイルを1割混ぜて「出さないこと」も学ばせた。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11680"/>
          <a:ext cx="11055096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島根 背景での過検出画素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0（従来）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2,234,652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2,016,145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差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−0.009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−218,507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621024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840480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狙いは達成、でも F値は下がる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279392"/>
            <a:ext cx="4983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背景での過検出は確かに減った。しかし「棄却を学ぶ」ことと「警戒区域を当てる」ことはトレードオフで、後者が下がった。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621024"/>
            <a:ext cx="5297119" cy="1783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3840480"/>
            <a:ext cx="47484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副作用：薄く広がる方向に変わった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279392"/>
            <a:ext cx="474847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誤検出の画素数は減ったが、誤検出が出てしまうタイル数は島根で 3,848 → 5,456枚に増えた。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この条件は後にテスト集合の汚染が見つかり、当初「+0.056 で最大の改善」と報告していた値を全面的に訂正した（第6章）。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4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なぜ効かないのかを測った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8本の構造改良がどれも動かないので、「どこで失敗しているのか」を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タイル単位・層単位で測った。ここが今期いちばんの収穫。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282枚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1画素も当てられないタイル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正解が外周16px帯にある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3条件のいずれかに該当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まったく当てられないタイルの正体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正解に1画素も重ならないタイル 282枚（2,964枚中 9.5%）の性質を、検出できたタイルと比べた。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56816"/>
          <a:ext cx="11055096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枚数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割合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検出できたタイルでは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正解が全部 外周16px帯にある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61%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10.7%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傾斜コントラストが負（正解の方が緩斜面）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169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60%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50.9%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小さい（平均 300px 未満）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83%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いずれかに該当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268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95%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85615"/>
            <a:ext cx="5532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① タイルの切り方の問題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61% は正解がタイルの外周16px帯にしかない。検出できたタイルでは 10.7% なので、6倍の偏り。箇所が隣のタイルにまたがって切れている。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3785615"/>
            <a:ext cx="5297119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② 入力に答えが無い問題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60% は正解領域のほうが周囲より緩斜面（中央値 −1.410°）。地形量からは「ここが危険」と判断できない。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53212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5532120"/>
            <a:ext cx="1043604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失敗の大半はモデルの表現力不足ではなく、</a:t>
            </a:r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問題の与え方（①）と入力の不足（②）</a:t>
            </a: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で説明できる。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情報はエンコーダでは失われていない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当初は「最初の CNN やボトルネックで小さい箇所の情報が消えている」と考えていた。各段の活性について、正解領域と周囲のコントラストを測って確かめた。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2121408"/>
          <a:ext cx="6035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1206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1.0 を超えていれば「失敗タイルのほうがコントラストが強い」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2121408"/>
            <a:ext cx="4794199" cy="2926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2340864"/>
            <a:ext cx="424555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予想は外れた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2779776"/>
            <a:ext cx="424555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失敗タイルでも、活性のコントラストは検出できたタイルと同等かむしろ高い（enc2 で1.04倍、enc3 で1.37倍）。</a:t>
            </a:r>
          </a:p>
          <a:p>
            <a:pPr algn="l">
              <a:lnSpc>
                <a:spcPct val="160000"/>
              </a:lnSpc>
            </a:pPr>
            <a:endParaRPr sz="1200" b="0">
              <a:solidFill>
                <a:srgbClr val="4A5A68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エンコーダは「そこに何かある」ことを捉えている。情報が消えているのではなく、デコーダがそれを出力に変換できていない。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71500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この測定で「ボトルネックで情報が消えている」という当初の見立てが主因でないと分かり、以降は受容野と統合のしかたに狙いを移した。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クラス不均衡は問題の立て方が違った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676656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学習に使った集合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正例（警戒区域）の割合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警戒ありタイルのみ（従来）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9.33%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5.22%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背景込み全 38,148枚（実運用の分布）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1.05%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07808" y="1371600"/>
            <a:ext cx="4016959" cy="15727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82127" y="1609344"/>
            <a:ext cx="346831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正例を重く扱う箇所正規化損失は ±0.004 でほぼ無効だった。正例が少ないことが問題なら、ここが効くはず。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63824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63824"/>
            <a:ext cx="10436047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「正例が少ない」のではなく「負例の多様性が足りない」</a:t>
            </a:r>
            <a:r>
              <a:rPr sz="16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—— これが実態だった。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43400"/>
            <a:ext cx="5532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根拠 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bg_ratio は正例の割合を 9.33% → 5.22% に下げた（不均衡を悪化させた）のに、背景での過検出は確実に減った。負例を見せたことが効いている。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4343400"/>
            <a:ext cx="529711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根拠 2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逆に正例を重くする損失（箇所正規化）は非単調で、強めると下がった。正例側に伸びしろが無い。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疑似データで正例を増やす方向は、この診断からは優先度が低い。むしろ実運用の分布（正例 1.05%）に近い負例をどう見せるかが課題。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5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唯一効いたもの — オーバーラップ推論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 61% が「正解がタイルの外周にある」なら、タイルの切り方を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変えればよい。学習はやり直さず、推論のやり方だけを変えた。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+0.047〜+0.060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箇所F の改善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学習不要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既存の重みに後から適用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282 → 163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当てられないタイル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第5章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仕組み — オーバーラップ推論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失敗の 61% は正解が全部タイルの外周16px帯にある。窓をずらせば中心に来る。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938528"/>
            <a:ext cx="2103120" cy="2103120"/>
          </a:xfrm>
          <a:prstGeom prst="roundRect">
            <a:avLst>
              <a:gd name="adj" fmla="val 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9857" y="2201418"/>
            <a:ext cx="1577339" cy="1577339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中心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96×96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16966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外周16px帯（面積の 43.75%）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805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ここに正解が全部収まるのが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失敗タイルの 61%</a:t>
            </a:r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（検出できたタイルでは 10.7%）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38528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0" y="1938528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42431" y="1938528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15968" y="2651760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2651760"/>
            <a:ext cx="713232" cy="713232"/>
          </a:xfrm>
          <a:prstGeom prst="roundRect">
            <a:avLst>
              <a:gd name="adj" fmla="val 0"/>
            </a:avLst>
          </a:prstGeom>
          <a:solidFill>
            <a:srgbClr val="5B7B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対象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1" y="2651760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15968" y="3364992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0" y="3364992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42431" y="3364992"/>
            <a:ext cx="713232" cy="713232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72584" y="2295144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295144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85816" y="2295144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72584" y="2651760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0" y="2651760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85816" y="2651760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2584" y="3008376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3008376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85816" y="3008376"/>
            <a:ext cx="713232" cy="713232"/>
          </a:xfrm>
          <a:prstGeom prst="rect">
            <a:avLst/>
          </a:prstGeom>
          <a:noFill/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0207" y="4206240"/>
            <a:ext cx="2871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3×3 を貼り合わせ、64px ずつずらした9窓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1938528"/>
            <a:ext cx="2139696" cy="2139696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24927" y="1938528"/>
            <a:ext cx="2139696" cy="2139696"/>
          </a:xfrm>
          <a:prstGeom prst="roundRect">
            <a:avLst>
              <a:gd name="adj" fmla="val 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724485" y="2238085"/>
            <a:ext cx="1540581" cy="1540581"/>
          </a:xfrm>
          <a:prstGeom prst="roundRect">
            <a:avLst>
              <a:gd name="adj" fmla="val 0"/>
            </a:avLst>
          </a:prstGeom>
          <a:solidFill>
            <a:srgbClr val="8FA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24042" y="2537642"/>
            <a:ext cx="941466" cy="941466"/>
          </a:xfrm>
          <a:prstGeom prst="roundRect">
            <a:avLst>
              <a:gd name="adj" fmla="val 0"/>
            </a:avLst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7" y="2807208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重い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7" y="4206240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中心ほど重い cos 窓で平均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0928" y="1938528"/>
            <a:ext cx="1913839" cy="2139696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59" y="2139696"/>
            <a:ext cx="163951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学習は一切しない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2505456"/>
            <a:ext cx="163951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既存の重みをそのまま使い、推論のやり方だけを変える。どの条件の重みにも後から掛けられる。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358384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欠けた近傍は中央タイルの鏡像で埋める。広島の全38,148タイルは格子に重複なく載るので、8近傍が揃うタイルは 93.9%。代わりに推論コストは9倍になる。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9846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窓をずらすと、外周にあった箇所がどれかの窓で中心に来る。</a:t>
            </a: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統合規則を誤ると効果が消えるので、そこが肝になる。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第5章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 — 3×3 近傍を9窓ずらして推論する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対象タイルと周囲8枚を 384×384 に貼り合わせ、64px ずつずらした9つの窓で推論する。外周にあった箇所が、どれかの窓では中心に来る。統合は中心ほど重い cos 窓での平均。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31136"/>
          <a:ext cx="11055095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従来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OL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従来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OL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 の差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FinalFusion_SAM_APM（出発点）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0.6513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0.6543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0.6799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0.6135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+0.060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 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9651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+0.047〜+0.060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2686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どの重みでも効く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09651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103 / 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462686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境界で切れた箇所の救済（59.9%）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09651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462686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8近傍が揃うタイル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0352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5303520"/>
            <a:ext cx="10436047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学習側のどの改良（±0.01）よりも一桁大きく、しかも再学習が要らない。</a:t>
            </a: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モデルではなくタイルの切り方が最大のボトルネックだった。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72784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広島の全38,148タイルは格子に重複なく載るので、近傍の貼り合わせが成立する。欠けた近傍は中央タイルの鏡像で埋めている。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第5章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統合のしかたで結果が大きく変わる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9つの窓の予測をどう1枚にまとめるか。ここを誤ると、せっかくの効果が消える。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20240"/>
          <a:ext cx="6035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30568" y="1920240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04888" y="2066544"/>
            <a:ext cx="42455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単純平均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2395728"/>
            <a:ext cx="424555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境界付近の予測が薄まり Recall が落ちる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30568" y="2990088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4888" y="3136392"/>
            <a:ext cx="42455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最大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3465576"/>
            <a:ext cx="424555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どれか1窓の誤検出を拾い Precision が落ちる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0568" y="4059935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4888" y="4206240"/>
            <a:ext cx="42455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cos 窓（採用）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4535423"/>
            <a:ext cx="424555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中心ほど重く平均する。窓の端の不確かな予測を弱める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66944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この比較は当時のテスト集合（汚染あり）で測ったものなので絶対値は高めに出ているが、規則どうしの大小関係は変わらない。差は 0.047 あり、施策そのものの効果と同じ大きさ。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「やり方を変える」施策では、ハイパーパラメータ1つが施策の有無と同じだけ効く。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6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研究の進め方で学んだこと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結果そのものと同じくらい大きかったのが、実験の管理のしかた。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途中で、報告していた値が間違っていたことが分かった。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58.9%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テスト集合に混ざっていた学習タイル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約 0.07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過大に出ていた F値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ひっくり返った結論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第6章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テスト集合の汚染 — 報告値が約0.07 過大だった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学習ノートブックと評価スクリプトで、テスト集合の作り方が食い違っていた。train_test_split は要素数に依存するので、同じ random_state=42 でも別の分割になる。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93392"/>
          <a:ext cx="11055096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1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分割の対象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できるテスト集合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学習ノートブック（正）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背景込み 17,149件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警戒2,946 + 背景484 = 3,430枚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評価スクリプト（誤）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警戒ありのみ 14,816件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2,964枚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310128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3310128"/>
            <a:ext cx="1043604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結果、評価に使った2,964枚のうち </a:t>
            </a:r>
            <a:r>
              <a:rPr sz="15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1,746枚（58.9%）が学習に使ったタイルだった。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352544"/>
          <a:ext cx="6766560" cy="1133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訂正前（誤）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訂正後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0.7285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 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0.7403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−0.070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07808" y="4352544"/>
            <a:ext cx="4016959" cy="1133856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82127" y="4553712"/>
            <a:ext cx="346831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ひっくり返った結論：「bg_ratio が最大の改善」「ストライド8 が唯一 bg10 を超えた」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汚染していた評価 58件を削除し、分割ロジックを修正して全条件を測り直した。まとめ資料も全面改訂した。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第6章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再発を防ぐために直したこと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682496"/>
            <a:ext cx="475488" cy="47548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6192" y="1572768"/>
            <a:ext cx="97776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テスト集合の定義が2か所にあった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56816"/>
            <a:ext cx="9777679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学習ノートブックと評価スクリプトの両方に分割ロジックがあり、片方だけ変えるとずれる。本来は共通ライブラリに1つ置いて両方から呼ぶべき。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60320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7" y="2871215"/>
            <a:ext cx="475488" cy="475488"/>
          </a:xfrm>
          <a:prstGeom prst="ellipse">
            <a:avLst/>
          </a:prstGeom>
          <a:solidFill>
            <a:srgbClr val="C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2761488"/>
            <a:ext cx="97776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config が効いていなかった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145536"/>
            <a:ext cx="9777679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エポック数と bg_ratio がノートブックに直書きされており、設定ファイルの値が無視されていた。設定から読むよう全ノートブックを修正。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49039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4059935"/>
            <a:ext cx="475488" cy="475488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36192" y="3950207"/>
            <a:ext cx="97776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結果を1件1ファイルで残す形にした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334255"/>
            <a:ext cx="9777679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条件・機械・日時・テスト集合・評価方式を1件ごとに JSON で保存し、そこから表を組み立てる。いま 614件。重複 ID を検査する手順も入れた。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7" y="5248655"/>
            <a:ext cx="475488" cy="475488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5138927"/>
            <a:ext cx="97776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早期終了を入れた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522975"/>
            <a:ext cx="9777679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最良エポックは 41〜73 だった。1000エポック回していた時間の8割以上が無駄。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44768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2台のPC（Ubuntu / Windows）でブランチを分けて並行に学習し、PR 経由で統合する運用も整えた。重みは外部SSDに置き、リポジトリには入れない。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総括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学習側の施策 — 出発点 0.6727 / 0.6506 を超えたか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触った場所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判定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データ拡張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入力（前処理）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○ +0.025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監督Attention ブランチ別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0.6776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0.6523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8923E"/>
                          </a:solidFill>
                          <a:latin typeface="Meiryo"/>
                          <a:ea typeface="Meiryo"/>
                          <a:cs typeface="Meiryo"/>
                        </a:rPr>
                        <a:t>△ +0.005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箇所正規化損失 p=0.5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損失関数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8923E"/>
                          </a:solidFill>
                          <a:latin typeface="Meiryo"/>
                          <a:ea typeface="Meiryo"/>
                          <a:cs typeface="Meiryo"/>
                        </a:rPr>
                        <a:t>△ +0.004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ASPP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0.6730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0.6327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4A5A68"/>
                          </a:solidFill>
                          <a:latin typeface="Meiryo"/>
                          <a:ea typeface="Meiryo"/>
                          <a:cs typeface="Meiryo"/>
                        </a:rPr>
                        <a:t>× ±0.000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箇所正規化損失 p=1.0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損失関数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0.6692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0.6378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1段 / 3段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背景タイル混入 bg=0.1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入力データ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09744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既存4構造が収まる帯は 0.672〜0.681、検証F1 上位10エポックのゆらぎ幅は 0.003〜0.005。この帯とゆらぎを超えたのはデータ拡張だけ。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640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5486400"/>
            <a:ext cx="10436047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一方、オーバーラップ推論（学習不要）は 箇所F +0.047〜+0.060。</a:t>
            </a:r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学習側の最良（+0.025）の2倍以上。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分かったこと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36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389888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353312"/>
            <a:ext cx="101434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の内部をどう触っても ±0.01 しか動かない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5" y="1755648"/>
            <a:ext cx="10051999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エンコーダ・スキップ・ボトルネック・デコーダへの入力・損失・入力データの6か所を触ったが、どれも律速ではなかった。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505456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468880"/>
            <a:ext cx="101434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スキップ接続の質はデコーダにとって律速ではない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871216"/>
            <a:ext cx="10051999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ASPP で補助ヘッド単体は F +0.119 改善したのに、本体は +0.009 しか動かない。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21024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84448"/>
            <a:ext cx="101434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 61% はタイルの切り方で説明できる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986784"/>
            <a:ext cx="10051999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1画素も当てられないタイルの 61% は、正解が全部タイルの外周16px帯にある。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736592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700016"/>
            <a:ext cx="1014343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タイルの切り方を変えるだけで +0.05 動く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5102352"/>
            <a:ext cx="10051999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オーバーラップ推論は学習不要で 箇所F +0.047〜+0.060。学習側の最良の2倍以上。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結論：</a:t>
            </a: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「モデルが悪い」のではなく「問題の与え方が悪い」。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今後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次にやること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順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やること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オーバーラップ推論を島根でも測る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広島で +0.047〜+0.060。近傍に学習タイルが含まれる影響を外す必要がある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窓数・統合の重みを詰める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9窓・cos窓しか試していない。16窓やガウス窓で伸びるか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航空写真の解像度を上げる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いま9倍に縮めて捨てている。入力側の情報量を戻す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建物・土地利用を入力に足す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当てられないタイルの 60% は傾斜コントラストが負で、地形からは答えが出ない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複数シードで再現性を確かめる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0.005 の差を議論する前提。島根で監督を足すほど単調に良くなる兆候の検証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572000"/>
            <a:ext cx="11057839" cy="13258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4791456"/>
            <a:ext cx="1043604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 と 4 は「入力を増やす」方向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193792"/>
            <a:ext cx="1043604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学習側の工夫が一通り尽きた以上、入力に無い情報を足すしか残っていない、というのがここまでの結論。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08192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作成済みで未学習の条件（出力ストライド4、全スケール結合3本、bg30 / bg50）も残っているが、同系統が効かなかったので優先度は下げている。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3229</Words>
  <Application>Microsoft Macintosh PowerPoint</Application>
  <PresentationFormat>ワイド画面</PresentationFormat>
  <Paragraphs>814</Paragraphs>
  <Slides>36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0" baseType="lpstr"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颯真 賀屋</cp:lastModifiedBy>
  <cp:revision>3</cp:revision>
  <dcterms:created xsi:type="dcterms:W3CDTF">2013-01-27T09:14:16Z</dcterms:created>
  <dcterms:modified xsi:type="dcterms:W3CDTF">2026-10-04T19:14:21Z</dcterms:modified>
  <cp:category/>
</cp:coreProperties>
</file>