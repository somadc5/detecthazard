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68400"/>
          </a:xfrm>
          <a:prstGeom prst="rect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9400" y="203200"/>
            <a:ext cx="6299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Meiryo"/>
              </a:rPr>
              <a:t>深層学習による急傾斜地の土砂災害警戒区域の自動抽出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" y="584200"/>
            <a:ext cx="629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4CED4"/>
                </a:solidFill>
                <a:latin typeface="Meiryo"/>
              </a:rPr>
              <a:t>—— 地形情報と航空写真の2つを入力に使い、広島県で学習して島根県で確かめる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" y="863600"/>
            <a:ext cx="6299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4CED4"/>
                </a:solidFill>
                <a:latin typeface="Meiryo"/>
              </a:rPr>
              <a:t>関西大学 総合情報学研究科　広兼ゼミ　　賀屋 颯真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" y="1219200"/>
            <a:ext cx="3263900" cy="1524000"/>
          </a:xfrm>
          <a:prstGeom prst="roundRect">
            <a:avLst>
              <a:gd name="adj" fmla="val 3500"/>
            </a:avLst>
          </a:prstGeom>
          <a:solidFill>
            <a:srgbClr val="F1F0E8"/>
          </a:solidFill>
          <a:ln w="9525">
            <a:solidFill>
              <a:srgbClr val="D7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1300" y="1346200"/>
            <a:ext cx="215900" cy="21590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346200"/>
            <a:ext cx="2679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3313C"/>
                </a:solidFill>
                <a:latin typeface="Meiryo"/>
              </a:rPr>
              <a:t>はじめに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1651000"/>
            <a:ext cx="29591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5A68"/>
                </a:solidFill>
                <a:latin typeface="Meiryo"/>
              </a:rPr>
              <a:t>近年、土砂災害が頻発している。土砂災害防止法により、おそれのある箇所は5年ごとに基礎調査を行う必要がある。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5A68"/>
                </a:solidFill>
                <a:latin typeface="Meiryo"/>
              </a:rPr>
              <a:t>いまは職員が航空写真と地形図を見ながら現地調査を行っており、時間・費用・労力の負担が大きい。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2500" y="1219200"/>
            <a:ext cx="3263900" cy="1524000"/>
          </a:xfrm>
          <a:prstGeom prst="roundRect">
            <a:avLst>
              <a:gd name="adj" fmla="val 3500"/>
            </a:avLst>
          </a:prstGeom>
          <a:solidFill>
            <a:srgbClr val="F1F0E8"/>
          </a:solidFill>
          <a:ln w="9525">
            <a:solidFill>
              <a:srgbClr val="D7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2200" y="1346200"/>
            <a:ext cx="215900" cy="21590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4300" y="1346200"/>
            <a:ext cx="2679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3313C"/>
                </a:solidFill>
                <a:latin typeface="Meiryo"/>
              </a:rPr>
              <a:t>目的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4900" y="1651000"/>
            <a:ext cx="29591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5A68"/>
                </a:solidFill>
                <a:latin typeface="Meiryo"/>
              </a:rPr>
              <a:t>地形の情報と航空写真から、警戒区域になりうる範囲を深層学習で塗り分け、調査の下書きを作る。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4A5A68"/>
                </a:solidFill>
                <a:latin typeface="Meiryo"/>
              </a:rPr>
              <a:t>広島県で学習したモデルが、学習に使っていない島根県でも使えるか（汎化）を確かめる。</a:t>
            </a:r>
          </a:p>
        </p:txBody>
      </p:sp>
      <p:pic>
        <p:nvPicPr>
          <p:cNvPr id="14" name="Picture 13" descr="fig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4800"/>
            <a:ext cx="5181600" cy="16086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600" y="4466192"/>
            <a:ext cx="6654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図1. 入力（a, b）と、行政が指定した正解（c）、モデルの出力（d）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600" y="4605892"/>
            <a:ext cx="3263900" cy="3581400"/>
          </a:xfrm>
          <a:prstGeom prst="roundRect">
            <a:avLst>
              <a:gd name="adj" fmla="val 3500"/>
            </a:avLst>
          </a:prstGeom>
          <a:solidFill>
            <a:srgbClr val="F1F0E8"/>
          </a:solidFill>
          <a:ln w="9525">
            <a:solidFill>
              <a:srgbClr val="D7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1300" y="4732892"/>
            <a:ext cx="215900" cy="21590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732892"/>
            <a:ext cx="2679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3313C"/>
                </a:solidFill>
                <a:latin typeface="Meiryo"/>
              </a:rPr>
              <a:t>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00" y="5037692"/>
            <a:ext cx="29591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4A5A68"/>
                </a:solidFill>
                <a:latin typeface="Meiryo"/>
              </a:rPr>
              <a:t>県全体を 128×128 画素のタイルに切り、1枚ずつ塗り分ける。広島県 38,148枚のうち警戒区域を含む 14,816枚で学習し、島根県 24,569枚で確かめた。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" y="5647292"/>
            <a:ext cx="29591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3313C"/>
                </a:solidFill>
                <a:latin typeface="Meiryo"/>
              </a:rPr>
              <a:t>入力は3種類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5850492"/>
            <a:ext cx="406400" cy="177800"/>
          </a:xfrm>
          <a:prstGeom prst="roundRect">
            <a:avLst>
              <a:gd name="adj" fmla="val 2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</a:rPr>
              <a:t>SAM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600" y="5863192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23313C"/>
                </a:solidFill>
                <a:latin typeface="Meiryo"/>
              </a:rPr>
              <a:t>傾斜量　</a:t>
            </a:r>
            <a:r>
              <a:rPr sz="800" b="0">
                <a:solidFill>
                  <a:srgbClr val="4A5A68"/>
                </a:solidFill>
                <a:latin typeface="Meiryo"/>
              </a:rPr>
              <a:t>標高から計算した斜面の傾き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000" y="6053692"/>
            <a:ext cx="406400" cy="177800"/>
          </a:xfrm>
          <a:prstGeom prst="roundRect">
            <a:avLst>
              <a:gd name="adj" fmla="val 2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</a:rPr>
              <a:t>DEM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600" y="6066392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23313C"/>
                </a:solidFill>
                <a:latin typeface="Meiryo"/>
              </a:rPr>
              <a:t>標高　</a:t>
            </a:r>
            <a:r>
              <a:rPr sz="800" b="0">
                <a:solidFill>
                  <a:srgbClr val="4A5A68"/>
                </a:solidFill>
                <a:latin typeface="Meiryo"/>
              </a:rPr>
              <a:t>生の高さ。傾きはモデルに学ばせる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000" y="6256892"/>
            <a:ext cx="406400" cy="177800"/>
          </a:xfrm>
          <a:prstGeom prst="roundRect">
            <a:avLst>
              <a:gd name="adj" fmla="val 25000"/>
            </a:avLst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eiryo"/>
              </a:rPr>
              <a:t>APM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00" y="6269592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23313C"/>
                </a:solidFill>
                <a:latin typeface="Meiryo"/>
              </a:rPr>
              <a:t>航空写真　</a:t>
            </a:r>
            <a:r>
              <a:rPr sz="800" b="0">
                <a:solidFill>
                  <a:srgbClr val="4A5A68"/>
                </a:solidFill>
                <a:latin typeface="Meiryo"/>
              </a:rPr>
              <a:t>RGB 3色。植生・宅地の手がかり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" y="6498192"/>
            <a:ext cx="29591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3313C"/>
                </a:solidFill>
                <a:latin typeface="Meiryo"/>
              </a:rPr>
              <a:t>モデル</a:t>
            </a:r>
          </a:p>
        </p:txBody>
      </p:sp>
      <p:pic>
        <p:nvPicPr>
          <p:cNvPr id="28" name="Picture 27" descr="fig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6688692"/>
            <a:ext cx="2959100" cy="1171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4000" y="7872849"/>
            <a:ext cx="29591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図2. 2つの入力を別々に符号化し、最後に連結する U-Net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2500" y="4605892"/>
            <a:ext cx="3263900" cy="3581400"/>
          </a:xfrm>
          <a:prstGeom prst="roundRect">
            <a:avLst>
              <a:gd name="adj" fmla="val 3500"/>
            </a:avLst>
          </a:prstGeom>
          <a:solidFill>
            <a:srgbClr val="F1F0E8"/>
          </a:solidFill>
          <a:ln w="9525">
            <a:solidFill>
              <a:srgbClr val="D7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32200" y="4732892"/>
            <a:ext cx="215900" cy="21590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4300" y="4732892"/>
            <a:ext cx="2679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3313C"/>
                </a:solidFill>
                <a:latin typeface="Meiryo"/>
              </a:rPr>
              <a:t>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4900" y="5037692"/>
            <a:ext cx="29591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4A5A68"/>
                </a:solidFill>
                <a:latin typeface="Meiryo"/>
              </a:rPr>
              <a:t>航空写真を足すと大きく上がる。学習していない島根県では、その差がさらに開く。</a:t>
            </a:r>
          </a:p>
        </p:txBody>
      </p:sp>
      <p:pic>
        <p:nvPicPr>
          <p:cNvPr id="34" name="Picture 33" descr="fig_in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00" y="5444092"/>
            <a:ext cx="2959100" cy="118458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44900" y="6641380"/>
            <a:ext cx="29591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図3. 入力の組み合わせごとの精度（面積F値）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44900" y="6831880"/>
            <a:ext cx="986366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85042"/>
                </a:solidFill>
                <a:latin typeface="Meiryo"/>
              </a:rPr>
              <a:t>0.673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44900" y="7149380"/>
            <a:ext cx="98636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広島 面積F値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1266" y="6831880"/>
            <a:ext cx="986366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B85042"/>
                </a:solidFill>
                <a:latin typeface="Meiryo"/>
              </a:rPr>
              <a:t>0.651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1266" y="7149380"/>
            <a:ext cx="98636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広島 箇所F値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17633" y="6831880"/>
            <a:ext cx="986366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5B7B8C"/>
                </a:solidFill>
                <a:latin typeface="Meiryo"/>
              </a:rPr>
              <a:t>0.538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7633" y="7149380"/>
            <a:ext cx="986366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4A5A68"/>
                </a:solidFill>
                <a:latin typeface="Meiryo"/>
              </a:rPr>
              <a:t>島根 面積F値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4900" y="7416080"/>
            <a:ext cx="29591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900" b="0">
                <a:solidFill>
                  <a:srgbClr val="4A5A68"/>
                </a:solidFill>
                <a:latin typeface="Meiryo"/>
              </a:rPr>
              <a:t>モデルの中身をどう変えても精度は ±0.01 しか動かなかった。</a:t>
            </a:r>
          </a:p>
          <a:p>
            <a:pPr algn="l">
              <a:lnSpc>
                <a:spcPct val="142000"/>
              </a:lnSpc>
            </a:pPr>
            <a:r>
              <a:rPr sz="900" b="1">
                <a:solidFill>
                  <a:srgbClr val="23313C"/>
                </a:solidFill>
                <a:latin typeface="Meiryo"/>
              </a:rPr>
              <a:t>効いたのはタイルの切り方。</a:t>
            </a:r>
            <a:r>
              <a:rPr sz="900" b="0">
                <a:solidFill>
                  <a:srgbClr val="4A5A68"/>
                </a:solidFill>
                <a:latin typeface="Meiryo"/>
              </a:rPr>
              <a:t>窓をずらして9回推論し重ねると、箇所F値が +0.05 上がった。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600" y="8288892"/>
            <a:ext cx="6654800" cy="1515507"/>
          </a:xfrm>
          <a:prstGeom prst="roundRect">
            <a:avLst>
              <a:gd name="adj" fmla="val 3500"/>
            </a:avLst>
          </a:prstGeom>
          <a:solidFill>
            <a:srgbClr val="F1F0E8"/>
          </a:solidFill>
          <a:ln w="9525">
            <a:solidFill>
              <a:srgbClr val="D7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1300" y="8415892"/>
            <a:ext cx="215900" cy="21590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8415892"/>
            <a:ext cx="6070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23313C"/>
                </a:solidFill>
                <a:latin typeface="Meiryo"/>
              </a:rPr>
              <a:t>考察と今後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9400" y="8746092"/>
            <a:ext cx="2048933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23313C"/>
                </a:solidFill>
                <a:latin typeface="Meiryo"/>
              </a:rPr>
              <a:t>精度を決めているのはモデルではなかった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9400" y="9101692"/>
            <a:ext cx="2048933" cy="601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830" b="0">
                <a:solidFill>
                  <a:srgbClr val="4A5A68"/>
                </a:solidFill>
                <a:latin typeface="Meiryo"/>
              </a:rPr>
              <a:t>構造をどう変えても ±0.01。タイルの切り方を変えるだけで +0.05 動いた。「モデルが悪い」のではなく「問題の与え方」の側に律速がある。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4533" y="8746092"/>
            <a:ext cx="2048933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23313C"/>
                </a:solidFill>
                <a:latin typeface="Meiryo"/>
              </a:rPr>
              <a:t>失敗の6割はタイルの境界で起きていた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04533" y="9101692"/>
            <a:ext cx="2048933" cy="601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830" b="0">
                <a:solidFill>
                  <a:srgbClr val="4A5A68"/>
                </a:solidFill>
                <a:latin typeface="Meiryo"/>
              </a:rPr>
              <a:t>1画素も当てられなかったタイル 282枚のうち 61% は、正解がタイルのふちにしかなく、隣のタイルへ切れていた。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9666" y="8746092"/>
            <a:ext cx="2048933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23313C"/>
                </a:solidFill>
                <a:latin typeface="Meiryo"/>
              </a:rPr>
              <a:t>次は入力を増やす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9666" y="9101692"/>
            <a:ext cx="2048933" cy="601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830" b="0">
                <a:solidFill>
                  <a:srgbClr val="4A5A68"/>
                </a:solidFill>
                <a:latin typeface="Meiryo"/>
              </a:rPr>
              <a:t>航空写真はいま解像度を落として使っている。また、ふもとに守るべき建物があるかは地形からは分からない。建物・土地利用の情報を足したい。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