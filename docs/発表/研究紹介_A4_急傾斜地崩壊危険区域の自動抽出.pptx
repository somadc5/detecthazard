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7562088" cy="10689336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7562088" cy="1828800"/>
          </a:xfrm>
          <a:prstGeom prst="roundRect">
            <a:avLst>
              <a:gd name="adj" fmla="val 0"/>
            </a:avLst>
          </a:prstGeom>
          <a:solidFill>
            <a:srgbClr val="2331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02920" y="402336"/>
            <a:ext cx="6556248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50" b="1">
                <a:solidFill>
                  <a:srgbClr val="A7BEAE"/>
                </a:solidFill>
                <a:latin typeface="Meiryo"/>
                <a:ea typeface="Meiryo"/>
                <a:cs typeface="Meiryo"/>
              </a:rPr>
              <a:t>研究紹介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76656"/>
            <a:ext cx="6556248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700" b="1">
                <a:solidFill>
                  <a:srgbClr val="FFFFFF"/>
                </a:solidFill>
                <a:latin typeface="Meiryo"/>
                <a:ea typeface="Meiryo"/>
                <a:cs typeface="Meiryo"/>
              </a:rPr>
              <a:t>急傾斜地崩壊危険区域の自動抽出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298448"/>
            <a:ext cx="6556248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250" b="0">
                <a:solidFill>
                  <a:srgbClr val="FFFFFF"/>
                </a:solidFill>
                <a:latin typeface="Meiryo"/>
                <a:ea typeface="Meiryo"/>
                <a:cs typeface="Meiryo"/>
              </a:rPr>
              <a:t>深層学習（U-Net）で、標高データと航空写真から危険区域の候補を描き出す</a:t>
            </a:r>
          </a:p>
        </p:txBody>
      </p:sp>
      <p:sp>
        <p:nvSpPr>
          <p:cNvPr id="6" name="Oval 5"/>
          <p:cNvSpPr/>
          <p:nvPr/>
        </p:nvSpPr>
        <p:spPr>
          <a:xfrm>
            <a:off x="502920" y="2029968"/>
            <a:ext cx="274320" cy="274320"/>
          </a:xfrm>
          <a:prstGeom prst="ellipse">
            <a:avLst/>
          </a:prstGeom>
          <a:solidFill>
            <a:srgbClr val="2331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Meiryo"/>
                <a:ea typeface="Meiryo"/>
                <a:cs typeface="Meiryo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256" y="2048256"/>
            <a:ext cx="609904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23313C"/>
                </a:solidFill>
                <a:latin typeface="Meiryo"/>
                <a:ea typeface="Meiryo"/>
                <a:cs typeface="Meiryo"/>
              </a:rPr>
              <a:t>研究背景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2414016"/>
            <a:ext cx="393192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55000"/>
              </a:lnSpc>
            </a:pPr>
            <a:r>
              <a:rPr sz="1000" b="0">
                <a:solidFill>
                  <a:srgbClr val="4A5A68"/>
                </a:solidFill>
                <a:latin typeface="Meiryo"/>
                <a:ea typeface="Meiryo"/>
                <a:cs typeface="Meiryo"/>
              </a:rPr>
              <a:t>急傾斜地の崩壊は毎年各地で被害を出しており、都道府県は崩れるおそれのある斜面を危険区域に指定して、警戒・避難や対策工事の対象にしている。ただし指定には現地調査が要り、県全体を人手で見て回る負担は大きい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636007" y="2359152"/>
            <a:ext cx="2423160" cy="1115568"/>
          </a:xfrm>
          <a:prstGeom prst="roundRect">
            <a:avLst>
              <a:gd name="adj" fmla="val 6000"/>
            </a:avLst>
          </a:prstGeom>
          <a:solidFill>
            <a:srgbClr val="F1F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4837176" y="2523744"/>
            <a:ext cx="2020824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23313C"/>
                </a:solidFill>
                <a:latin typeface="Meiryo"/>
                <a:ea typeface="Meiryo"/>
                <a:cs typeface="Meiryo"/>
              </a:rPr>
              <a:t>この研究が解く問題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37176" y="2798064"/>
            <a:ext cx="2020824" cy="6035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950" b="0">
                <a:solidFill>
                  <a:srgbClr val="4A5A68"/>
                </a:solidFill>
                <a:latin typeface="Meiryo"/>
                <a:ea typeface="Meiryo"/>
                <a:cs typeface="Meiryo"/>
              </a:rPr>
              <a:t>標高と航空写真だけを入力に、どこが危険区域になりそうかを画素単位で塗り分ける。</a:t>
            </a:r>
          </a:p>
        </p:txBody>
      </p:sp>
      <p:sp>
        <p:nvSpPr>
          <p:cNvPr id="12" name="Oval 11"/>
          <p:cNvSpPr/>
          <p:nvPr/>
        </p:nvSpPr>
        <p:spPr>
          <a:xfrm>
            <a:off x="502920" y="3639312"/>
            <a:ext cx="274320" cy="274320"/>
          </a:xfrm>
          <a:prstGeom prst="ellipse">
            <a:avLst/>
          </a:prstGeom>
          <a:solidFill>
            <a:srgbClr val="2331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Meiryo"/>
                <a:ea typeface="Meiryo"/>
                <a:cs typeface="Meiryo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5256" y="3657600"/>
            <a:ext cx="609904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23313C"/>
                </a:solidFill>
                <a:latin typeface="Meiryo"/>
                <a:ea typeface="Meiryo"/>
                <a:cs typeface="Meiryo"/>
              </a:rPr>
              <a:t>データと手法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3986784"/>
            <a:ext cx="1554480" cy="1188720"/>
          </a:xfrm>
          <a:prstGeom prst="roundRect">
            <a:avLst>
              <a:gd name="adj" fmla="val 6000"/>
            </a:avLst>
          </a:prstGeom>
          <a:solidFill>
            <a:srgbClr val="F1F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658368" y="4133087"/>
            <a:ext cx="128016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5B7B8C"/>
                </a:solidFill>
                <a:latin typeface="Meiryo"/>
                <a:ea typeface="Meiryo"/>
                <a:cs typeface="Meiryo"/>
              </a:rPr>
              <a:t>対象地域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" y="4407408"/>
            <a:ext cx="1280160" cy="7132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900" b="0">
                <a:solidFill>
                  <a:srgbClr val="4A5A68"/>
                </a:solidFill>
                <a:latin typeface="Meiryo"/>
                <a:ea typeface="Meiryo"/>
                <a:cs typeface="Meiryo"/>
              </a:rPr>
              <a:t>広島 38,148タイル 学習</a:t>
            </a:r>
          </a:p>
          <a:p>
            <a:pPr algn="l">
              <a:lnSpc>
                <a:spcPct val="150000"/>
              </a:lnSpc>
            </a:pPr>
            <a:r>
              <a:rPr sz="900" b="0">
                <a:solidFill>
                  <a:srgbClr val="4A5A68"/>
                </a:solidFill>
                <a:latin typeface="Meiryo"/>
                <a:ea typeface="Meiryo"/>
                <a:cs typeface="Meiryo"/>
              </a:rPr>
              <a:t>島根 24,569タイル 検証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167128" y="3986784"/>
            <a:ext cx="1554480" cy="1188720"/>
          </a:xfrm>
          <a:prstGeom prst="roundRect">
            <a:avLst>
              <a:gd name="adj" fmla="val 6000"/>
            </a:avLst>
          </a:prstGeom>
          <a:solidFill>
            <a:srgbClr val="F1F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2322576" y="4133087"/>
            <a:ext cx="128016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23313C"/>
                </a:solidFill>
                <a:latin typeface="Meiryo"/>
                <a:ea typeface="Meiryo"/>
                <a:cs typeface="Meiryo"/>
              </a:rPr>
              <a:t>1タイル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322576" y="4407408"/>
            <a:ext cx="1280160" cy="7132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900" b="0">
                <a:solidFill>
                  <a:srgbClr val="4A5A68"/>
                </a:solidFill>
                <a:latin typeface="Meiryo"/>
                <a:ea typeface="Meiryo"/>
                <a:cs typeface="Meiryo"/>
              </a:rPr>
              <a:t>128×128画素</a:t>
            </a:r>
          </a:p>
          <a:p>
            <a:pPr algn="l">
              <a:lnSpc>
                <a:spcPct val="150000"/>
              </a:lnSpc>
            </a:pPr>
            <a:r>
              <a:rPr sz="900" b="0">
                <a:solidFill>
                  <a:srgbClr val="4A5A68"/>
                </a:solidFill>
                <a:latin typeface="Meiryo"/>
                <a:ea typeface="Meiryo"/>
                <a:cs typeface="Meiryo"/>
              </a:rPr>
              <a:t>1辺 573 m</a:t>
            </a:r>
          </a:p>
          <a:p>
            <a:pPr algn="l">
              <a:lnSpc>
                <a:spcPct val="150000"/>
              </a:lnSpc>
            </a:pPr>
            <a:r>
              <a:rPr sz="900" b="0">
                <a:solidFill>
                  <a:srgbClr val="4A5A68"/>
                </a:solidFill>
                <a:latin typeface="Meiryo"/>
                <a:ea typeface="Meiryo"/>
                <a:cs typeface="Meiryo"/>
              </a:rPr>
              <a:t>4.48 m/画素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831336" y="3986784"/>
            <a:ext cx="1554480" cy="1188720"/>
          </a:xfrm>
          <a:prstGeom prst="roundRect">
            <a:avLst>
              <a:gd name="adj" fmla="val 6000"/>
            </a:avLst>
          </a:prstGeom>
          <a:solidFill>
            <a:srgbClr val="F1F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3986784" y="4133087"/>
            <a:ext cx="128016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3D6B4A"/>
                </a:solidFill>
                <a:latin typeface="Meiryo"/>
                <a:ea typeface="Meiryo"/>
                <a:cs typeface="Meiryo"/>
              </a:rPr>
              <a:t>入力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986784" y="4407408"/>
            <a:ext cx="1280160" cy="7132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900" b="0">
                <a:solidFill>
                  <a:srgbClr val="4A5A68"/>
                </a:solidFill>
                <a:latin typeface="Meiryo"/>
                <a:ea typeface="Meiryo"/>
                <a:cs typeface="Meiryo"/>
              </a:rPr>
              <a:t>傾斜量（標高から計算）</a:t>
            </a:r>
          </a:p>
          <a:p>
            <a:pPr algn="l">
              <a:lnSpc>
                <a:spcPct val="150000"/>
              </a:lnSpc>
            </a:pPr>
            <a:r>
              <a:rPr sz="900" b="0">
                <a:solidFill>
                  <a:srgbClr val="4A5A68"/>
                </a:solidFill>
                <a:latin typeface="Meiryo"/>
                <a:ea typeface="Meiryo"/>
                <a:cs typeface="Meiryo"/>
              </a:rPr>
              <a:t>＋ 航空写真 RGB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95544" y="3986784"/>
            <a:ext cx="1554480" cy="1188720"/>
          </a:xfrm>
          <a:prstGeom prst="roundRect">
            <a:avLst>
              <a:gd name="adj" fmla="val 6000"/>
            </a:avLst>
          </a:prstGeom>
          <a:solidFill>
            <a:srgbClr val="F1F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5650992" y="4133087"/>
            <a:ext cx="128016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C8923E"/>
                </a:solidFill>
                <a:latin typeface="Meiryo"/>
                <a:ea typeface="Meiryo"/>
                <a:cs typeface="Meiryo"/>
              </a:rPr>
              <a:t>モデル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650992" y="4407408"/>
            <a:ext cx="1280160" cy="7132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900" b="0">
                <a:solidFill>
                  <a:srgbClr val="4A5A68"/>
                </a:solidFill>
                <a:latin typeface="Meiryo"/>
                <a:ea typeface="Meiryo"/>
                <a:cs typeface="Meiryo"/>
              </a:rPr>
              <a:t>2入力を別々の枝で</a:t>
            </a:r>
          </a:p>
          <a:p>
            <a:pPr algn="l">
              <a:lnSpc>
                <a:spcPct val="150000"/>
              </a:lnSpc>
            </a:pPr>
            <a:r>
              <a:rPr sz="900" b="0">
                <a:solidFill>
                  <a:srgbClr val="4A5A68"/>
                </a:solidFill>
                <a:latin typeface="Meiryo"/>
                <a:ea typeface="Meiryo"/>
                <a:cs typeface="Meiryo"/>
              </a:rPr>
              <a:t>符号化する U-Net</a:t>
            </a:r>
          </a:p>
        </p:txBody>
      </p:sp>
      <p:sp>
        <p:nvSpPr>
          <p:cNvPr id="26" name="Oval 25"/>
          <p:cNvSpPr/>
          <p:nvPr/>
        </p:nvSpPr>
        <p:spPr>
          <a:xfrm>
            <a:off x="502920" y="5358384"/>
            <a:ext cx="274320" cy="274320"/>
          </a:xfrm>
          <a:prstGeom prst="ellipse">
            <a:avLst/>
          </a:prstGeom>
          <a:solidFill>
            <a:srgbClr val="2331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Meiryo"/>
                <a:ea typeface="Meiryo"/>
                <a:cs typeface="Meiryo"/>
              </a:rPr>
              <a:t>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05256" y="5376672"/>
            <a:ext cx="609904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23313C"/>
                </a:solidFill>
                <a:latin typeface="Meiryo"/>
                <a:ea typeface="Meiryo"/>
                <a:cs typeface="Meiryo"/>
              </a:rPr>
              <a:t>評価のしかたを設計した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2920" y="5724144"/>
            <a:ext cx="6556248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55000"/>
              </a:lnSpc>
            </a:pPr>
            <a:r>
              <a:rPr sz="1000" b="0">
                <a:solidFill>
                  <a:srgbClr val="4A5A68"/>
                </a:solidFill>
                <a:latin typeface="Meiryo"/>
                <a:ea typeface="Meiryo"/>
                <a:cs typeface="Meiryo"/>
              </a:rPr>
              <a:t>面積（画素）だけでは「何箇所見つけたか」が分からない。行政が扱う単位は箇所なので、かたまり単位で数える評価を設計・実装した。</a:t>
            </a:r>
          </a:p>
        </p:txBody>
      </p:sp>
      <p:graphicFrame>
        <p:nvGraphicFramePr>
          <p:cNvPr id="29" name="Table 28"/>
          <p:cNvGraphicFramePr>
            <a:graphicFrameLocks noGrp="1"/>
          </p:cNvGraphicFramePr>
          <p:nvPr/>
        </p:nvGraphicFramePr>
        <p:xfrm>
          <a:off x="502920" y="6199632"/>
          <a:ext cx="3931920" cy="10972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103120"/>
                <a:gridCol w="914400"/>
                <a:gridCol w="914400"/>
              </a:tblGrid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FFFFFF"/>
                          </a:solidFill>
                          <a:latin typeface="Meiryo"/>
                          <a:ea typeface="Meiryo"/>
                          <a:cs typeface="Meiryo"/>
                        </a:rPr>
                        <a:t/>
                      </a:r>
                    </a:p>
                  </a:txBody>
                  <a:tcPr marL="64008" marR="64008" marT="18288" marB="18288" anchor="ctr">
                    <a:solidFill>
                      <a:srgbClr val="23313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1">
                          <a:solidFill>
                            <a:srgbClr val="FFFFFF"/>
                          </a:solidFill>
                          <a:latin typeface="Meiryo"/>
                          <a:ea typeface="Meiryo"/>
                          <a:cs typeface="Meiryo"/>
                        </a:rPr>
                        <a:t>面積F値</a:t>
                      </a:r>
                    </a:p>
                  </a:txBody>
                  <a:tcPr marL="64008" marR="64008" marT="18288" marB="18288" anchor="ctr">
                    <a:solidFill>
                      <a:srgbClr val="23313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1">
                          <a:solidFill>
                            <a:srgbClr val="FFFFFF"/>
                          </a:solidFill>
                          <a:latin typeface="Meiryo"/>
                          <a:ea typeface="Meiryo"/>
                          <a:cs typeface="Meiryo"/>
                        </a:rPr>
                        <a:t>箇所F値</a:t>
                      </a:r>
                    </a:p>
                  </a:txBody>
                  <a:tcPr marL="64008" marR="64008" marT="18288" marB="18288" anchor="ctr">
                    <a:solidFill>
                      <a:srgbClr val="23313C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23313C"/>
                          </a:solidFill>
                          <a:latin typeface="Meiryo"/>
                          <a:ea typeface="Meiryo"/>
                          <a:cs typeface="Meiryo"/>
                        </a:rPr>
                        <a:t>広島（学習した県）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>
                          <a:solidFill>
                            <a:srgbClr val="23313C"/>
                          </a:solidFill>
                          <a:latin typeface="Meiryo"/>
                          <a:ea typeface="Meiryo"/>
                          <a:cs typeface="Meiryo"/>
                        </a:rPr>
                        <a:t>0.6727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>
                          <a:solidFill>
                            <a:srgbClr val="23313C"/>
                          </a:solidFill>
                          <a:latin typeface="Meiryo"/>
                          <a:ea typeface="Meiryo"/>
                          <a:cs typeface="Meiryo"/>
                        </a:rPr>
                        <a:t>0.6506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23313C"/>
                          </a:solidFill>
                          <a:latin typeface="Meiryo"/>
                          <a:ea typeface="Meiryo"/>
                          <a:cs typeface="Meiryo"/>
                        </a:rPr>
                        <a:t>島根（未学習の県）</a:t>
                      </a:r>
                    </a:p>
                  </a:txBody>
                  <a:tcPr marL="64008" marR="64008" marT="18288" marB="18288" anchor="ctr">
                    <a:solidFill>
                      <a:srgbClr val="F1F0E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>
                          <a:solidFill>
                            <a:srgbClr val="23313C"/>
                          </a:solidFill>
                          <a:latin typeface="Meiryo"/>
                          <a:ea typeface="Meiryo"/>
                          <a:cs typeface="Meiryo"/>
                        </a:rPr>
                        <a:t>0.5381</a:t>
                      </a:r>
                    </a:p>
                  </a:txBody>
                  <a:tcPr marL="64008" marR="64008" marT="18288" marB="18288" anchor="ctr">
                    <a:solidFill>
                      <a:srgbClr val="F1F0E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>
                          <a:solidFill>
                            <a:srgbClr val="23313C"/>
                          </a:solidFill>
                          <a:latin typeface="Meiryo"/>
                          <a:ea typeface="Meiryo"/>
                          <a:cs typeface="Meiryo"/>
                        </a:rPr>
                        <a:t>0.4820</a:t>
                      </a:r>
                    </a:p>
                  </a:txBody>
                  <a:tcPr marL="64008" marR="64008" marT="18288" marB="18288" anchor="ctr">
                    <a:solidFill>
                      <a:srgbClr val="F1F0E8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23313C"/>
                          </a:solidFill>
                          <a:latin typeface="Meiryo"/>
                          <a:ea typeface="Meiryo"/>
                          <a:cs typeface="Meiryo"/>
                        </a:rPr>
                        <a:t>＋ オーバーラップ推論（広島）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1">
                          <a:solidFill>
                            <a:srgbClr val="3D6B4A"/>
                          </a:solidFill>
                          <a:latin typeface="Meiryo"/>
                          <a:ea typeface="Meiryo"/>
                          <a:cs typeface="Meiryo"/>
                        </a:rPr>
                        <a:t>0.6937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1">
                          <a:solidFill>
                            <a:srgbClr val="3D6B4A"/>
                          </a:solidFill>
                          <a:latin typeface="Meiryo"/>
                          <a:ea typeface="Meiryo"/>
                          <a:cs typeface="Meiryo"/>
                        </a:rPr>
                        <a:t>0.6984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0" name="Rounded Rectangle 29"/>
          <p:cNvSpPr/>
          <p:nvPr/>
        </p:nvSpPr>
        <p:spPr>
          <a:xfrm>
            <a:off x="4636007" y="6199632"/>
            <a:ext cx="2423160" cy="1097280"/>
          </a:xfrm>
          <a:prstGeom prst="roundRect">
            <a:avLst>
              <a:gd name="adj" fmla="val 6000"/>
            </a:avLst>
          </a:prstGeom>
          <a:solidFill>
            <a:srgbClr val="F1F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4837176" y="6364224"/>
            <a:ext cx="2020824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23313C"/>
                </a:solidFill>
                <a:latin typeface="Meiryo"/>
                <a:ea typeface="Meiryo"/>
                <a:cs typeface="Meiryo"/>
              </a:rPr>
              <a:t>実験の規模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837176" y="6638544"/>
            <a:ext cx="2020824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950" b="0">
                <a:solidFill>
                  <a:srgbClr val="4A5A68"/>
                </a:solidFill>
                <a:latin typeface="Meiryo"/>
                <a:ea typeface="Meiryo"/>
                <a:cs typeface="Meiryo"/>
              </a:rPr>
              <a:t>学習した条件 29／自作した構造 8</a:t>
            </a:r>
          </a:p>
          <a:p>
            <a:pPr algn="l">
              <a:lnSpc>
                <a:spcPct val="150000"/>
              </a:lnSpc>
            </a:pPr>
            <a:r>
              <a:rPr sz="950" b="0">
                <a:solidFill>
                  <a:srgbClr val="4A5A68"/>
                </a:solidFill>
                <a:latin typeface="Meiryo"/>
                <a:ea typeface="Meiryo"/>
                <a:cs typeface="Meiryo"/>
              </a:rPr>
              <a:t>記録した評価 614件</a:t>
            </a:r>
          </a:p>
        </p:txBody>
      </p:sp>
      <p:sp>
        <p:nvSpPr>
          <p:cNvPr id="33" name="Oval 32"/>
          <p:cNvSpPr/>
          <p:nvPr/>
        </p:nvSpPr>
        <p:spPr>
          <a:xfrm>
            <a:off x="502920" y="7498079"/>
            <a:ext cx="274320" cy="274320"/>
          </a:xfrm>
          <a:prstGeom prst="ellipse">
            <a:avLst/>
          </a:prstGeom>
          <a:solidFill>
            <a:srgbClr val="2331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Meiryo"/>
                <a:ea typeface="Meiryo"/>
                <a:cs typeface="Meiryo"/>
              </a:rPr>
              <a:t>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05256" y="7516367"/>
            <a:ext cx="609904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23313C"/>
                </a:solidFill>
                <a:latin typeface="Meiryo"/>
                <a:ea typeface="Meiryo"/>
                <a:cs typeface="Meiryo"/>
              </a:rPr>
              <a:t>分かったこと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02920" y="7863840"/>
            <a:ext cx="6556248" cy="658368"/>
          </a:xfrm>
          <a:prstGeom prst="roundRect">
            <a:avLst>
              <a:gd name="adj" fmla="val 6000"/>
            </a:avLst>
          </a:prstGeom>
          <a:solidFill>
            <a:srgbClr val="F1F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Oval 35"/>
          <p:cNvSpPr/>
          <p:nvPr/>
        </p:nvSpPr>
        <p:spPr>
          <a:xfrm>
            <a:off x="685800" y="8083296"/>
            <a:ext cx="237744" cy="237744"/>
          </a:xfrm>
          <a:prstGeom prst="ellipse">
            <a:avLst/>
          </a:prstGeom>
          <a:solidFill>
            <a:srgbClr val="B850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  <a:r>
              <a:rPr sz="800" b="1">
                <a:solidFill>
                  <a:srgbClr val="FFFFFF"/>
                </a:solidFill>
                <a:latin typeface="Meiryo"/>
                <a:ea typeface="Meiryo"/>
                <a:cs typeface="Meiryo"/>
              </a:rPr>
              <a:t/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69848" y="7973567"/>
            <a:ext cx="5779008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1">
                <a:solidFill>
                  <a:srgbClr val="23313C"/>
                </a:solidFill>
                <a:latin typeface="Meiryo"/>
                <a:ea typeface="Meiryo"/>
                <a:cs typeface="Meiryo"/>
              </a:rPr>
              <a:t>U-Net の内部をどう触っても精度は ±0.01 しか動かない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69848" y="8229600"/>
            <a:ext cx="577900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900" b="0">
                <a:solidFill>
                  <a:srgbClr val="4A5A68"/>
                </a:solidFill>
                <a:latin typeface="Meiryo"/>
                <a:ea typeface="Meiryo"/>
                <a:cs typeface="Meiryo"/>
              </a:rPr>
              <a:t>スキップ接続・ボトルネック・損失関数など6か所に手を入れ、8種類の構造を自作して試したが、どれも律速ではなかった。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502920" y="8577072"/>
            <a:ext cx="6556248" cy="658368"/>
          </a:xfrm>
          <a:prstGeom prst="roundRect">
            <a:avLst>
              <a:gd name="adj" fmla="val 6000"/>
            </a:avLst>
          </a:prstGeom>
          <a:solidFill>
            <a:srgbClr val="F1F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0" name="Oval 39"/>
          <p:cNvSpPr/>
          <p:nvPr/>
        </p:nvSpPr>
        <p:spPr>
          <a:xfrm>
            <a:off x="685800" y="8796528"/>
            <a:ext cx="237744" cy="237744"/>
          </a:xfrm>
          <a:prstGeom prst="ellipse">
            <a:avLst/>
          </a:prstGeom>
          <a:solidFill>
            <a:srgbClr val="3D6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  <a:r>
              <a:rPr sz="800" b="1">
                <a:solidFill>
                  <a:srgbClr val="FFFFFF"/>
                </a:solidFill>
                <a:latin typeface="Meiryo"/>
                <a:ea typeface="Meiryo"/>
                <a:cs typeface="Meiryo"/>
              </a:rPr>
              <a:t/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69848" y="8686799"/>
            <a:ext cx="5779008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1">
                <a:solidFill>
                  <a:srgbClr val="23313C"/>
                </a:solidFill>
                <a:latin typeface="Meiryo"/>
                <a:ea typeface="Meiryo"/>
                <a:cs typeface="Meiryo"/>
              </a:rPr>
              <a:t>失敗の 61% は「タイルの切り方」で説明できる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69848" y="8942832"/>
            <a:ext cx="577900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900" b="0">
                <a:solidFill>
                  <a:srgbClr val="4A5A68"/>
                </a:solidFill>
                <a:latin typeface="Meiryo"/>
                <a:ea typeface="Meiryo"/>
                <a:cs typeface="Meiryo"/>
              </a:rPr>
              <a:t>1画素も当てられないタイルの 61% は、正解が全部タイルの外周16px帯にあった。箇所が隣のタイルにまたがって切れている。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502920" y="9290303"/>
            <a:ext cx="6556248" cy="658368"/>
          </a:xfrm>
          <a:prstGeom prst="roundRect">
            <a:avLst>
              <a:gd name="adj" fmla="val 6000"/>
            </a:avLst>
          </a:prstGeom>
          <a:solidFill>
            <a:srgbClr val="F1F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4" name="Oval 43"/>
          <p:cNvSpPr/>
          <p:nvPr/>
        </p:nvSpPr>
        <p:spPr>
          <a:xfrm>
            <a:off x="685800" y="9509759"/>
            <a:ext cx="237744" cy="237744"/>
          </a:xfrm>
          <a:prstGeom prst="ellipse">
            <a:avLst/>
          </a:prstGeom>
          <a:solidFill>
            <a:srgbClr val="3D6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  <a:r>
              <a:rPr sz="800" b="1">
                <a:solidFill>
                  <a:srgbClr val="FFFFFF"/>
                </a:solidFill>
                <a:latin typeface="Meiryo"/>
                <a:ea typeface="Meiryo"/>
                <a:cs typeface="Meiryo"/>
              </a:rPr>
              <a:t/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69848" y="9400031"/>
            <a:ext cx="5779008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1">
                <a:solidFill>
                  <a:srgbClr val="23313C"/>
                </a:solidFill>
                <a:latin typeface="Meiryo"/>
                <a:ea typeface="Meiryo"/>
                <a:cs typeface="Meiryo"/>
              </a:rPr>
              <a:t>切り方を変えるだけで、学習側の最良の2倍以上動いた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69848" y="9656063"/>
            <a:ext cx="577900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900" b="0">
                <a:solidFill>
                  <a:srgbClr val="4A5A68"/>
                </a:solidFill>
                <a:latin typeface="Meiryo"/>
                <a:ea typeface="Meiryo"/>
                <a:cs typeface="Meiryo"/>
              </a:rPr>
              <a:t>近傍タイルを貼り合わせて9つの窓で推論し統合すると箇所F値が +0.047〜+0.060。再学習は要らない。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502920" y="10040112"/>
            <a:ext cx="6556248" cy="512064"/>
          </a:xfrm>
          <a:prstGeom prst="roundRect">
            <a:avLst>
              <a:gd name="adj" fmla="val 6000"/>
            </a:avLst>
          </a:prstGeom>
          <a:solidFill>
            <a:srgbClr val="2331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8" name="TextBox 47"/>
          <p:cNvSpPr txBox="1"/>
          <p:nvPr/>
        </p:nvSpPr>
        <p:spPr>
          <a:xfrm>
            <a:off x="722376" y="10040112"/>
            <a:ext cx="6117336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5000"/>
              </a:lnSpc>
            </a:pPr>
            <a:r>
              <a:rPr sz="1050" b="1">
                <a:solidFill>
                  <a:srgbClr val="A7BEAE"/>
                </a:solidFill>
                <a:latin typeface="Meiryo"/>
                <a:ea typeface="Meiryo"/>
                <a:cs typeface="Meiryo"/>
              </a:rPr>
              <a:t>結論　</a:t>
            </a:r>
            <a:r>
              <a:rPr sz="1050" b="0">
                <a:solidFill>
                  <a:srgbClr val="FFFFFF"/>
                </a:solidFill>
                <a:latin typeface="Meiryo"/>
                <a:ea typeface="Meiryo"/>
                <a:cs typeface="Meiryo"/>
              </a:rPr>
              <a:t>「モデルが悪い」のではなく「問題の与え方が悪い」。次は入力に無い情報を足す方向へ。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